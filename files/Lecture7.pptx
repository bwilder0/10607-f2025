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6" r:id="rId2"/>
    <p:sldId id="292" r:id="rId3"/>
    <p:sldId id="272" r:id="rId4"/>
    <p:sldId id="2359" r:id="rId5"/>
    <p:sldId id="284" r:id="rId6"/>
    <p:sldId id="276" r:id="rId7"/>
    <p:sldId id="277" r:id="rId8"/>
    <p:sldId id="278" r:id="rId9"/>
    <p:sldId id="279" r:id="rId10"/>
    <p:sldId id="280" r:id="rId11"/>
    <p:sldId id="281" r:id="rId12"/>
    <p:sldId id="282" r:id="rId13"/>
    <p:sldId id="2358" r:id="rId14"/>
    <p:sldId id="296" r:id="rId15"/>
    <p:sldId id="2365" r:id="rId16"/>
    <p:sldId id="2366" r:id="rId17"/>
    <p:sldId id="2372" r:id="rId18"/>
    <p:sldId id="2373" r:id="rId19"/>
    <p:sldId id="2371" r:id="rId20"/>
    <p:sldId id="262" r:id="rId21"/>
    <p:sldId id="2374" r:id="rId22"/>
    <p:sldId id="265" r:id="rId23"/>
    <p:sldId id="264" r:id="rId24"/>
    <p:sldId id="290" r:id="rId25"/>
    <p:sldId id="291" r:id="rId26"/>
    <p:sldId id="266" r:id="rId27"/>
    <p:sldId id="267" r:id="rId28"/>
    <p:sldId id="270" r:id="rId29"/>
    <p:sldId id="269" r:id="rId30"/>
    <p:sldId id="2375" r:id="rId31"/>
    <p:sldId id="293" r:id="rId32"/>
    <p:sldId id="268" r:id="rId33"/>
    <p:sldId id="2376" r:id="rId34"/>
    <p:sldId id="2383" r:id="rId35"/>
    <p:sldId id="2386" r:id="rId36"/>
    <p:sldId id="2387" r:id="rId37"/>
    <p:sldId id="2379" r:id="rId38"/>
    <p:sldId id="2380" r:id="rId39"/>
    <p:sldId id="2378" r:id="rId40"/>
    <p:sldId id="2381" r:id="rId41"/>
    <p:sldId id="2382" r:id="rId42"/>
    <p:sldId id="2384" r:id="rId43"/>
    <p:sldId id="263" r:id="rId44"/>
  </p:sldIdLst>
  <p:sldSz cx="12192000" cy="6858000"/>
  <p:notesSz cx="6858000" cy="9144000"/>
  <p:embeddedFontLst>
    <p:embeddedFont>
      <p:font typeface="Cambria Math" panose="02040503050406030204" pitchFamily="18" charset="0"/>
      <p:regular r:id="rId46"/>
    </p:embeddedFont>
    <p:embeddedFont>
      <p:font typeface="Consolas" panose="020B0609020204030204" pitchFamily="49" charset="0"/>
      <p:regular r:id="rId47"/>
      <p:bold r:id="rId48"/>
      <p:italic r:id="rId49"/>
      <p:boldItalic r:id="rId50"/>
    </p:embeddedFont>
    <p:embeddedFont>
      <p:font typeface="Open Sans" panose="020B0606030504020204" pitchFamily="34" charset="0"/>
      <p:regular r:id="rId51"/>
      <p:bold r:id="rId52"/>
      <p:italic r:id="rId53"/>
      <p:boldItalic r:id="rId54"/>
    </p:embeddedFont>
    <p:embeddedFont>
      <p:font typeface="Open Sans Light" panose="020B0306030504020204" pitchFamily="34"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gUUlR7RfLNE3+YwQYEA+haZAZCb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8"/>
    <p:restoredTop sz="94752"/>
  </p:normalViewPr>
  <p:slideViewPr>
    <p:cSldViewPr snapToGrid="0">
      <p:cViewPr varScale="1">
        <p:scale>
          <a:sx n="111" d="100"/>
          <a:sy n="111" d="100"/>
        </p:scale>
        <p:origin x="66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66"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Open Sans"/>
                <a:ea typeface="Open Sans"/>
                <a:cs typeface="Open Sans"/>
                <a:sym typeface="Open Sans"/>
              </a:rPr>
              <a:t>1</a:t>
            </a:fld>
            <a:endParaRPr sz="1200" b="0" i="0" u="none" strike="noStrike" cap="none">
              <a:solidFill>
                <a:schemeClr val="dk1"/>
              </a:solidFill>
              <a:latin typeface="Open Sans"/>
              <a:ea typeface="Open Sans"/>
              <a:cs typeface="Open Sans"/>
              <a:sym typeface="Open Sans"/>
            </a:endParaRPr>
          </a:p>
        </p:txBody>
      </p:sp>
      <p:sp>
        <p:nvSpPr>
          <p:cNvPr id="67" name="Google Shape;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 name="Google Shape;68;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8f25eec133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8f25eec133_0_2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Clr>
                <a:schemeClr val="dk1"/>
              </a:buClr>
              <a:buSzPts val="1100"/>
              <a:buFont typeface="Arial"/>
              <a:buNone/>
            </a:pPr>
            <a:r>
              <a:rPr lang="en-US"/>
              <a:t>def factorial(int n):</a:t>
            </a:r>
            <a:endParaRPr/>
          </a:p>
          <a:p>
            <a:pPr marL="0" lvl="0" indent="0" algn="l" rtl="0">
              <a:spcBef>
                <a:spcPts val="360"/>
              </a:spcBef>
              <a:spcAft>
                <a:spcPts val="0"/>
              </a:spcAft>
              <a:buClr>
                <a:schemeClr val="dk1"/>
              </a:buClr>
              <a:buSzPts val="1100"/>
              <a:buFont typeface="Arial"/>
              <a:buNone/>
            </a:pPr>
            <a:r>
              <a:rPr lang="en-US"/>
              <a:t>  if ___________:</a:t>
            </a:r>
            <a:endParaRPr/>
          </a:p>
          <a:p>
            <a:pPr marL="0" lvl="0" indent="0" algn="l" rtl="0">
              <a:spcBef>
                <a:spcPts val="360"/>
              </a:spcBef>
              <a:spcAft>
                <a:spcPts val="0"/>
              </a:spcAft>
              <a:buClr>
                <a:schemeClr val="dk1"/>
              </a:buClr>
              <a:buSzPts val="1100"/>
              <a:buFont typeface="Arial"/>
              <a:buNone/>
            </a:pPr>
            <a:r>
              <a:rPr lang="en-US"/>
              <a:t>  return ___________</a:t>
            </a:r>
            <a:endParaRPr/>
          </a:p>
          <a:p>
            <a:pPr marL="0" lvl="0" indent="0" algn="l" rtl="0">
              <a:spcBef>
                <a:spcPts val="360"/>
              </a:spcBef>
              <a:spcAft>
                <a:spcPts val="0"/>
              </a:spcAft>
              <a:buClr>
                <a:schemeClr val="dk1"/>
              </a:buClr>
              <a:buSzPts val="1100"/>
              <a:buFont typeface="Arial"/>
              <a:buNone/>
            </a:pPr>
            <a:r>
              <a:rPr lang="en-US"/>
              <a:t>  return ___________________</a:t>
            </a:r>
            <a:endParaRPr/>
          </a:p>
          <a:p>
            <a:pPr marL="0" lvl="0" indent="0" algn="l" rtl="0">
              <a:spcBef>
                <a:spcPts val="360"/>
              </a:spcBef>
              <a:spcAft>
                <a:spcPts val="0"/>
              </a:spcAft>
              <a:buClr>
                <a:schemeClr val="dk1"/>
              </a:buClr>
              <a:buSzPts val="1100"/>
              <a:buFont typeface="Arial"/>
              <a:buNone/>
            </a:pPr>
            <a:endParaRPr/>
          </a:p>
          <a:p>
            <a:pPr marL="0" lvl="0" indent="0" algn="l" rtl="0">
              <a:spcBef>
                <a:spcPts val="360"/>
              </a:spcBef>
              <a:spcAft>
                <a:spcPts val="0"/>
              </a:spcAft>
              <a:buNone/>
            </a:pPr>
            <a:endParaRPr/>
          </a:p>
        </p:txBody>
      </p:sp>
      <p:sp>
        <p:nvSpPr>
          <p:cNvPr id="190" name="Google Shape;190;g18f25eec133_0_28:notes"/>
          <p:cNvSpPr txBox="1">
            <a:spLocks noGrp="1"/>
          </p:cNvSpPr>
          <p:nvPr>
            <p:ph type="sldNum" idx="12"/>
          </p:nvPr>
        </p:nvSpPr>
        <p:spPr>
          <a:xfrm>
            <a:off x="3886200" y="8686800"/>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52"/>
        <p:cNvGrpSpPr/>
        <p:nvPr/>
      </p:nvGrpSpPr>
      <p:grpSpPr>
        <a:xfrm>
          <a:off x="0" y="0"/>
          <a:ext cx="0" cy="0"/>
          <a:chOff x="0" y="0"/>
          <a:chExt cx="0" cy="0"/>
        </a:xfrm>
      </p:grpSpPr>
      <p:pic>
        <p:nvPicPr>
          <p:cNvPr id="53" name="Google Shape;53;p17" descr="Picture 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4" name="Google Shape;54;p17"/>
          <p:cNvSpPr txBox="1">
            <a:spLocks noGrp="1"/>
          </p:cNvSpPr>
          <p:nvPr>
            <p:ph type="body" idx="1"/>
          </p:nvPr>
        </p:nvSpPr>
        <p:spPr>
          <a:xfrm>
            <a:off x="3154362" y="3105944"/>
            <a:ext cx="5883275" cy="646112"/>
          </a:xfrm>
          <a:prstGeom prst="rect">
            <a:avLst/>
          </a:prstGeom>
          <a:noFill/>
          <a:ln>
            <a:noFill/>
          </a:ln>
        </p:spPr>
        <p:txBody>
          <a:bodyPr spcFirstLastPara="1" wrap="square" lIns="45700" tIns="45700" rIns="45700" bIns="45700" anchor="ctr" anchorCtr="0">
            <a:normAutofit/>
          </a:bodyPr>
          <a:lstStyle>
            <a:lvl1pPr marL="457200" lvl="0" indent="-228600" algn="ctr">
              <a:lnSpc>
                <a:spcPct val="90000"/>
              </a:lnSpc>
              <a:spcBef>
                <a:spcPts val="1000"/>
              </a:spcBef>
              <a:spcAft>
                <a:spcPts val="0"/>
              </a:spcAft>
              <a:buClr>
                <a:schemeClr val="lt1"/>
              </a:buClr>
              <a:buSzPts val="3600"/>
              <a:buNone/>
              <a:defRPr sz="3600">
                <a:solidFill>
                  <a:schemeClr val="lt1"/>
                </a:solidFill>
              </a:defRPr>
            </a:lvl1pPr>
            <a:lvl2pPr marL="914400" lvl="1" indent="-342900" algn="l">
              <a:lnSpc>
                <a:spcPct val="90000"/>
              </a:lnSpc>
              <a:spcBef>
                <a:spcPts val="1000"/>
              </a:spcBef>
              <a:spcAft>
                <a:spcPts val="0"/>
              </a:spcAft>
              <a:buClr>
                <a:srgbClr val="5D5D5D"/>
              </a:buClr>
              <a:buSzPts val="1800"/>
              <a:buChar char="•"/>
              <a:defRPr/>
            </a:lvl2pPr>
            <a:lvl3pPr marL="1371600" lvl="2" indent="-342900" algn="l">
              <a:lnSpc>
                <a:spcPct val="90000"/>
              </a:lnSpc>
              <a:spcBef>
                <a:spcPts val="1000"/>
              </a:spcBef>
              <a:spcAft>
                <a:spcPts val="0"/>
              </a:spcAft>
              <a:buClr>
                <a:srgbClr val="5D5D5D"/>
              </a:buClr>
              <a:buSzPts val="1800"/>
              <a:buChar char="•"/>
              <a:defRPr/>
            </a:lvl3pPr>
            <a:lvl4pPr marL="1828800" lvl="3" indent="-342900" algn="l">
              <a:lnSpc>
                <a:spcPct val="90000"/>
              </a:lnSpc>
              <a:spcBef>
                <a:spcPts val="1000"/>
              </a:spcBef>
              <a:spcAft>
                <a:spcPts val="0"/>
              </a:spcAft>
              <a:buClr>
                <a:srgbClr val="5D5D5D"/>
              </a:buClr>
              <a:buSzPts val="1800"/>
              <a:buChar char="•"/>
              <a:defRPr/>
            </a:lvl4pPr>
            <a:lvl5pPr marL="2286000" lvl="4" indent="-342900" algn="l">
              <a:lnSpc>
                <a:spcPct val="90000"/>
              </a:lnSpc>
              <a:spcBef>
                <a:spcPts val="1000"/>
              </a:spcBef>
              <a:spcAft>
                <a:spcPts val="0"/>
              </a:spcAft>
              <a:buClr>
                <a:srgbClr val="5D5D5D"/>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54"/>
        <p:cNvGrpSpPr/>
        <p:nvPr/>
      </p:nvGrpSpPr>
      <p:grpSpPr>
        <a:xfrm>
          <a:off x="0" y="0"/>
          <a:ext cx="0" cy="0"/>
          <a:chOff x="0" y="0"/>
          <a:chExt cx="0" cy="0"/>
        </a:xfrm>
      </p:grpSpPr>
      <p:sp>
        <p:nvSpPr>
          <p:cNvPr id="55" name="Google Shape;55;p13"/>
          <p:cNvSpPr/>
          <p:nvPr/>
        </p:nvSpPr>
        <p:spPr>
          <a:xfrm>
            <a:off x="0" y="0"/>
            <a:ext cx="12192000" cy="6858000"/>
          </a:xfrm>
          <a:prstGeom prst="rect">
            <a:avLst/>
          </a:prstGeom>
          <a:solidFill>
            <a:srgbClr val="BB0027"/>
          </a:solidFill>
          <a:ln>
            <a:noFill/>
          </a:ln>
        </p:spPr>
        <p:txBody>
          <a:bodyPr spcFirstLastPara="1" wrap="square" lIns="121900" tIns="60933" rIns="121900" bIns="60933" anchor="t" anchorCtr="0">
            <a:noAutofit/>
          </a:bodyPr>
          <a:lstStyle/>
          <a:p>
            <a:pPr marL="0" marR="0" lvl="0" indent="0" algn="l" rtl="0">
              <a:spcBef>
                <a:spcPts val="0"/>
              </a:spcBef>
              <a:spcAft>
                <a:spcPts val="0"/>
              </a:spcAft>
              <a:buNone/>
            </a:pPr>
            <a:endParaRPr sz="3200" b="0" i="0" u="none" strike="noStrike" cap="none">
              <a:solidFill>
                <a:schemeClr val="dk1"/>
              </a:solidFill>
              <a:latin typeface="Open Sans"/>
              <a:ea typeface="Open Sans"/>
              <a:cs typeface="Open Sans"/>
              <a:sym typeface="Open Sans"/>
            </a:endParaRPr>
          </a:p>
        </p:txBody>
      </p:sp>
      <p:pic>
        <p:nvPicPr>
          <p:cNvPr id="56" name="Google Shape;56;p13"/>
          <p:cNvPicPr preferRelativeResize="0"/>
          <p:nvPr/>
        </p:nvPicPr>
        <p:blipFill rotWithShape="1">
          <a:blip r:embed="rId2">
            <a:alphaModFix/>
          </a:blip>
          <a:srcRect/>
          <a:stretch/>
        </p:blipFill>
        <p:spPr>
          <a:xfrm>
            <a:off x="2946401" y="1193800"/>
            <a:ext cx="4572001" cy="408517"/>
          </a:xfrm>
          <a:prstGeom prst="rect">
            <a:avLst/>
          </a:prstGeom>
          <a:noFill/>
          <a:ln>
            <a:noFill/>
          </a:ln>
        </p:spPr>
      </p:pic>
      <p:pic>
        <p:nvPicPr>
          <p:cNvPr id="57" name="Google Shape;57;p13" descr="_Plaid-Digital_FINAL-NEW.png"/>
          <p:cNvPicPr preferRelativeResize="0"/>
          <p:nvPr/>
        </p:nvPicPr>
        <p:blipFill rotWithShape="1">
          <a:blip r:embed="rId3">
            <a:alphaModFix/>
          </a:blip>
          <a:srcRect l="84736" t="23991" r="4771" b="1983"/>
          <a:stretch/>
        </p:blipFill>
        <p:spPr>
          <a:xfrm>
            <a:off x="609601" y="1"/>
            <a:ext cx="1054097" cy="6858001"/>
          </a:xfrm>
          <a:prstGeom prst="rect">
            <a:avLst/>
          </a:prstGeom>
          <a:noFill/>
          <a:ln>
            <a:noFill/>
          </a:ln>
        </p:spPr>
      </p:pic>
      <p:sp>
        <p:nvSpPr>
          <p:cNvPr id="58" name="Google Shape;58;p13"/>
          <p:cNvSpPr/>
          <p:nvPr/>
        </p:nvSpPr>
        <p:spPr>
          <a:xfrm>
            <a:off x="0" y="0"/>
            <a:ext cx="12192000" cy="6858000"/>
          </a:xfrm>
          <a:prstGeom prst="rect">
            <a:avLst/>
          </a:prstGeom>
          <a:solidFill>
            <a:srgbClr val="BB0027"/>
          </a:solidFill>
          <a:ln>
            <a:noFill/>
          </a:ln>
        </p:spPr>
        <p:txBody>
          <a:bodyPr spcFirstLastPara="1" wrap="square" lIns="121900" tIns="60933" rIns="121900" bIns="60933" anchor="t" anchorCtr="0">
            <a:noAutofit/>
          </a:bodyPr>
          <a:lstStyle/>
          <a:p>
            <a:pPr marL="0" marR="0" lvl="0" indent="0" algn="l" rtl="0">
              <a:spcBef>
                <a:spcPts val="0"/>
              </a:spcBef>
              <a:spcAft>
                <a:spcPts val="0"/>
              </a:spcAft>
              <a:buNone/>
            </a:pPr>
            <a:endParaRPr sz="3200" b="0" i="0" u="none" strike="noStrike" cap="none">
              <a:solidFill>
                <a:schemeClr val="dk1"/>
              </a:solidFill>
              <a:latin typeface="Open Sans"/>
              <a:ea typeface="Open Sans"/>
              <a:cs typeface="Open Sans"/>
              <a:sym typeface="Open Sans"/>
            </a:endParaRPr>
          </a:p>
        </p:txBody>
      </p:sp>
      <p:pic>
        <p:nvPicPr>
          <p:cNvPr id="59" name="Google Shape;59;p13"/>
          <p:cNvPicPr preferRelativeResize="0"/>
          <p:nvPr/>
        </p:nvPicPr>
        <p:blipFill rotWithShape="1">
          <a:blip r:embed="rId2">
            <a:alphaModFix/>
          </a:blip>
          <a:srcRect/>
          <a:stretch/>
        </p:blipFill>
        <p:spPr>
          <a:xfrm>
            <a:off x="2946401" y="1193800"/>
            <a:ext cx="4572001" cy="408517"/>
          </a:xfrm>
          <a:prstGeom prst="rect">
            <a:avLst/>
          </a:prstGeom>
          <a:noFill/>
          <a:ln>
            <a:noFill/>
          </a:ln>
        </p:spPr>
      </p:pic>
      <p:pic>
        <p:nvPicPr>
          <p:cNvPr id="60" name="Google Shape;60;p13" descr="_Plaid-Digital_FINAL-NEW.png"/>
          <p:cNvPicPr preferRelativeResize="0"/>
          <p:nvPr/>
        </p:nvPicPr>
        <p:blipFill rotWithShape="1">
          <a:blip r:embed="rId3">
            <a:alphaModFix/>
          </a:blip>
          <a:srcRect l="84736" t="23991" r="4771" b="1983"/>
          <a:stretch/>
        </p:blipFill>
        <p:spPr>
          <a:xfrm>
            <a:off x="609601" y="1"/>
            <a:ext cx="1054097" cy="6858001"/>
          </a:xfrm>
          <a:prstGeom prst="rect">
            <a:avLst/>
          </a:prstGeom>
          <a:noFill/>
          <a:ln>
            <a:noFill/>
          </a:ln>
        </p:spPr>
      </p:pic>
    </p:spTree>
    <p:extLst>
      <p:ext uri="{BB962C8B-B14F-4D97-AF65-F5344CB8AC3E}">
        <p14:creationId xmlns:p14="http://schemas.microsoft.com/office/powerpoint/2010/main" val="22263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18750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61172"/>
            <a:ext cx="10515600" cy="839730"/>
          </a:xfrm>
        </p:spPr>
        <p:txBody>
          <a:bodyPr>
            <a:normAutofit/>
          </a:bodyPr>
          <a:lstStyle>
            <a:lvl1pPr>
              <a:defRPr sz="4000">
                <a:solidFill>
                  <a:schemeClr val="accent1">
                    <a:lumMod val="75000"/>
                  </a:schemeClr>
                </a:solidFill>
              </a:defRPr>
            </a:lvl1pPr>
          </a:lstStyle>
          <a:p>
            <a:r>
              <a:rPr lang="en-US" dirty="0"/>
              <a:t>Click to edit Master title style</a:t>
            </a:r>
          </a:p>
        </p:txBody>
      </p:sp>
      <p:sp>
        <p:nvSpPr>
          <p:cNvPr id="3" name="Content Placeholder 2"/>
          <p:cNvSpPr>
            <a:spLocks noGrp="1"/>
          </p:cNvSpPr>
          <p:nvPr>
            <p:ph idx="1"/>
          </p:nvPr>
        </p:nvSpPr>
        <p:spPr>
          <a:xfrm>
            <a:off x="838200" y="1290919"/>
            <a:ext cx="10515600" cy="4886045"/>
          </a:xfrm>
        </p:spPr>
        <p:txBody>
          <a:bodyPr>
            <a:normAutofit/>
          </a:bodyPr>
          <a:lstStyle>
            <a:lvl1pPr marL="0" indent="0">
              <a:buFont typeface="Wingdings" panose="05000000000000000000" pitchFamily="2" charset="2"/>
              <a:buNone/>
              <a:defRPr sz="3200"/>
            </a:lvl1pPr>
            <a:lvl2pPr marL="685800" indent="-228600">
              <a:buFont typeface="Wingdings" panose="05000000000000000000" pitchFamily="2" charset="2"/>
              <a:buChar char="§"/>
              <a:defRPr sz="2800"/>
            </a:lvl2pPr>
            <a:lvl3pPr marL="1143000" indent="-228600">
              <a:buFont typeface="Wingdings" panose="05000000000000000000" pitchFamily="2" charset="2"/>
              <a:buChar char="§"/>
              <a:defRPr sz="2400"/>
            </a:lvl3pPr>
            <a:lvl4pPr marL="1600200" indent="-228600">
              <a:buFont typeface="Wingdings" panose="05000000000000000000" pitchFamily="2" charset="2"/>
              <a:buChar char="§"/>
              <a:defRPr sz="2000"/>
            </a:lvl4pPr>
            <a:lvl5pPr marL="2057400" indent="-228600">
              <a:buFont typeface="Wingdings" panose="05000000000000000000" pitchFamily="2" charset="2"/>
              <a:buChar char="§"/>
              <a:defRPr sz="20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B3B7D8C-0399-4A4C-8090-0D21AD94D7C2}" type="datetimeFigureOut">
              <a:rPr lang="en-US" smtClean="0"/>
              <a:t>11/10/24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7042C-0934-4E3B-9FFB-10D5A66E862D}" type="slidenum">
              <a:rPr lang="en-US" smtClean="0"/>
              <a:t>‹#›</a:t>
            </a:fld>
            <a:endParaRPr lang="en-US"/>
          </a:p>
        </p:txBody>
      </p:sp>
    </p:spTree>
    <p:extLst>
      <p:ext uri="{BB962C8B-B14F-4D97-AF65-F5344CB8AC3E}">
        <p14:creationId xmlns:p14="http://schemas.microsoft.com/office/powerpoint/2010/main" val="2375320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normAutofit/>
          </a:bodyPr>
          <a:lstStyle>
            <a:lvl1pPr algn="ct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3B7D8C-0399-4A4C-8090-0D21AD94D7C2}" type="datetimeFigureOut">
              <a:rPr lang="en-US" smtClean="0"/>
              <a:t>11/10/24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7042C-0934-4E3B-9FFB-10D5A66E862D}" type="slidenum">
              <a:rPr lang="en-US" smtClean="0"/>
              <a:t>‹#›</a:t>
            </a:fld>
            <a:endParaRPr lang="en-US"/>
          </a:p>
        </p:txBody>
      </p:sp>
    </p:spTree>
    <p:extLst>
      <p:ext uri="{BB962C8B-B14F-4D97-AF65-F5344CB8AC3E}">
        <p14:creationId xmlns:p14="http://schemas.microsoft.com/office/powerpoint/2010/main" val="9814674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5D5D5D"/>
              </a:buClr>
              <a:buSzPts val="3600"/>
              <a:buFont typeface="Open Sans Light"/>
              <a:buNone/>
              <a:defRPr sz="3600" b="0" i="0" u="none" strike="noStrike" cap="none">
                <a:solidFill>
                  <a:srgbClr val="5D5D5D"/>
                </a:solidFill>
                <a:latin typeface="Open Sans Light"/>
                <a:ea typeface="Open Sans Light"/>
                <a:cs typeface="Open Sans Light"/>
                <a:sym typeface="Open Sans Light"/>
              </a:defRPr>
            </a:lvl1pPr>
            <a:lvl2pPr marR="0" lvl="1"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9"/>
          <p:cNvSpPr txBox="1">
            <a:spLocks noGrp="1"/>
          </p:cNvSpPr>
          <p:nvPr>
            <p:ph type="body" idx="1"/>
          </p:nvPr>
        </p:nvSpPr>
        <p:spPr>
          <a:xfrm>
            <a:off x="838200" y="1825625"/>
            <a:ext cx="10515600" cy="4351339"/>
          </a:xfrm>
          <a:prstGeom prst="rect">
            <a:avLst/>
          </a:prstGeom>
          <a:noFill/>
          <a:ln>
            <a:noFill/>
          </a:ln>
        </p:spPr>
        <p:txBody>
          <a:bodyPr spcFirstLastPara="1" wrap="square" lIns="45700" tIns="45700" rIns="45700" bIns="45700" anchor="t" anchorCtr="0">
            <a:normAutofit/>
          </a:bodyPr>
          <a:lstStyle>
            <a:lvl1pPr marL="457200" marR="0" lvl="0"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1pPr>
            <a:lvl2pPr marL="914400" marR="0" lvl="1"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2pPr>
            <a:lvl3pPr marL="1371600" marR="0" lvl="2"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3pPr>
            <a:lvl4pPr marL="1828800" marR="0" lvl="3"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4pPr>
            <a:lvl5pPr marL="2286000" marR="0" lvl="4" indent="-355600" algn="l" rtl="0">
              <a:lnSpc>
                <a:spcPct val="90000"/>
              </a:lnSpc>
              <a:spcBef>
                <a:spcPts val="1000"/>
              </a:spcBef>
              <a:spcAft>
                <a:spcPts val="0"/>
              </a:spcAft>
              <a:buClr>
                <a:srgbClr val="5D5D5D"/>
              </a:buClr>
              <a:buSzPts val="2000"/>
              <a:buFont typeface="Arial"/>
              <a:buChar char="•"/>
              <a:defRPr sz="2000" b="0" i="0" u="none" strike="noStrike" cap="none">
                <a:solidFill>
                  <a:srgbClr val="5D5D5D"/>
                </a:solidFill>
                <a:latin typeface="Open Sans Light"/>
                <a:ea typeface="Open Sans Light"/>
                <a:cs typeface="Open Sans Light"/>
                <a:sym typeface="Open Sans Light"/>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Open Sans ExtraBold"/>
                <a:ea typeface="Open Sans ExtraBold"/>
                <a:cs typeface="Open Sans ExtraBold"/>
                <a:sym typeface="Open Sans ExtraBold"/>
              </a:defRPr>
            </a:lvl9pPr>
          </a:lstStyle>
          <a:p>
            <a:endParaRPr/>
          </a:p>
        </p:txBody>
      </p:sp>
    </p:spTree>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s/_rels/slide21.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10" Type="http://schemas.openxmlformats.org/officeDocument/2006/relationships/slideLayout" Target="../slideLayouts/slideLayout4.xml"/><Relationship Id="rId4" Type="http://schemas.openxmlformats.org/officeDocument/2006/relationships/tags" Target="../tags/tag30.xml"/><Relationship Id="rId9" Type="http://schemas.openxmlformats.org/officeDocument/2006/relationships/tags" Target="../tags/tag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slideLayout" Target="../slideLayouts/slideLayout4.xml"/><Relationship Id="rId5" Type="http://schemas.openxmlformats.org/officeDocument/2006/relationships/tags" Target="../tags/tag40.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s>
</file>

<file path=ppt/slides/_rels/slide24.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3" Type="http://schemas.openxmlformats.org/officeDocument/2006/relationships/tags" Target="../tags/tag48.xml"/><Relationship Id="rId21" Type="http://schemas.openxmlformats.org/officeDocument/2006/relationships/tags" Target="../tags/tag66.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slideLayout" Target="../slideLayouts/slideLayout4.xml"/><Relationship Id="rId10" Type="http://schemas.openxmlformats.org/officeDocument/2006/relationships/tags" Target="../tags/tag55.xml"/><Relationship Id="rId19" Type="http://schemas.openxmlformats.org/officeDocument/2006/relationships/tags" Target="../tags/tag64.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tags" Target="../tags/tag67.xml"/></Relationships>
</file>

<file path=ppt/slides/_rels/slide25.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tags" Target="../tags/tag85.xml"/><Relationship Id="rId3" Type="http://schemas.openxmlformats.org/officeDocument/2006/relationships/tags" Target="../tags/tag70.xml"/><Relationship Id="rId21" Type="http://schemas.openxmlformats.org/officeDocument/2006/relationships/tags" Target="../tags/tag88.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tags" Target="../tags/tag87.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24" Type="http://schemas.openxmlformats.org/officeDocument/2006/relationships/slideLayout" Target="../slideLayouts/slideLayout4.xml"/><Relationship Id="rId5" Type="http://schemas.openxmlformats.org/officeDocument/2006/relationships/tags" Target="../tags/tag72.xml"/><Relationship Id="rId15" Type="http://schemas.openxmlformats.org/officeDocument/2006/relationships/tags" Target="../tags/tag82.xml"/><Relationship Id="rId23" Type="http://schemas.openxmlformats.org/officeDocument/2006/relationships/tags" Target="../tags/tag90.xml"/><Relationship Id="rId10" Type="http://schemas.openxmlformats.org/officeDocument/2006/relationships/tags" Target="../tags/tag77.xml"/><Relationship Id="rId19" Type="http://schemas.openxmlformats.org/officeDocument/2006/relationships/tags" Target="../tags/tag86.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 Id="rId22" Type="http://schemas.openxmlformats.org/officeDocument/2006/relationships/tags" Target="../tags/tag89.xml"/></Relationships>
</file>

<file path=ppt/slides/_rels/slide26.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tags" Target="../tags/tag103.xml"/><Relationship Id="rId18" Type="http://schemas.openxmlformats.org/officeDocument/2006/relationships/tags" Target="../tags/tag108.xml"/><Relationship Id="rId3" Type="http://schemas.openxmlformats.org/officeDocument/2006/relationships/tags" Target="../tags/tag93.xml"/><Relationship Id="rId21" Type="http://schemas.openxmlformats.org/officeDocument/2006/relationships/tags" Target="../tags/tag111.xml"/><Relationship Id="rId7" Type="http://schemas.openxmlformats.org/officeDocument/2006/relationships/tags" Target="../tags/tag97.xml"/><Relationship Id="rId12" Type="http://schemas.openxmlformats.org/officeDocument/2006/relationships/tags" Target="../tags/tag102.xml"/><Relationship Id="rId17" Type="http://schemas.openxmlformats.org/officeDocument/2006/relationships/tags" Target="../tags/tag107.xml"/><Relationship Id="rId2" Type="http://schemas.openxmlformats.org/officeDocument/2006/relationships/tags" Target="../tags/tag92.xml"/><Relationship Id="rId16" Type="http://schemas.openxmlformats.org/officeDocument/2006/relationships/tags" Target="../tags/tag106.xml"/><Relationship Id="rId20" Type="http://schemas.openxmlformats.org/officeDocument/2006/relationships/tags" Target="../tags/tag110.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24" Type="http://schemas.openxmlformats.org/officeDocument/2006/relationships/slideLayout" Target="../slideLayouts/slideLayout4.xml"/><Relationship Id="rId5" Type="http://schemas.openxmlformats.org/officeDocument/2006/relationships/tags" Target="../tags/tag95.xml"/><Relationship Id="rId15" Type="http://schemas.openxmlformats.org/officeDocument/2006/relationships/tags" Target="../tags/tag105.xml"/><Relationship Id="rId23" Type="http://schemas.openxmlformats.org/officeDocument/2006/relationships/tags" Target="../tags/tag113.xml"/><Relationship Id="rId10" Type="http://schemas.openxmlformats.org/officeDocument/2006/relationships/tags" Target="../tags/tag100.xml"/><Relationship Id="rId19" Type="http://schemas.openxmlformats.org/officeDocument/2006/relationships/tags" Target="../tags/tag109.xml"/><Relationship Id="rId4" Type="http://schemas.openxmlformats.org/officeDocument/2006/relationships/tags" Target="../tags/tag94.xml"/><Relationship Id="rId9" Type="http://schemas.openxmlformats.org/officeDocument/2006/relationships/tags" Target="../tags/tag99.xml"/><Relationship Id="rId14" Type="http://schemas.openxmlformats.org/officeDocument/2006/relationships/tags" Target="../tags/tag104.xml"/><Relationship Id="rId22" Type="http://schemas.openxmlformats.org/officeDocument/2006/relationships/tags" Target="../tags/tag112.xml"/></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16.xml"/><Relationship Id="rId7" Type="http://schemas.openxmlformats.org/officeDocument/2006/relationships/tags" Target="../tags/tag120.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s>
</file>

<file path=ppt/slides/_rels/slide28.xml.rels><?xml version="1.0" encoding="UTF-8" standalone="yes"?>
<Relationships xmlns="http://schemas.openxmlformats.org/package/2006/relationships"><Relationship Id="rId8" Type="http://schemas.openxmlformats.org/officeDocument/2006/relationships/tags" Target="../tags/tag128.xml"/><Relationship Id="rId3" Type="http://schemas.openxmlformats.org/officeDocument/2006/relationships/tags" Target="../tags/tag123.xml"/><Relationship Id="rId7" Type="http://schemas.openxmlformats.org/officeDocument/2006/relationships/tags" Target="../tags/tag127.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9"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9"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tags" Target="../tags/tag148.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tags" Target="../tags/tag157.xml"/><Relationship Id="rId3" Type="http://schemas.openxmlformats.org/officeDocument/2006/relationships/tags" Target="../tags/tag152.xml"/><Relationship Id="rId7" Type="http://schemas.openxmlformats.org/officeDocument/2006/relationships/tags" Target="../tags/tag156.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image" Target="../media/image4.png"/><Relationship Id="rId5" Type="http://schemas.openxmlformats.org/officeDocument/2006/relationships/tags" Target="../tags/tag154.xml"/><Relationship Id="rId10" Type="http://schemas.openxmlformats.org/officeDocument/2006/relationships/slideLayout" Target="../slideLayouts/slideLayout4.xml"/><Relationship Id="rId4" Type="http://schemas.openxmlformats.org/officeDocument/2006/relationships/tags" Target="../tags/tag153.xml"/><Relationship Id="rId9" Type="http://schemas.openxmlformats.org/officeDocument/2006/relationships/tags" Target="../tags/tag158.xml"/></Relationships>
</file>

<file path=ppt/slides/_rels/slide32.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slideLayout" Target="../slideLayouts/slideLayout4.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cxnSp>
        <p:nvCxnSpPr>
          <p:cNvPr id="70" name="Google Shape;70;p15"/>
          <p:cNvCxnSpPr/>
          <p:nvPr/>
        </p:nvCxnSpPr>
        <p:spPr>
          <a:xfrm>
            <a:off x="2946400" y="4648200"/>
            <a:ext cx="7315200" cy="0"/>
          </a:xfrm>
          <a:prstGeom prst="straightConnector1">
            <a:avLst/>
          </a:prstGeom>
          <a:noFill/>
          <a:ln w="9525" cap="flat" cmpd="sng">
            <a:solidFill>
              <a:srgbClr val="FFFFFF"/>
            </a:solidFill>
            <a:prstDash val="solid"/>
            <a:round/>
            <a:headEnd type="none" w="med" len="med"/>
            <a:tailEnd type="none" w="med" len="med"/>
          </a:ln>
        </p:spPr>
      </p:cxnSp>
      <p:sp>
        <p:nvSpPr>
          <p:cNvPr id="71" name="Google Shape;71;p15"/>
          <p:cNvSpPr txBox="1"/>
          <p:nvPr/>
        </p:nvSpPr>
        <p:spPr>
          <a:xfrm>
            <a:off x="2844800" y="2717800"/>
            <a:ext cx="9064000" cy="1828800"/>
          </a:xfrm>
          <a:prstGeom prst="rect">
            <a:avLst/>
          </a:prstGeom>
          <a:noFill/>
          <a:ln>
            <a:noFill/>
          </a:ln>
        </p:spPr>
        <p:txBody>
          <a:bodyPr spcFirstLastPara="1" wrap="square" lIns="121900" tIns="60933" rIns="121900" bIns="60933" anchor="t" anchorCtr="0">
            <a:noAutofit/>
          </a:bodyPr>
          <a:lstStyle/>
          <a:p>
            <a:pPr marL="4233" indent="-4233">
              <a:buClr>
                <a:schemeClr val="dk1"/>
              </a:buClr>
            </a:pPr>
            <a:r>
              <a:rPr lang="en-US" sz="2667" dirty="0">
                <a:solidFill>
                  <a:schemeClr val="lt1"/>
                </a:solidFill>
                <a:latin typeface="Open Sans"/>
                <a:ea typeface="Open Sans"/>
                <a:cs typeface="Open Sans"/>
                <a:sym typeface="Open Sans"/>
              </a:rPr>
              <a:t>Computational Foundations for ML (10-607):</a:t>
            </a:r>
            <a:endParaRPr sz="2667" dirty="0">
              <a:solidFill>
                <a:schemeClr val="lt1"/>
              </a:solidFill>
              <a:latin typeface="Open Sans"/>
              <a:ea typeface="Open Sans"/>
              <a:cs typeface="Open Sans"/>
              <a:sym typeface="Open Sans"/>
            </a:endParaRPr>
          </a:p>
          <a:p>
            <a:pPr marL="4233" indent="-4233">
              <a:lnSpc>
                <a:spcPct val="115000"/>
              </a:lnSpc>
              <a:spcBef>
                <a:spcPts val="667"/>
              </a:spcBef>
            </a:pPr>
            <a:r>
              <a:rPr lang="en-US" sz="4667">
                <a:solidFill>
                  <a:schemeClr val="lt1"/>
                </a:solidFill>
                <a:latin typeface="Open Sans"/>
                <a:ea typeface="Open Sans"/>
                <a:cs typeface="Open Sans"/>
                <a:sym typeface="Open Sans"/>
              </a:rPr>
              <a:t>Recursion</a:t>
            </a:r>
            <a:endParaRPr sz="4667" dirty="0">
              <a:solidFill>
                <a:schemeClr val="lt1"/>
              </a:solidFill>
              <a:latin typeface="Open Sans"/>
              <a:ea typeface="Open Sans"/>
              <a:cs typeface="Open Sans"/>
              <a:sym typeface="Open Sans"/>
            </a:endParaRPr>
          </a:p>
          <a:p>
            <a:pPr marL="4233" indent="-4233"/>
            <a:endParaRPr sz="4800" dirty="0">
              <a:solidFill>
                <a:schemeClr val="lt1"/>
              </a:solidFill>
              <a:latin typeface="Open Sans"/>
              <a:ea typeface="Open Sans"/>
              <a:cs typeface="Open Sans"/>
              <a:sym typeface="Open Sans"/>
            </a:endParaRPr>
          </a:p>
        </p:txBody>
      </p:sp>
      <p:sp>
        <p:nvSpPr>
          <p:cNvPr id="72" name="Google Shape;72;p15"/>
          <p:cNvSpPr txBox="1"/>
          <p:nvPr/>
        </p:nvSpPr>
        <p:spPr>
          <a:xfrm>
            <a:off x="2844800" y="4851400"/>
            <a:ext cx="7010400" cy="914400"/>
          </a:xfrm>
          <a:prstGeom prst="rect">
            <a:avLst/>
          </a:prstGeom>
          <a:noFill/>
          <a:ln>
            <a:noFill/>
          </a:ln>
        </p:spPr>
        <p:txBody>
          <a:bodyPr spcFirstLastPara="1" wrap="square" lIns="121900" tIns="60933" rIns="121900" bIns="60933" anchor="t" anchorCtr="0">
            <a:noAutofit/>
          </a:bodyPr>
          <a:lstStyle/>
          <a:p>
            <a:pPr marL="4233" indent="-4233"/>
            <a:r>
              <a:rPr lang="en-US" sz="2133" dirty="0">
                <a:solidFill>
                  <a:srgbClr val="FFFFFF"/>
                </a:solidFill>
                <a:latin typeface="Open Sans"/>
                <a:ea typeface="Open Sans"/>
                <a:cs typeface="Open Sans"/>
                <a:sym typeface="Open Sans"/>
              </a:rPr>
              <a:t>Bryan Wilder</a:t>
            </a:r>
            <a:endParaRPr sz="1867" dirty="0"/>
          </a:p>
        </p:txBody>
      </p:sp>
      <p:sp>
        <p:nvSpPr>
          <p:cNvPr id="73" name="Google Shape;73;p15"/>
          <p:cNvSpPr txBox="1"/>
          <p:nvPr/>
        </p:nvSpPr>
        <p:spPr>
          <a:xfrm>
            <a:off x="2844800" y="6260433"/>
            <a:ext cx="9204400" cy="471948"/>
          </a:xfrm>
          <a:prstGeom prst="rect">
            <a:avLst/>
          </a:prstGeom>
          <a:noFill/>
          <a:ln>
            <a:noFill/>
          </a:ln>
        </p:spPr>
        <p:txBody>
          <a:bodyPr spcFirstLastPara="1" wrap="square" lIns="121900" tIns="121900" rIns="121900" bIns="121900" anchor="t" anchorCtr="0">
            <a:spAutoFit/>
          </a:bodyPr>
          <a:lstStyle/>
          <a:p>
            <a:r>
              <a:rPr lang="en-US" sz="1467" dirty="0">
                <a:solidFill>
                  <a:srgbClr val="FFFFFF"/>
                </a:solidFill>
                <a:latin typeface="Open Sans"/>
                <a:ea typeface="Open Sans"/>
                <a:cs typeface="Open Sans"/>
                <a:sym typeface="Open Sans"/>
              </a:rPr>
              <a:t>* Slides borrowed from prior offerings by Professors H. </a:t>
            </a:r>
            <a:r>
              <a:rPr lang="en-US" sz="1467" dirty="0" err="1">
                <a:solidFill>
                  <a:srgbClr val="FFFFFF"/>
                </a:solidFill>
                <a:latin typeface="Open Sans"/>
                <a:ea typeface="Open Sans"/>
                <a:cs typeface="Open Sans"/>
                <a:sym typeface="Open Sans"/>
              </a:rPr>
              <a:t>Heidari</a:t>
            </a:r>
            <a:r>
              <a:rPr lang="en-US" sz="1467" dirty="0">
                <a:solidFill>
                  <a:srgbClr val="FFFFFF"/>
                </a:solidFill>
                <a:latin typeface="Open Sans"/>
                <a:ea typeface="Open Sans"/>
                <a:cs typeface="Open Sans"/>
                <a:sym typeface="Open Sans"/>
              </a:rPr>
              <a:t>, M. Gormley, P. Virtue, &amp; G. Gordon.</a:t>
            </a:r>
            <a:endParaRPr sz="1467" dirty="0">
              <a:solidFill>
                <a:srgbClr val="FFFFFF"/>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0"/>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a:bodyPr>
          <a:lstStyle/>
          <a:p>
            <a:r>
              <a:rPr lang="en-US" dirty="0"/>
              <a:t>Warm-up from last time</a:t>
            </a:r>
            <a:endParaRPr dirty="0"/>
          </a:p>
        </p:txBody>
      </p:sp>
      <p:sp>
        <p:nvSpPr>
          <p:cNvPr id="193" name="Google Shape;193;p3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rmAutofit/>
          </a:bodyPr>
          <a:lstStyle/>
          <a:p>
            <a:pPr marL="0" indent="0">
              <a:buNone/>
            </a:pPr>
            <a:r>
              <a:rPr lang="en-US"/>
              <a:t>A </a:t>
            </a:r>
            <a:r>
              <a:rPr lang="en-US" b="1"/>
              <a:t>recursive</a:t>
            </a:r>
            <a:r>
              <a:rPr lang="en-US"/>
              <a:t> function calls itself.</a:t>
            </a:r>
            <a:endParaRPr sz="2267">
              <a:solidFill>
                <a:schemeClr val="dk1"/>
              </a:solidFill>
              <a:latin typeface="Courier New"/>
              <a:ea typeface="Courier New"/>
              <a:cs typeface="Courier New"/>
              <a:sym typeface="Courier New"/>
            </a:endParaRPr>
          </a:p>
          <a:p>
            <a:pPr marL="0" indent="0">
              <a:lnSpc>
                <a:spcPct val="110000"/>
              </a:lnSpc>
              <a:spcBef>
                <a:spcPts val="1600"/>
              </a:spcBef>
              <a:buNone/>
            </a:pPr>
            <a:r>
              <a:rPr lang="en-US" b="1">
                <a:solidFill>
                  <a:srgbClr val="7030A0"/>
                </a:solidFill>
                <a:latin typeface="Courier New"/>
                <a:ea typeface="Courier New"/>
                <a:cs typeface="Courier New"/>
                <a:sym typeface="Courier New"/>
              </a:rPr>
              <a:t>def</a:t>
            </a:r>
            <a:r>
              <a:rPr lang="en-US">
                <a:solidFill>
                  <a:schemeClr val="dk1"/>
                </a:solidFill>
                <a:latin typeface="Courier New"/>
                <a:ea typeface="Courier New"/>
                <a:cs typeface="Courier New"/>
                <a:sym typeface="Courier New"/>
              </a:rPr>
              <a:t> </a:t>
            </a:r>
            <a:r>
              <a:rPr lang="en-US" b="1">
                <a:solidFill>
                  <a:schemeClr val="dk1"/>
                </a:solidFill>
                <a:latin typeface="Courier New"/>
                <a:ea typeface="Courier New"/>
                <a:cs typeface="Courier New"/>
                <a:sym typeface="Courier New"/>
              </a:rPr>
              <a:t>recursiveFunction</a:t>
            </a:r>
            <a:r>
              <a:rPr lang="en-US">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if (this is the base case):</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do something non-recursive</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else:</a:t>
            </a:r>
            <a:endParaRPr>
              <a:solidFill>
                <a:schemeClr val="dk1"/>
              </a:solidFill>
              <a:latin typeface="Courier New"/>
              <a:ea typeface="Courier New"/>
              <a:cs typeface="Courier New"/>
              <a:sym typeface="Courier New"/>
            </a:endParaRPr>
          </a:p>
          <a:p>
            <a:pPr marL="0" indent="0">
              <a:lnSpc>
                <a:spcPct val="110000"/>
              </a:lnSpc>
              <a:spcBef>
                <a:spcPts val="1333"/>
              </a:spcBef>
              <a:buNone/>
            </a:pPr>
            <a:r>
              <a:rPr lang="en-US">
                <a:solidFill>
                  <a:schemeClr val="dk1"/>
                </a:solidFill>
                <a:latin typeface="Courier New"/>
                <a:ea typeface="Courier New"/>
                <a:cs typeface="Courier New"/>
                <a:sym typeface="Courier New"/>
              </a:rPr>
              <a:t>  do something recursive</a:t>
            </a:r>
            <a:endParaRPr>
              <a:solidFill>
                <a:schemeClr val="dk1"/>
              </a:solidFill>
              <a:latin typeface="Courier New"/>
              <a:ea typeface="Courier New"/>
              <a:cs typeface="Courier New"/>
              <a:sym typeface="Courier New"/>
            </a:endParaRPr>
          </a:p>
          <a:p>
            <a:pPr marL="0" indent="0">
              <a:lnSpc>
                <a:spcPct val="110000"/>
              </a:lnSpc>
              <a:spcBef>
                <a:spcPts val="1333"/>
              </a:spcBef>
              <a:buClr>
                <a:schemeClr val="dk1"/>
              </a:buClr>
              <a:buSzPts val="1100"/>
              <a:buNone/>
            </a:pPr>
            <a:endParaRPr>
              <a:solidFill>
                <a:schemeClr val="dk1"/>
              </a:solidFill>
              <a:latin typeface="Courier New"/>
              <a:ea typeface="Courier New"/>
              <a:cs typeface="Courier New"/>
              <a:sym typeface="Courier New"/>
            </a:endParaRPr>
          </a:p>
          <a:p>
            <a:pPr marL="0" indent="0">
              <a:spcAft>
                <a:spcPts val="1600"/>
              </a:spcAft>
              <a:buClr>
                <a:schemeClr val="dk1"/>
              </a:buClr>
              <a:buSzPts val="1100"/>
              <a:buNone/>
            </a:pPr>
            <a:r>
              <a:rPr lang="en-US" b="1"/>
              <a:t>Example: </a:t>
            </a:r>
            <a:r>
              <a:rPr lang="en-US"/>
              <a:t>complete the recursive function for the factorial.</a:t>
            </a:r>
            <a:endParaRPr/>
          </a:p>
        </p:txBody>
      </p:sp>
      <p:sp>
        <p:nvSpPr>
          <p:cNvPr id="194" name="Google Shape;194;p30"/>
          <p:cNvSpPr txBox="1">
            <a:spLocks noGrp="1"/>
          </p:cNvSpPr>
          <p:nvPr>
            <p:ph type="sldNum" idx="12"/>
          </p:nvPr>
        </p:nvSpPr>
        <p:spPr>
          <a:xfrm>
            <a:off x="11296611" y="6217623"/>
            <a:ext cx="731600" cy="524800"/>
          </a:xfrm>
          <a:prstGeom prst="rect">
            <a:avLst/>
          </a:prstGeom>
        </p:spPr>
        <p:txBody>
          <a:bodyPr spcFirstLastPara="1" wrap="square" lIns="121900" tIns="121900" rIns="121900" bIns="121900" anchor="ctr" anchorCtr="0">
            <a:normAutofit/>
          </a:bodyPr>
          <a:lstStyle/>
          <a:p>
            <a:pPr algn="r"/>
            <a:fld id="{00000000-1234-1234-1234-123412341234}" type="slidenum">
              <a:rPr lang="en-US"/>
              <a:pPr algn="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D732-4996-432E-8492-28734771CFDA}"/>
              </a:ext>
            </a:extLst>
          </p:cNvPr>
          <p:cNvSpPr>
            <a:spLocks noGrp="1"/>
          </p:cNvSpPr>
          <p:nvPr>
            <p:ph type="title"/>
          </p:nvPr>
        </p:nvSpPr>
        <p:spPr/>
        <p:txBody>
          <a:bodyPr/>
          <a:lstStyle/>
          <a:p>
            <a:r>
              <a:rPr lang="en-US" dirty="0">
                <a:solidFill>
                  <a:srgbClr val="C00000"/>
                </a:solidFill>
              </a:rPr>
              <a:t>Poll 1</a:t>
            </a:r>
          </a:p>
        </p:txBody>
      </p:sp>
      <p:sp>
        <p:nvSpPr>
          <p:cNvPr id="3" name="Content Placeholder 2">
            <a:extLst>
              <a:ext uri="{FF2B5EF4-FFF2-40B4-BE49-F238E27FC236}">
                <a16:creationId xmlns:a16="http://schemas.microsoft.com/office/drawing/2014/main" id="{38440474-B69C-43C5-A51A-B0C2F8A0E537}"/>
              </a:ext>
            </a:extLst>
          </p:cNvPr>
          <p:cNvSpPr>
            <a:spLocks noGrp="1"/>
          </p:cNvSpPr>
          <p:nvPr>
            <p:ph idx="1"/>
          </p:nvPr>
        </p:nvSpPr>
        <p:spPr>
          <a:xfrm>
            <a:off x="838200" y="1100902"/>
            <a:ext cx="10648950" cy="5382932"/>
          </a:xfrm>
        </p:spPr>
        <p:txBody>
          <a:bodyPr>
            <a:normAutofit/>
          </a:bodyPr>
          <a:lstStyle/>
          <a:p>
            <a:r>
              <a:rPr lang="en-US" dirty="0"/>
              <a:t>I’m thinking of a number between 1 and 64. After each guess, I’ll tell you if  you’re </a:t>
            </a:r>
            <a:r>
              <a:rPr lang="en-US" dirty="0">
                <a:solidFill>
                  <a:srgbClr val="7030A0"/>
                </a:solidFill>
              </a:rPr>
              <a:t>correct</a:t>
            </a:r>
            <a:r>
              <a:rPr lang="en-US" dirty="0"/>
              <a:t> or if my number is </a:t>
            </a:r>
            <a:r>
              <a:rPr lang="en-US" dirty="0">
                <a:solidFill>
                  <a:srgbClr val="7030A0"/>
                </a:solidFill>
              </a:rPr>
              <a:t>higher</a:t>
            </a:r>
            <a:r>
              <a:rPr lang="en-US" dirty="0"/>
              <a:t> or </a:t>
            </a:r>
            <a:r>
              <a:rPr lang="en-US" dirty="0">
                <a:solidFill>
                  <a:srgbClr val="7030A0"/>
                </a:solidFill>
              </a:rPr>
              <a:t>lower</a:t>
            </a:r>
            <a:r>
              <a:rPr lang="en-US" dirty="0"/>
              <a:t>.</a:t>
            </a:r>
          </a:p>
          <a:p>
            <a:r>
              <a:rPr lang="en-US" dirty="0"/>
              <a:t>What is the maximum number of guesses you’ll need to play this game?</a:t>
            </a:r>
          </a:p>
          <a:p>
            <a:endParaRPr lang="en-US" dirty="0"/>
          </a:p>
          <a:p>
            <a:r>
              <a:rPr lang="en-US" dirty="0"/>
              <a:t>A: 6</a:t>
            </a:r>
          </a:p>
          <a:p>
            <a:r>
              <a:rPr lang="en-US" dirty="0"/>
              <a:t>B: 7</a:t>
            </a:r>
          </a:p>
          <a:p>
            <a:r>
              <a:rPr lang="en-US" dirty="0"/>
              <a:t>C: 32</a:t>
            </a:r>
          </a:p>
          <a:p>
            <a:r>
              <a:rPr lang="en-US" dirty="0"/>
              <a:t>D: 64</a:t>
            </a:r>
          </a:p>
        </p:txBody>
      </p:sp>
    </p:spTree>
    <p:extLst>
      <p:ext uri="{BB962C8B-B14F-4D97-AF65-F5344CB8AC3E}">
        <p14:creationId xmlns:p14="http://schemas.microsoft.com/office/powerpoint/2010/main" val="754144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D732-4996-432E-8492-28734771CFDA}"/>
              </a:ext>
            </a:extLst>
          </p:cNvPr>
          <p:cNvSpPr>
            <a:spLocks noGrp="1"/>
          </p:cNvSpPr>
          <p:nvPr>
            <p:ph type="title"/>
          </p:nvPr>
        </p:nvSpPr>
        <p:spPr/>
        <p:txBody>
          <a:bodyPr/>
          <a:lstStyle/>
          <a:p>
            <a:r>
              <a:rPr lang="en-US" dirty="0"/>
              <a:t>Guess a Number</a:t>
            </a:r>
          </a:p>
        </p:txBody>
      </p:sp>
      <p:sp>
        <p:nvSpPr>
          <p:cNvPr id="3" name="Content Placeholder 2">
            <a:extLst>
              <a:ext uri="{FF2B5EF4-FFF2-40B4-BE49-F238E27FC236}">
                <a16:creationId xmlns:a16="http://schemas.microsoft.com/office/drawing/2014/main" id="{38440474-B69C-43C5-A51A-B0C2F8A0E537}"/>
              </a:ext>
            </a:extLst>
          </p:cNvPr>
          <p:cNvSpPr>
            <a:spLocks noGrp="1"/>
          </p:cNvSpPr>
          <p:nvPr>
            <p:ph idx="1"/>
          </p:nvPr>
        </p:nvSpPr>
        <p:spPr>
          <a:xfrm>
            <a:off x="838200" y="1100902"/>
            <a:ext cx="10648950" cy="2499548"/>
          </a:xfrm>
        </p:spPr>
        <p:txBody>
          <a:bodyPr>
            <a:normAutofit lnSpcReduction="10000"/>
          </a:bodyPr>
          <a:lstStyle/>
          <a:p>
            <a:r>
              <a:rPr lang="en-US" dirty="0"/>
              <a:t>I’m thinking of a number between </a:t>
            </a:r>
            <a:r>
              <a:rPr lang="en-US" dirty="0">
                <a:solidFill>
                  <a:srgbClr val="C00000"/>
                </a:solidFill>
              </a:rPr>
              <a:t>1 and N</a:t>
            </a:r>
            <a:r>
              <a:rPr lang="en-US" dirty="0"/>
              <a:t>. After each guess, I’ll tell you if  you’re </a:t>
            </a:r>
            <a:r>
              <a:rPr lang="en-US" dirty="0">
                <a:solidFill>
                  <a:srgbClr val="7030A0"/>
                </a:solidFill>
              </a:rPr>
              <a:t>correct</a:t>
            </a:r>
            <a:r>
              <a:rPr lang="en-US" dirty="0"/>
              <a:t> or if my number is </a:t>
            </a:r>
            <a:r>
              <a:rPr lang="en-US" dirty="0">
                <a:solidFill>
                  <a:srgbClr val="7030A0"/>
                </a:solidFill>
              </a:rPr>
              <a:t>higher</a:t>
            </a:r>
            <a:r>
              <a:rPr lang="en-US" dirty="0"/>
              <a:t> or </a:t>
            </a:r>
            <a:r>
              <a:rPr lang="en-US" dirty="0">
                <a:solidFill>
                  <a:srgbClr val="7030A0"/>
                </a:solidFill>
              </a:rPr>
              <a:t>lower</a:t>
            </a:r>
            <a:r>
              <a:rPr lang="en-US" dirty="0"/>
              <a:t>.</a:t>
            </a:r>
          </a:p>
          <a:p>
            <a:r>
              <a:rPr lang="en-US" dirty="0"/>
              <a:t>What is the maximum number of guesses you’ll need to play this game?</a:t>
            </a:r>
          </a:p>
          <a:p>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1646951-5819-4089-975D-44873442B68D}"/>
                  </a:ext>
                </a:extLst>
              </p:cNvPr>
              <p:cNvGraphicFramePr>
                <a:graphicFrameLocks noGrp="1"/>
              </p:cNvGraphicFramePr>
              <p:nvPr/>
            </p:nvGraphicFramePr>
            <p:xfrm>
              <a:off x="995519" y="3429000"/>
              <a:ext cx="9967755" cy="1371600"/>
            </p:xfrm>
            <a:graphic>
              <a:graphicData uri="http://schemas.openxmlformats.org/drawingml/2006/table">
                <a:tbl>
                  <a:tblPr firstRow="1" bandRow="1">
                    <a:tableStyleId>{5C22544A-7EE6-4342-B048-85BDC9FD1C3A}</a:tableStyleId>
                  </a:tblPr>
                  <a:tblGrid>
                    <a:gridCol w="1913259">
                      <a:extLst>
                        <a:ext uri="{9D8B030D-6E8A-4147-A177-3AD203B41FA5}">
                          <a16:colId xmlns:a16="http://schemas.microsoft.com/office/drawing/2014/main" val="3030639343"/>
                        </a:ext>
                      </a:extLst>
                    </a:gridCol>
                    <a:gridCol w="923652">
                      <a:extLst>
                        <a:ext uri="{9D8B030D-6E8A-4147-A177-3AD203B41FA5}">
                          <a16:colId xmlns:a16="http://schemas.microsoft.com/office/drawing/2014/main" val="2463947112"/>
                        </a:ext>
                      </a:extLst>
                    </a:gridCol>
                    <a:gridCol w="989532">
                      <a:extLst>
                        <a:ext uri="{9D8B030D-6E8A-4147-A177-3AD203B41FA5}">
                          <a16:colId xmlns:a16="http://schemas.microsoft.com/office/drawing/2014/main" val="3007465963"/>
                        </a:ext>
                      </a:extLst>
                    </a:gridCol>
                    <a:gridCol w="1023552">
                      <a:extLst>
                        <a:ext uri="{9D8B030D-6E8A-4147-A177-3AD203B41FA5}">
                          <a16:colId xmlns:a16="http://schemas.microsoft.com/office/drawing/2014/main" val="410163719"/>
                        </a:ext>
                      </a:extLst>
                    </a:gridCol>
                    <a:gridCol w="1023552">
                      <a:extLst>
                        <a:ext uri="{9D8B030D-6E8A-4147-A177-3AD203B41FA5}">
                          <a16:colId xmlns:a16="http://schemas.microsoft.com/office/drawing/2014/main" val="2181644566"/>
                        </a:ext>
                      </a:extLst>
                    </a:gridCol>
                    <a:gridCol w="1023552">
                      <a:extLst>
                        <a:ext uri="{9D8B030D-6E8A-4147-A177-3AD203B41FA5}">
                          <a16:colId xmlns:a16="http://schemas.microsoft.com/office/drawing/2014/main" val="3653002342"/>
                        </a:ext>
                      </a:extLst>
                    </a:gridCol>
                    <a:gridCol w="1023552">
                      <a:extLst>
                        <a:ext uri="{9D8B030D-6E8A-4147-A177-3AD203B41FA5}">
                          <a16:colId xmlns:a16="http://schemas.microsoft.com/office/drawing/2014/main" val="2026589985"/>
                        </a:ext>
                      </a:extLst>
                    </a:gridCol>
                    <a:gridCol w="1023552">
                      <a:extLst>
                        <a:ext uri="{9D8B030D-6E8A-4147-A177-3AD203B41FA5}">
                          <a16:colId xmlns:a16="http://schemas.microsoft.com/office/drawing/2014/main" val="4193798014"/>
                        </a:ext>
                      </a:extLst>
                    </a:gridCol>
                    <a:gridCol w="1023552">
                      <a:extLst>
                        <a:ext uri="{9D8B030D-6E8A-4147-A177-3AD203B41FA5}">
                          <a16:colId xmlns:a16="http://schemas.microsoft.com/office/drawing/2014/main" val="2116021646"/>
                        </a:ext>
                      </a:extLst>
                    </a:gridCol>
                  </a:tblGrid>
                  <a:tr h="431986">
                    <a:tc>
                      <a:txBody>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𝑁</m:t>
                                </m:r>
                              </m:oMath>
                            </m:oMathPara>
                          </a14:m>
                          <a:endParaRPr lang="en-US" sz="2400" dirty="0"/>
                        </a:p>
                      </a:txBody>
                      <a:tcPr/>
                    </a:tc>
                    <a:tc>
                      <a:txBody>
                        <a:bodyPr/>
                        <a:lstStyle/>
                        <a:p>
                          <a:pPr algn="ctr"/>
                          <a:r>
                            <a:rPr lang="en-US" sz="2400" b="0" dirty="0"/>
                            <a:t>10</a:t>
                          </a:r>
                        </a:p>
                      </a:txBody>
                      <a:tcPr/>
                    </a:tc>
                    <a:tc>
                      <a:txBody>
                        <a:bodyPr/>
                        <a:lstStyle/>
                        <a:p>
                          <a:pPr algn="ctr"/>
                          <a:r>
                            <a:rPr lang="en-US" sz="2400" b="0" dirty="0"/>
                            <a:t>100</a:t>
                          </a:r>
                        </a:p>
                      </a:txBody>
                      <a:tcPr/>
                    </a:tc>
                    <a:tc>
                      <a:txBody>
                        <a:bodyPr/>
                        <a:lstStyle/>
                        <a:p>
                          <a:pPr algn="ctr"/>
                          <a:r>
                            <a:rPr lang="en-US" sz="2400" b="0" dirty="0"/>
                            <a:t>1000</a:t>
                          </a:r>
                        </a:p>
                      </a:txBody>
                      <a:tcPr/>
                    </a:tc>
                    <a:tc>
                      <a:txBody>
                        <a:bodyPr/>
                        <a:lstStyle/>
                        <a:p>
                          <a:pPr algn="ctr"/>
                          <a:r>
                            <a:rPr lang="en-US" sz="2400" b="0" dirty="0"/>
                            <a:t>10K</a:t>
                          </a:r>
                        </a:p>
                      </a:txBody>
                      <a:tcPr/>
                    </a:tc>
                    <a:tc>
                      <a:txBody>
                        <a:bodyPr/>
                        <a:lstStyle/>
                        <a:p>
                          <a:pPr algn="ctr"/>
                          <a:r>
                            <a:rPr lang="en-US" sz="2400" b="0" dirty="0"/>
                            <a:t>100K</a:t>
                          </a:r>
                        </a:p>
                      </a:txBody>
                      <a:tcPr/>
                    </a:tc>
                    <a:tc>
                      <a:txBody>
                        <a:bodyPr/>
                        <a:lstStyle/>
                        <a:p>
                          <a:pPr algn="ctr"/>
                          <a:r>
                            <a:rPr lang="en-US" sz="2400" b="0" dirty="0"/>
                            <a:t>1M</a:t>
                          </a:r>
                        </a:p>
                      </a:txBody>
                      <a:tcPr/>
                    </a:tc>
                    <a:tc>
                      <a:txBody>
                        <a:bodyPr/>
                        <a:lstStyle/>
                        <a:p>
                          <a:pPr algn="ctr"/>
                          <a:r>
                            <a:rPr lang="en-US" sz="2400" b="0" dirty="0"/>
                            <a:t>10M</a:t>
                          </a:r>
                        </a:p>
                      </a:txBody>
                      <a:tcPr/>
                    </a:tc>
                    <a:tc>
                      <a:txBody>
                        <a:bodyPr/>
                        <a:lstStyle/>
                        <a:p>
                          <a:pPr algn="ctr"/>
                          <a:r>
                            <a:rPr lang="en-US" sz="2400" b="0" dirty="0"/>
                            <a:t>100M</a:t>
                          </a:r>
                        </a:p>
                      </a:txBody>
                      <a:tcPr/>
                    </a:tc>
                    <a:extLst>
                      <a:ext uri="{0D108BD9-81ED-4DB2-BD59-A6C34878D82A}">
                        <a16:rowId xmlns:a16="http://schemas.microsoft.com/office/drawing/2014/main" val="1937464409"/>
                      </a:ext>
                    </a:extLst>
                  </a:tr>
                  <a:tr h="431986">
                    <a:tc>
                      <a:txBody>
                        <a:bodyPr/>
                        <a:lstStyle/>
                        <a:p>
                          <a:pPr/>
                          <a14:m>
                            <m:oMathPara xmlns:m="http://schemas.openxmlformats.org/officeDocument/2006/math">
                              <m:oMathParaPr>
                                <m:jc m:val="centerGroup"/>
                              </m:oMathParaPr>
                              <m:oMath xmlns:m="http://schemas.openxmlformats.org/officeDocument/2006/math">
                                <m:r>
                                  <m:rPr>
                                    <m:sty m:val="p"/>
                                  </m:rPr>
                                  <a:rPr lang="en-US" sz="2400" i="1" dirty="0" smtClean="0">
                                    <a:latin typeface="Cambria Math" panose="02040503050406030204" pitchFamily="18" charset="0"/>
                                  </a:rPr>
                                  <m:t>log</m:t>
                                </m:r>
                                <m:r>
                                  <a:rPr lang="en-US" sz="2400" i="1" baseline="-25000" dirty="0" smtClean="0">
                                    <a:latin typeface="Cambria Math" panose="02040503050406030204" pitchFamily="18" charset="0"/>
                                  </a:rPr>
                                  <m:t>2</m:t>
                                </m:r>
                                <m:r>
                                  <a:rPr lang="en-US" sz="2400" i="1" dirty="0" smtClean="0">
                                    <a:latin typeface="Cambria Math" panose="02040503050406030204" pitchFamily="18" charset="0"/>
                                  </a:rPr>
                                  <m:t> </m:t>
                                </m:r>
                                <m:r>
                                  <a:rPr lang="en-US" sz="2400" i="1" dirty="0" smtClean="0">
                                    <a:latin typeface="Cambria Math" panose="02040503050406030204" pitchFamily="18" charset="0"/>
                                  </a:rPr>
                                  <m:t>𝑁</m:t>
                                </m:r>
                              </m:oMath>
                            </m:oMathPara>
                          </a14:m>
                          <a:endParaRPr lang="en-US" sz="2400" dirty="0"/>
                        </a:p>
                      </a:txBody>
                      <a:tcPr/>
                    </a:tc>
                    <a:tc>
                      <a:txBody>
                        <a:bodyPr/>
                        <a:lstStyle/>
                        <a:p>
                          <a:pPr algn="ctr"/>
                          <a:r>
                            <a:rPr lang="en-US" sz="2400" b="0" dirty="0"/>
                            <a:t>3.3</a:t>
                          </a:r>
                        </a:p>
                      </a:txBody>
                      <a:tcPr/>
                    </a:tc>
                    <a:tc>
                      <a:txBody>
                        <a:bodyPr/>
                        <a:lstStyle/>
                        <a:p>
                          <a:pPr algn="ctr"/>
                          <a:r>
                            <a:rPr lang="en-US" sz="2400" b="0" dirty="0"/>
                            <a:t>6.6</a:t>
                          </a:r>
                        </a:p>
                      </a:txBody>
                      <a:tcPr/>
                    </a:tc>
                    <a:tc>
                      <a:txBody>
                        <a:bodyPr/>
                        <a:lstStyle/>
                        <a:p>
                          <a:pPr algn="ctr"/>
                          <a:r>
                            <a:rPr lang="en-US" sz="2400" b="0" dirty="0"/>
                            <a:t>10.0</a:t>
                          </a:r>
                        </a:p>
                      </a:txBody>
                      <a:tcPr/>
                    </a:tc>
                    <a:tc>
                      <a:txBody>
                        <a:bodyPr/>
                        <a:lstStyle/>
                        <a:p>
                          <a:pPr algn="ctr"/>
                          <a:r>
                            <a:rPr lang="en-US" sz="2400" b="0" dirty="0"/>
                            <a:t>13.3</a:t>
                          </a:r>
                        </a:p>
                      </a:txBody>
                      <a:tcPr/>
                    </a:tc>
                    <a:tc>
                      <a:txBody>
                        <a:bodyPr/>
                        <a:lstStyle/>
                        <a:p>
                          <a:pPr algn="ctr"/>
                          <a:r>
                            <a:rPr lang="en-US" sz="2400" b="0" dirty="0"/>
                            <a:t>16.6</a:t>
                          </a:r>
                        </a:p>
                      </a:txBody>
                      <a:tcPr/>
                    </a:tc>
                    <a:tc>
                      <a:txBody>
                        <a:bodyPr/>
                        <a:lstStyle/>
                        <a:p>
                          <a:pPr algn="ctr"/>
                          <a:r>
                            <a:rPr lang="en-US" sz="2400" b="0" dirty="0"/>
                            <a:t>19.9</a:t>
                          </a:r>
                        </a:p>
                      </a:txBody>
                      <a:tcPr/>
                    </a:tc>
                    <a:tc>
                      <a:txBody>
                        <a:bodyPr/>
                        <a:lstStyle/>
                        <a:p>
                          <a:pPr algn="ctr"/>
                          <a:r>
                            <a:rPr lang="en-US" sz="2400" b="0" dirty="0"/>
                            <a:t>23.3</a:t>
                          </a:r>
                        </a:p>
                      </a:txBody>
                      <a:tcPr/>
                    </a:tc>
                    <a:tc>
                      <a:txBody>
                        <a:bodyPr/>
                        <a:lstStyle/>
                        <a:p>
                          <a:pPr algn="ctr"/>
                          <a:r>
                            <a:rPr lang="en-US" sz="2400" b="0" dirty="0"/>
                            <a:t>26.6</a:t>
                          </a:r>
                        </a:p>
                      </a:txBody>
                      <a:tcPr/>
                    </a:tc>
                    <a:extLst>
                      <a:ext uri="{0D108BD9-81ED-4DB2-BD59-A6C34878D82A}">
                        <a16:rowId xmlns:a16="http://schemas.microsoft.com/office/drawing/2014/main" val="3875661409"/>
                      </a:ext>
                    </a:extLst>
                  </a:tr>
                  <a:tr h="431986">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log</m:t>
                                            </m:r>
                                          </m:e>
                                          <m:sub>
                                            <m:r>
                                              <a:rPr lang="en-US" sz="2400" b="0" i="1" smtClean="0">
                                                <a:latin typeface="Cambria Math" panose="02040503050406030204" pitchFamily="18" charset="0"/>
                                              </a:rPr>
                                              <m:t>2</m:t>
                                            </m:r>
                                          </m:sub>
                                        </m:sSub>
                                      </m:fName>
                                      <m:e>
                                        <m:r>
                                          <a:rPr lang="en-US" sz="2400" b="0" i="1" smtClean="0">
                                            <a:latin typeface="Cambria Math" panose="02040503050406030204" pitchFamily="18" charset="0"/>
                                          </a:rPr>
                                          <m:t>𝑁</m:t>
                                        </m:r>
                                      </m:e>
                                    </m:func>
                                  </m:e>
                                </m:d>
                                <m:r>
                                  <a:rPr lang="en-US" sz="2400" b="0" i="1" smtClean="0">
                                    <a:latin typeface="Cambria Math" panose="02040503050406030204" pitchFamily="18" charset="0"/>
                                  </a:rPr>
                                  <m:t>+1 </m:t>
                                </m:r>
                              </m:oMath>
                            </m:oMathPara>
                          </a14:m>
                          <a:endParaRPr lang="en-US" sz="2400" dirty="0"/>
                        </a:p>
                      </a:txBody>
                      <a:tcPr/>
                    </a:tc>
                    <a:tc>
                      <a:txBody>
                        <a:bodyPr/>
                        <a:lstStyle/>
                        <a:p>
                          <a:pPr algn="ctr"/>
                          <a:r>
                            <a:rPr lang="en-US" sz="2400" b="0" dirty="0"/>
                            <a:t>4</a:t>
                          </a:r>
                        </a:p>
                      </a:txBody>
                      <a:tcPr/>
                    </a:tc>
                    <a:tc>
                      <a:txBody>
                        <a:bodyPr/>
                        <a:lstStyle/>
                        <a:p>
                          <a:pPr algn="ctr"/>
                          <a:r>
                            <a:rPr lang="en-US" sz="2400" b="0" dirty="0"/>
                            <a:t>7</a:t>
                          </a:r>
                        </a:p>
                      </a:txBody>
                      <a:tcPr/>
                    </a:tc>
                    <a:tc>
                      <a:txBody>
                        <a:bodyPr/>
                        <a:lstStyle/>
                        <a:p>
                          <a:pPr algn="ctr"/>
                          <a:r>
                            <a:rPr lang="en-US" sz="2400" b="0" dirty="0"/>
                            <a:t>11</a:t>
                          </a:r>
                        </a:p>
                      </a:txBody>
                      <a:tcPr/>
                    </a:tc>
                    <a:tc>
                      <a:txBody>
                        <a:bodyPr/>
                        <a:lstStyle/>
                        <a:p>
                          <a:pPr algn="ctr"/>
                          <a:r>
                            <a:rPr lang="en-US" sz="2400" b="0" dirty="0"/>
                            <a:t>14</a:t>
                          </a:r>
                        </a:p>
                      </a:txBody>
                      <a:tcPr/>
                    </a:tc>
                    <a:tc>
                      <a:txBody>
                        <a:bodyPr/>
                        <a:lstStyle/>
                        <a:p>
                          <a:pPr algn="ctr"/>
                          <a:r>
                            <a:rPr lang="en-US" sz="2400" b="0" dirty="0"/>
                            <a:t>17</a:t>
                          </a:r>
                        </a:p>
                      </a:txBody>
                      <a:tcPr/>
                    </a:tc>
                    <a:tc>
                      <a:txBody>
                        <a:bodyPr/>
                        <a:lstStyle/>
                        <a:p>
                          <a:pPr algn="ctr"/>
                          <a:r>
                            <a:rPr lang="en-US" sz="2400" b="0" dirty="0"/>
                            <a:t>20</a:t>
                          </a:r>
                        </a:p>
                      </a:txBody>
                      <a:tcPr/>
                    </a:tc>
                    <a:tc>
                      <a:txBody>
                        <a:bodyPr/>
                        <a:lstStyle/>
                        <a:p>
                          <a:pPr algn="ctr"/>
                          <a:r>
                            <a:rPr lang="en-US" sz="2400" b="0" dirty="0"/>
                            <a:t>24</a:t>
                          </a:r>
                        </a:p>
                      </a:txBody>
                      <a:tcPr/>
                    </a:tc>
                    <a:tc>
                      <a:txBody>
                        <a:bodyPr/>
                        <a:lstStyle/>
                        <a:p>
                          <a:pPr algn="ctr"/>
                          <a:r>
                            <a:rPr lang="en-US" sz="2400" b="0" dirty="0"/>
                            <a:t>27</a:t>
                          </a:r>
                        </a:p>
                      </a:txBody>
                      <a:tcPr/>
                    </a:tc>
                    <a:extLst>
                      <a:ext uri="{0D108BD9-81ED-4DB2-BD59-A6C34878D82A}">
                        <a16:rowId xmlns:a16="http://schemas.microsoft.com/office/drawing/2014/main" val="3791960566"/>
                      </a:ext>
                    </a:extLst>
                  </a:tr>
                </a:tbl>
              </a:graphicData>
            </a:graphic>
          </p:graphicFrame>
        </mc:Choice>
        <mc:Fallback xmlns="">
          <p:graphicFrame>
            <p:nvGraphicFramePr>
              <p:cNvPr id="4" name="Table 3">
                <a:extLst>
                  <a:ext uri="{FF2B5EF4-FFF2-40B4-BE49-F238E27FC236}">
                    <a16:creationId xmlns:a16="http://schemas.microsoft.com/office/drawing/2014/main" id="{31646951-5819-4089-975D-44873442B68D}"/>
                  </a:ext>
                </a:extLst>
              </p:cNvPr>
              <p:cNvGraphicFramePr>
                <a:graphicFrameLocks noGrp="1"/>
              </p:cNvGraphicFramePr>
              <p:nvPr>
                <p:extLst>
                  <p:ext uri="{D42A27DB-BD31-4B8C-83A1-F6EECF244321}">
                    <p14:modId xmlns:p14="http://schemas.microsoft.com/office/powerpoint/2010/main" val="868566462"/>
                  </p:ext>
                </p:extLst>
              </p:nvPr>
            </p:nvGraphicFramePr>
            <p:xfrm>
              <a:off x="995519" y="3429000"/>
              <a:ext cx="9967755" cy="1371600"/>
            </p:xfrm>
            <a:graphic>
              <a:graphicData uri="http://schemas.openxmlformats.org/drawingml/2006/table">
                <a:tbl>
                  <a:tblPr firstRow="1" bandRow="1">
                    <a:tableStyleId>{5C22544A-7EE6-4342-B048-85BDC9FD1C3A}</a:tableStyleId>
                  </a:tblPr>
                  <a:tblGrid>
                    <a:gridCol w="1913259">
                      <a:extLst>
                        <a:ext uri="{9D8B030D-6E8A-4147-A177-3AD203B41FA5}">
                          <a16:colId xmlns:a16="http://schemas.microsoft.com/office/drawing/2014/main" val="3030639343"/>
                        </a:ext>
                      </a:extLst>
                    </a:gridCol>
                    <a:gridCol w="923652">
                      <a:extLst>
                        <a:ext uri="{9D8B030D-6E8A-4147-A177-3AD203B41FA5}">
                          <a16:colId xmlns:a16="http://schemas.microsoft.com/office/drawing/2014/main" val="2463947112"/>
                        </a:ext>
                      </a:extLst>
                    </a:gridCol>
                    <a:gridCol w="989532">
                      <a:extLst>
                        <a:ext uri="{9D8B030D-6E8A-4147-A177-3AD203B41FA5}">
                          <a16:colId xmlns:a16="http://schemas.microsoft.com/office/drawing/2014/main" val="3007465963"/>
                        </a:ext>
                      </a:extLst>
                    </a:gridCol>
                    <a:gridCol w="1023552">
                      <a:extLst>
                        <a:ext uri="{9D8B030D-6E8A-4147-A177-3AD203B41FA5}">
                          <a16:colId xmlns:a16="http://schemas.microsoft.com/office/drawing/2014/main" val="410163719"/>
                        </a:ext>
                      </a:extLst>
                    </a:gridCol>
                    <a:gridCol w="1023552">
                      <a:extLst>
                        <a:ext uri="{9D8B030D-6E8A-4147-A177-3AD203B41FA5}">
                          <a16:colId xmlns:a16="http://schemas.microsoft.com/office/drawing/2014/main" val="2181644566"/>
                        </a:ext>
                      </a:extLst>
                    </a:gridCol>
                    <a:gridCol w="1023552">
                      <a:extLst>
                        <a:ext uri="{9D8B030D-6E8A-4147-A177-3AD203B41FA5}">
                          <a16:colId xmlns:a16="http://schemas.microsoft.com/office/drawing/2014/main" val="3653002342"/>
                        </a:ext>
                      </a:extLst>
                    </a:gridCol>
                    <a:gridCol w="1023552">
                      <a:extLst>
                        <a:ext uri="{9D8B030D-6E8A-4147-A177-3AD203B41FA5}">
                          <a16:colId xmlns:a16="http://schemas.microsoft.com/office/drawing/2014/main" val="2026589985"/>
                        </a:ext>
                      </a:extLst>
                    </a:gridCol>
                    <a:gridCol w="1023552">
                      <a:extLst>
                        <a:ext uri="{9D8B030D-6E8A-4147-A177-3AD203B41FA5}">
                          <a16:colId xmlns:a16="http://schemas.microsoft.com/office/drawing/2014/main" val="4193798014"/>
                        </a:ext>
                      </a:extLst>
                    </a:gridCol>
                    <a:gridCol w="1023552">
                      <a:extLst>
                        <a:ext uri="{9D8B030D-6E8A-4147-A177-3AD203B41FA5}">
                          <a16:colId xmlns:a16="http://schemas.microsoft.com/office/drawing/2014/main" val="2116021646"/>
                        </a:ext>
                      </a:extLst>
                    </a:gridCol>
                  </a:tblGrid>
                  <a:tr h="457200">
                    <a:tc>
                      <a:txBody>
                        <a:bodyPr/>
                        <a:lstStyle/>
                        <a:p>
                          <a:endParaRPr lang="en-US"/>
                        </a:p>
                      </a:txBody>
                      <a:tcPr>
                        <a:blipFill>
                          <a:blip r:embed="rId2"/>
                          <a:stretch>
                            <a:fillRect l="-318" t="-9333" r="-422293" b="-230667"/>
                          </a:stretch>
                        </a:blipFill>
                      </a:tcPr>
                    </a:tc>
                    <a:tc>
                      <a:txBody>
                        <a:bodyPr/>
                        <a:lstStyle/>
                        <a:p>
                          <a:pPr algn="ctr"/>
                          <a:r>
                            <a:rPr lang="en-US" sz="2400" b="0" dirty="0"/>
                            <a:t>10</a:t>
                          </a:r>
                        </a:p>
                      </a:txBody>
                      <a:tcPr/>
                    </a:tc>
                    <a:tc>
                      <a:txBody>
                        <a:bodyPr/>
                        <a:lstStyle/>
                        <a:p>
                          <a:pPr algn="ctr"/>
                          <a:r>
                            <a:rPr lang="en-US" sz="2400" b="0" dirty="0"/>
                            <a:t>100</a:t>
                          </a:r>
                        </a:p>
                      </a:txBody>
                      <a:tcPr/>
                    </a:tc>
                    <a:tc>
                      <a:txBody>
                        <a:bodyPr/>
                        <a:lstStyle/>
                        <a:p>
                          <a:pPr algn="ctr"/>
                          <a:r>
                            <a:rPr lang="en-US" sz="2400" b="0" dirty="0"/>
                            <a:t>1000</a:t>
                          </a:r>
                        </a:p>
                      </a:txBody>
                      <a:tcPr/>
                    </a:tc>
                    <a:tc>
                      <a:txBody>
                        <a:bodyPr/>
                        <a:lstStyle/>
                        <a:p>
                          <a:pPr algn="ctr"/>
                          <a:r>
                            <a:rPr lang="en-US" sz="2400" b="0" dirty="0"/>
                            <a:t>10K</a:t>
                          </a:r>
                        </a:p>
                      </a:txBody>
                      <a:tcPr/>
                    </a:tc>
                    <a:tc>
                      <a:txBody>
                        <a:bodyPr/>
                        <a:lstStyle/>
                        <a:p>
                          <a:pPr algn="ctr"/>
                          <a:r>
                            <a:rPr lang="en-US" sz="2400" b="0" dirty="0"/>
                            <a:t>100K</a:t>
                          </a:r>
                        </a:p>
                      </a:txBody>
                      <a:tcPr/>
                    </a:tc>
                    <a:tc>
                      <a:txBody>
                        <a:bodyPr/>
                        <a:lstStyle/>
                        <a:p>
                          <a:pPr algn="ctr"/>
                          <a:r>
                            <a:rPr lang="en-US" sz="2400" b="0" dirty="0"/>
                            <a:t>1M</a:t>
                          </a:r>
                        </a:p>
                      </a:txBody>
                      <a:tcPr/>
                    </a:tc>
                    <a:tc>
                      <a:txBody>
                        <a:bodyPr/>
                        <a:lstStyle/>
                        <a:p>
                          <a:pPr algn="ctr"/>
                          <a:r>
                            <a:rPr lang="en-US" sz="2400" b="0" dirty="0"/>
                            <a:t>10M</a:t>
                          </a:r>
                        </a:p>
                      </a:txBody>
                      <a:tcPr/>
                    </a:tc>
                    <a:tc>
                      <a:txBody>
                        <a:bodyPr/>
                        <a:lstStyle/>
                        <a:p>
                          <a:pPr algn="ctr"/>
                          <a:r>
                            <a:rPr lang="en-US" sz="2400" b="0" dirty="0"/>
                            <a:t>100M</a:t>
                          </a:r>
                        </a:p>
                      </a:txBody>
                      <a:tcPr/>
                    </a:tc>
                    <a:extLst>
                      <a:ext uri="{0D108BD9-81ED-4DB2-BD59-A6C34878D82A}">
                        <a16:rowId xmlns:a16="http://schemas.microsoft.com/office/drawing/2014/main" val="1937464409"/>
                      </a:ext>
                    </a:extLst>
                  </a:tr>
                  <a:tr h="457200">
                    <a:tc>
                      <a:txBody>
                        <a:bodyPr/>
                        <a:lstStyle/>
                        <a:p>
                          <a:endParaRPr lang="en-US"/>
                        </a:p>
                      </a:txBody>
                      <a:tcPr>
                        <a:blipFill>
                          <a:blip r:embed="rId2"/>
                          <a:stretch>
                            <a:fillRect l="-318" t="-107895" r="-422293" b="-127632"/>
                          </a:stretch>
                        </a:blipFill>
                      </a:tcPr>
                    </a:tc>
                    <a:tc>
                      <a:txBody>
                        <a:bodyPr/>
                        <a:lstStyle/>
                        <a:p>
                          <a:pPr algn="ctr"/>
                          <a:r>
                            <a:rPr lang="en-US" sz="2400" b="0" dirty="0"/>
                            <a:t>3.3</a:t>
                          </a:r>
                        </a:p>
                      </a:txBody>
                      <a:tcPr/>
                    </a:tc>
                    <a:tc>
                      <a:txBody>
                        <a:bodyPr/>
                        <a:lstStyle/>
                        <a:p>
                          <a:pPr algn="ctr"/>
                          <a:r>
                            <a:rPr lang="en-US" sz="2400" b="0" dirty="0"/>
                            <a:t>6.6</a:t>
                          </a:r>
                        </a:p>
                      </a:txBody>
                      <a:tcPr/>
                    </a:tc>
                    <a:tc>
                      <a:txBody>
                        <a:bodyPr/>
                        <a:lstStyle/>
                        <a:p>
                          <a:pPr algn="ctr"/>
                          <a:r>
                            <a:rPr lang="en-US" sz="2400" b="0" dirty="0"/>
                            <a:t>10.0</a:t>
                          </a:r>
                        </a:p>
                      </a:txBody>
                      <a:tcPr/>
                    </a:tc>
                    <a:tc>
                      <a:txBody>
                        <a:bodyPr/>
                        <a:lstStyle/>
                        <a:p>
                          <a:pPr algn="ctr"/>
                          <a:r>
                            <a:rPr lang="en-US" sz="2400" b="0" dirty="0"/>
                            <a:t>13.3</a:t>
                          </a:r>
                        </a:p>
                      </a:txBody>
                      <a:tcPr/>
                    </a:tc>
                    <a:tc>
                      <a:txBody>
                        <a:bodyPr/>
                        <a:lstStyle/>
                        <a:p>
                          <a:pPr algn="ctr"/>
                          <a:r>
                            <a:rPr lang="en-US" sz="2400" b="0" dirty="0"/>
                            <a:t>16.6</a:t>
                          </a:r>
                        </a:p>
                      </a:txBody>
                      <a:tcPr/>
                    </a:tc>
                    <a:tc>
                      <a:txBody>
                        <a:bodyPr/>
                        <a:lstStyle/>
                        <a:p>
                          <a:pPr algn="ctr"/>
                          <a:r>
                            <a:rPr lang="en-US" sz="2400" b="0" dirty="0"/>
                            <a:t>19.9</a:t>
                          </a:r>
                        </a:p>
                      </a:txBody>
                      <a:tcPr/>
                    </a:tc>
                    <a:tc>
                      <a:txBody>
                        <a:bodyPr/>
                        <a:lstStyle/>
                        <a:p>
                          <a:pPr algn="ctr"/>
                          <a:r>
                            <a:rPr lang="en-US" sz="2400" b="0" dirty="0"/>
                            <a:t>23.3</a:t>
                          </a:r>
                        </a:p>
                      </a:txBody>
                      <a:tcPr/>
                    </a:tc>
                    <a:tc>
                      <a:txBody>
                        <a:bodyPr/>
                        <a:lstStyle/>
                        <a:p>
                          <a:pPr algn="ctr"/>
                          <a:r>
                            <a:rPr lang="en-US" sz="2400" b="0" dirty="0"/>
                            <a:t>26.6</a:t>
                          </a:r>
                        </a:p>
                      </a:txBody>
                      <a:tcPr/>
                    </a:tc>
                    <a:extLst>
                      <a:ext uri="{0D108BD9-81ED-4DB2-BD59-A6C34878D82A}">
                        <a16:rowId xmlns:a16="http://schemas.microsoft.com/office/drawing/2014/main" val="3875661409"/>
                      </a:ext>
                    </a:extLst>
                  </a:tr>
                  <a:tr h="457200">
                    <a:tc>
                      <a:txBody>
                        <a:bodyPr/>
                        <a:lstStyle/>
                        <a:p>
                          <a:endParaRPr lang="en-US"/>
                        </a:p>
                      </a:txBody>
                      <a:tcPr>
                        <a:blipFill>
                          <a:blip r:embed="rId2"/>
                          <a:stretch>
                            <a:fillRect l="-318" t="-210667" r="-422293" b="-29333"/>
                          </a:stretch>
                        </a:blipFill>
                      </a:tcPr>
                    </a:tc>
                    <a:tc>
                      <a:txBody>
                        <a:bodyPr/>
                        <a:lstStyle/>
                        <a:p>
                          <a:pPr algn="ctr"/>
                          <a:r>
                            <a:rPr lang="en-US" sz="2400" b="0" dirty="0"/>
                            <a:t>4</a:t>
                          </a:r>
                        </a:p>
                      </a:txBody>
                      <a:tcPr/>
                    </a:tc>
                    <a:tc>
                      <a:txBody>
                        <a:bodyPr/>
                        <a:lstStyle/>
                        <a:p>
                          <a:pPr algn="ctr"/>
                          <a:r>
                            <a:rPr lang="en-US" sz="2400" b="0" dirty="0"/>
                            <a:t>7</a:t>
                          </a:r>
                        </a:p>
                      </a:txBody>
                      <a:tcPr/>
                    </a:tc>
                    <a:tc>
                      <a:txBody>
                        <a:bodyPr/>
                        <a:lstStyle/>
                        <a:p>
                          <a:pPr algn="ctr"/>
                          <a:r>
                            <a:rPr lang="en-US" sz="2400" b="0" dirty="0"/>
                            <a:t>11</a:t>
                          </a:r>
                        </a:p>
                      </a:txBody>
                      <a:tcPr/>
                    </a:tc>
                    <a:tc>
                      <a:txBody>
                        <a:bodyPr/>
                        <a:lstStyle/>
                        <a:p>
                          <a:pPr algn="ctr"/>
                          <a:r>
                            <a:rPr lang="en-US" sz="2400" b="0" dirty="0"/>
                            <a:t>14</a:t>
                          </a:r>
                        </a:p>
                      </a:txBody>
                      <a:tcPr/>
                    </a:tc>
                    <a:tc>
                      <a:txBody>
                        <a:bodyPr/>
                        <a:lstStyle/>
                        <a:p>
                          <a:pPr algn="ctr"/>
                          <a:r>
                            <a:rPr lang="en-US" sz="2400" b="0" dirty="0"/>
                            <a:t>17</a:t>
                          </a:r>
                        </a:p>
                      </a:txBody>
                      <a:tcPr/>
                    </a:tc>
                    <a:tc>
                      <a:txBody>
                        <a:bodyPr/>
                        <a:lstStyle/>
                        <a:p>
                          <a:pPr algn="ctr"/>
                          <a:r>
                            <a:rPr lang="en-US" sz="2400" b="0" dirty="0"/>
                            <a:t>20</a:t>
                          </a:r>
                        </a:p>
                      </a:txBody>
                      <a:tcPr/>
                    </a:tc>
                    <a:tc>
                      <a:txBody>
                        <a:bodyPr/>
                        <a:lstStyle/>
                        <a:p>
                          <a:pPr algn="ctr"/>
                          <a:r>
                            <a:rPr lang="en-US" sz="2400" b="0" dirty="0"/>
                            <a:t>24</a:t>
                          </a:r>
                        </a:p>
                      </a:txBody>
                      <a:tcPr/>
                    </a:tc>
                    <a:tc>
                      <a:txBody>
                        <a:bodyPr/>
                        <a:lstStyle/>
                        <a:p>
                          <a:pPr algn="ctr"/>
                          <a:r>
                            <a:rPr lang="en-US" sz="2400" b="0" dirty="0"/>
                            <a:t>27</a:t>
                          </a:r>
                        </a:p>
                      </a:txBody>
                      <a:tcPr/>
                    </a:tc>
                    <a:extLst>
                      <a:ext uri="{0D108BD9-81ED-4DB2-BD59-A6C34878D82A}">
                        <a16:rowId xmlns:a16="http://schemas.microsoft.com/office/drawing/2014/main" val="3791960566"/>
                      </a:ext>
                    </a:extLst>
                  </a:tr>
                </a:tbl>
              </a:graphicData>
            </a:graphic>
          </p:graphicFrame>
        </mc:Fallback>
      </mc:AlternateContent>
    </p:spTree>
    <p:extLst>
      <p:ext uri="{BB962C8B-B14F-4D97-AF65-F5344CB8AC3E}">
        <p14:creationId xmlns:p14="http://schemas.microsoft.com/office/powerpoint/2010/main" val="146849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C6276-75F4-41D2-8AD0-0F429AB19785}"/>
              </a:ext>
            </a:extLst>
          </p:cNvPr>
          <p:cNvSpPr>
            <a:spLocks noGrp="1"/>
          </p:cNvSpPr>
          <p:nvPr>
            <p:ph type="ctrTitle"/>
          </p:nvPr>
        </p:nvSpPr>
        <p:spPr/>
        <p:txBody>
          <a:bodyPr/>
          <a:lstStyle/>
          <a:p>
            <a:r>
              <a:rPr lang="en-US" dirty="0"/>
              <a:t>Classic CS problem:</a:t>
            </a:r>
            <a:br>
              <a:rPr lang="en-US" dirty="0"/>
            </a:br>
            <a:r>
              <a:rPr lang="en-US" dirty="0"/>
              <a:t>Searching</a:t>
            </a:r>
          </a:p>
        </p:txBody>
      </p:sp>
      <p:sp>
        <p:nvSpPr>
          <p:cNvPr id="3" name="Subtitle 2">
            <a:extLst>
              <a:ext uri="{FF2B5EF4-FFF2-40B4-BE49-F238E27FC236}">
                <a16:creationId xmlns:a16="http://schemas.microsoft.com/office/drawing/2014/main" id="{58ECF327-7E53-48E1-B902-C2FE8BB7D11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14004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sp>
        <p:nvSpPr>
          <p:cNvPr id="3" name="Content Placeholder 2"/>
          <p:cNvSpPr>
            <a:spLocks noGrp="1"/>
          </p:cNvSpPr>
          <p:nvPr>
            <p:ph idx="1"/>
            <p:custDataLst>
              <p:tags r:id="rId2"/>
            </p:custDataLst>
          </p:nvPr>
        </p:nvSpPr>
        <p:spPr>
          <a:xfrm>
            <a:off x="2362200" y="2323652"/>
            <a:ext cx="7338508" cy="4350198"/>
          </a:xfrm>
        </p:spPr>
        <p:txBody>
          <a:bodyPr>
            <a:normAutofit/>
          </a:bodyPr>
          <a:lstStyle/>
          <a:p>
            <a:r>
              <a:rPr lang="en-US" dirty="0"/>
              <a:t>How long does it take us to find a number we are looking for?</a:t>
            </a:r>
          </a:p>
          <a:p>
            <a:endParaRPr lang="en-US" dirty="0"/>
          </a:p>
          <a:p>
            <a:endParaRPr lang="en-US" dirty="0"/>
          </a:p>
          <a:p>
            <a:endParaRPr lang="en-US" dirty="0"/>
          </a:p>
        </p:txBody>
      </p:sp>
      <p:graphicFrame>
        <p:nvGraphicFramePr>
          <p:cNvPr id="4" name="Table 3"/>
          <p:cNvGraphicFramePr>
            <a:graphicFrameLocks noGrp="1"/>
          </p:cNvGraphicFramePr>
          <p:nvPr>
            <p:custDataLst>
              <p:tags r:id="rId3"/>
            </p:custDataLst>
          </p:nvPr>
        </p:nvGraphicFramePr>
        <p:xfrm>
          <a:off x="2819400" y="33528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F62AC639-9C70-45E7-888C-74152F681745}"/>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294837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sp>
        <p:nvSpPr>
          <p:cNvPr id="3" name="Content Placeholder 2"/>
          <p:cNvSpPr>
            <a:spLocks noGrp="1"/>
          </p:cNvSpPr>
          <p:nvPr>
            <p:ph idx="1"/>
            <p:custDataLst>
              <p:tags r:id="rId2"/>
            </p:custDataLst>
          </p:nvPr>
        </p:nvSpPr>
        <p:spPr>
          <a:xfrm>
            <a:off x="2362200" y="2323652"/>
            <a:ext cx="7338508" cy="4400998"/>
          </a:xfrm>
        </p:spPr>
        <p:txBody>
          <a:bodyPr>
            <a:normAutofit/>
          </a:bodyPr>
          <a:lstStyle/>
          <a:p>
            <a:r>
              <a:rPr lang="en-US" dirty="0"/>
              <a:t>How long does it take us to find a number we are looking for?</a:t>
            </a:r>
          </a:p>
          <a:p>
            <a:endParaRPr lang="en-US" dirty="0"/>
          </a:p>
          <a:p>
            <a:endParaRPr lang="en-US" dirty="0"/>
          </a:p>
          <a:p>
            <a:endParaRPr lang="en-US" dirty="0"/>
          </a:p>
          <a:p>
            <a:r>
              <a:rPr lang="en-US" dirty="0"/>
              <a:t>If you start at the front and proceed forward, each item you examine rules out 1 item</a:t>
            </a:r>
          </a:p>
        </p:txBody>
      </p:sp>
      <p:graphicFrame>
        <p:nvGraphicFramePr>
          <p:cNvPr id="4" name="Table 3"/>
          <p:cNvGraphicFramePr>
            <a:graphicFrameLocks noGrp="1"/>
          </p:cNvGraphicFramePr>
          <p:nvPr>
            <p:custDataLst>
              <p:tags r:id="rId3"/>
            </p:custDataLst>
          </p:nvPr>
        </p:nvGraphicFramePr>
        <p:xfrm>
          <a:off x="2819400" y="33528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FBAB1F53-9FEB-4A6B-859C-181079C53AE8}"/>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3840408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graphicFrame>
        <p:nvGraphicFramePr>
          <p:cNvPr id="5" name="Table 4">
            <a:extLst>
              <a:ext uri="{FF2B5EF4-FFF2-40B4-BE49-F238E27FC236}">
                <a16:creationId xmlns:a16="http://schemas.microsoft.com/office/drawing/2014/main" id="{D799E636-3B47-46DD-80AD-568E1DC9CDAB}"/>
              </a:ext>
            </a:extLst>
          </p:cNvPr>
          <p:cNvGraphicFramePr>
            <a:graphicFrameLocks noGrp="1"/>
          </p:cNvGraphicFramePr>
          <p:nvPr>
            <p:custDataLst>
              <p:tags r:id="rId2"/>
            </p:custDataLst>
          </p:nvPr>
        </p:nvGraphicFramePr>
        <p:xfrm>
          <a:off x="2813050" y="1659442"/>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solidFill>
                      <a:schemeClr val="accent3"/>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solidFill>
                      <a:schemeClr val="accent3">
                        <a:lumMod val="20000"/>
                        <a:lumOff val="80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B72DFA3D-4B6A-4875-9E22-A973D879F849}"/>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
        <p:nvSpPr>
          <p:cNvPr id="8" name="Content Placeholder 2">
            <a:extLst>
              <a:ext uri="{FF2B5EF4-FFF2-40B4-BE49-F238E27FC236}">
                <a16:creationId xmlns:a16="http://schemas.microsoft.com/office/drawing/2014/main" id="{64B74626-3D21-4D48-BF7C-547ABEF74C62}"/>
              </a:ext>
            </a:extLst>
          </p:cNvPr>
          <p:cNvSpPr txBox="1">
            <a:spLocks/>
          </p:cNvSpPr>
          <p:nvPr>
            <p:custDataLst>
              <p:tags r:id="rId3"/>
            </p:custDataLst>
          </p:nvPr>
        </p:nvSpPr>
        <p:spPr>
          <a:xfrm>
            <a:off x="2301688" y="2736028"/>
            <a:ext cx="7338508" cy="386080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Wingdings" panose="05000000000000000000" pitchFamily="2" charset="2"/>
              <a:buNone/>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If instead we </a:t>
            </a:r>
            <a:r>
              <a:rPr lang="en-US" b="1"/>
              <a:t>jump right to the middle</a:t>
            </a:r>
            <a:r>
              <a:rPr lang="en-US"/>
              <a:t>, one of three things can happen:</a:t>
            </a:r>
          </a:p>
          <a:p>
            <a:pPr marL="880110" lvl="1" indent="-514350">
              <a:buFont typeface="+mj-lt"/>
              <a:buAutoNum type="alphaUcPeriod"/>
            </a:pPr>
            <a:r>
              <a:rPr lang="en-US"/>
              <a:t>The middle one happens to be the number we were looking for, yay!</a:t>
            </a:r>
          </a:p>
          <a:p>
            <a:pPr marL="880110" lvl="1" indent="-514350">
              <a:buFont typeface="+mj-lt"/>
              <a:buAutoNum type="alphaUcPeriod"/>
            </a:pPr>
            <a:r>
              <a:rPr lang="en-US"/>
              <a:t>We realize we went too far</a:t>
            </a:r>
          </a:p>
          <a:p>
            <a:pPr marL="880110" lvl="1" indent="-514350">
              <a:buFont typeface="+mj-lt"/>
              <a:buAutoNum type="alphaUcPeriod"/>
            </a:pPr>
            <a:r>
              <a:rPr lang="en-US"/>
              <a:t>We realize we didn’t go far enough</a:t>
            </a:r>
          </a:p>
          <a:p>
            <a:pPr marL="365760" lvl="1" indent="0">
              <a:buFont typeface="Wingdings" panose="05000000000000000000" pitchFamily="2" charset="2"/>
              <a:buNone/>
            </a:pPr>
            <a:r>
              <a:rPr lang="en-US" b="1"/>
              <a:t>Ruling out HALF the options in one step is </a:t>
            </a:r>
            <a:r>
              <a:rPr lang="en-US" b="1" u="sng"/>
              <a:t>so much </a:t>
            </a:r>
            <a:r>
              <a:rPr lang="en-US" b="1"/>
              <a:t>faster than only ruling out one!</a:t>
            </a:r>
            <a:endParaRPr lang="en-US" b="1" dirty="0"/>
          </a:p>
        </p:txBody>
      </p:sp>
    </p:spTree>
    <p:extLst>
      <p:ext uri="{BB962C8B-B14F-4D97-AF65-F5344CB8AC3E}">
        <p14:creationId xmlns:p14="http://schemas.microsoft.com/office/powerpoint/2010/main" val="3255127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normAutofit/>
          </a:bodyPr>
          <a:lstStyle/>
          <a:p>
            <a:r>
              <a:rPr lang="en-US" dirty="0"/>
              <a:t>Imagine storing </a:t>
            </a:r>
            <a:r>
              <a:rPr lang="en-US" b="1" u="sng" dirty="0"/>
              <a:t>sorted</a:t>
            </a:r>
            <a:r>
              <a:rPr lang="en-US" dirty="0"/>
              <a:t> data in an array</a:t>
            </a:r>
          </a:p>
        </p:txBody>
      </p:sp>
      <p:sp>
        <p:nvSpPr>
          <p:cNvPr id="3" name="Content Placeholder 2"/>
          <p:cNvSpPr>
            <a:spLocks noGrp="1"/>
          </p:cNvSpPr>
          <p:nvPr>
            <p:ph idx="1"/>
            <p:custDataLst>
              <p:tags r:id="rId2"/>
            </p:custDataLst>
          </p:nvPr>
        </p:nvSpPr>
        <p:spPr>
          <a:xfrm>
            <a:off x="2301688" y="2736028"/>
            <a:ext cx="7338508" cy="3860800"/>
          </a:xfrm>
        </p:spPr>
        <p:txBody>
          <a:bodyPr>
            <a:normAutofit fontScale="92500"/>
          </a:bodyPr>
          <a:lstStyle/>
          <a:p>
            <a:r>
              <a:rPr lang="en-US" dirty="0"/>
              <a:t>If instead we </a:t>
            </a:r>
            <a:r>
              <a:rPr lang="en-US" b="1" dirty="0"/>
              <a:t>jump right to the middle</a:t>
            </a:r>
            <a:r>
              <a:rPr lang="en-US" dirty="0"/>
              <a:t>, one of three things can happen:</a:t>
            </a:r>
          </a:p>
          <a:p>
            <a:pPr marL="880110" lvl="1" indent="-514350">
              <a:buFont typeface="+mj-lt"/>
              <a:buAutoNum type="alphaUcPeriod"/>
            </a:pPr>
            <a:r>
              <a:rPr lang="en-US" dirty="0">
                <a:solidFill>
                  <a:schemeClr val="tx1"/>
                </a:solidFill>
              </a:rPr>
              <a:t>The middle one happens to be the number we were looking for, yay!</a:t>
            </a:r>
          </a:p>
          <a:p>
            <a:pPr marL="880110" lvl="1" indent="-514350">
              <a:buFont typeface="+mj-lt"/>
              <a:buAutoNum type="alphaUcPeriod"/>
            </a:pPr>
            <a:r>
              <a:rPr lang="en-US" dirty="0"/>
              <a:t>We realize we went too far</a:t>
            </a:r>
          </a:p>
          <a:p>
            <a:pPr marL="880110" lvl="1" indent="-514350">
              <a:buFont typeface="+mj-lt"/>
              <a:buAutoNum type="alphaUcPeriod"/>
            </a:pPr>
            <a:r>
              <a:rPr lang="en-US" dirty="0"/>
              <a:t>We realize we didn’t go far enough</a:t>
            </a:r>
          </a:p>
          <a:p>
            <a:pPr marL="365760" lvl="1" indent="0">
              <a:buNone/>
            </a:pPr>
            <a:r>
              <a:rPr lang="en-US" b="1" dirty="0"/>
              <a:t>Ruling out HALF the options in one step is </a:t>
            </a:r>
            <a:r>
              <a:rPr lang="en-US" b="1" u="sng" dirty="0"/>
              <a:t>so much </a:t>
            </a:r>
            <a:r>
              <a:rPr lang="en-US" b="1" dirty="0"/>
              <a:t>faster than only ruling out one!</a:t>
            </a:r>
          </a:p>
        </p:txBody>
      </p:sp>
      <p:graphicFrame>
        <p:nvGraphicFramePr>
          <p:cNvPr id="5" name="Table 4">
            <a:extLst>
              <a:ext uri="{FF2B5EF4-FFF2-40B4-BE49-F238E27FC236}">
                <a16:creationId xmlns:a16="http://schemas.microsoft.com/office/drawing/2014/main" id="{069DE63D-029E-47DE-81E5-5BB54264583E}"/>
              </a:ext>
            </a:extLst>
          </p:cNvPr>
          <p:cNvGraphicFramePr>
            <a:graphicFrameLocks noGrp="1"/>
          </p:cNvGraphicFramePr>
          <p:nvPr>
            <p:custDataLst>
              <p:tags r:id="rId3"/>
            </p:custDataLst>
          </p:nvPr>
        </p:nvGraphicFramePr>
        <p:xfrm>
          <a:off x="2813050" y="1659442"/>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solidFill>
                      <a:schemeClr val="accent3"/>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7</a:t>
                      </a:r>
                    </a:p>
                  </a:txBody>
                  <a:tcPr/>
                </a:tc>
                <a:tc>
                  <a:txBody>
                    <a:bodyPr/>
                    <a:lstStyle/>
                    <a:p>
                      <a:r>
                        <a:rPr lang="en-US" dirty="0"/>
                        <a:t>8</a:t>
                      </a:r>
                    </a:p>
                  </a:txBody>
                  <a:tcPr/>
                </a:tc>
                <a:tc>
                  <a:txBody>
                    <a:bodyPr/>
                    <a:lstStyle/>
                    <a:p>
                      <a:r>
                        <a:rPr lang="en-US" dirty="0"/>
                        <a:t>13</a:t>
                      </a:r>
                    </a:p>
                  </a:txBody>
                  <a:tcPr/>
                </a:tc>
                <a:tc>
                  <a:txBody>
                    <a:bodyPr/>
                    <a:lstStyle/>
                    <a:p>
                      <a:r>
                        <a:rPr lang="en-US" dirty="0"/>
                        <a:t>25</a:t>
                      </a:r>
                    </a:p>
                  </a:txBody>
                  <a:tcPr/>
                </a:tc>
                <a:tc>
                  <a:txBody>
                    <a:bodyPr/>
                    <a:lstStyle/>
                    <a:p>
                      <a:r>
                        <a:rPr lang="en-US" dirty="0"/>
                        <a:t>29</a:t>
                      </a:r>
                    </a:p>
                  </a:txBody>
                  <a:tcPr>
                    <a:solidFill>
                      <a:schemeClr val="accent3">
                        <a:lumMod val="20000"/>
                        <a:lumOff val="80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8D071369-BBA7-47DF-86FC-A3B7787B79D9}"/>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130021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362200" y="2819400"/>
            <a:ext cx="7338508" cy="3048000"/>
          </a:xfrm>
        </p:spPr>
        <p:txBody>
          <a:bodyPr>
            <a:normAutofit/>
          </a:bodyPr>
          <a:lstStyle/>
          <a:p>
            <a:r>
              <a:rPr lang="en-US" sz="2800" dirty="0"/>
              <a:t>Let’s say the answer was C, “we didn’t go far enough”</a:t>
            </a:r>
          </a:p>
          <a:p>
            <a:r>
              <a:rPr lang="en-US" sz="2800" dirty="0"/>
              <a:t>We ruled out the entire first half, and now only have the second half to search</a:t>
            </a:r>
          </a:p>
          <a:p>
            <a:r>
              <a:rPr lang="en-US" sz="2800" dirty="0"/>
              <a:t>We could start at the front of the second half and proceed forward…</a:t>
            </a:r>
          </a:p>
        </p:txBody>
      </p:sp>
      <p:graphicFrame>
        <p:nvGraphicFramePr>
          <p:cNvPr id="4" name="Table 3"/>
          <p:cNvGraphicFramePr>
            <a:graphicFrameLocks noGrp="1"/>
          </p:cNvGraphicFramePr>
          <p:nvPr>
            <p:custDataLst>
              <p:tags r:id="rId2"/>
            </p:custDataLst>
          </p:nvPr>
        </p:nvGraphicFramePr>
        <p:xfrm>
          <a:off x="2819400" y="16764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solidFill>
                      <a:schemeClr val="bg1">
                        <a:lumMod val="50000"/>
                      </a:schemeClr>
                    </a:solidFill>
                  </a:tcPr>
                </a:tc>
                <a:tc>
                  <a:txBody>
                    <a:bodyPr/>
                    <a:lstStyle/>
                    <a:p>
                      <a:r>
                        <a:rPr lang="en-US" dirty="0"/>
                        <a:t>1</a:t>
                      </a:r>
                    </a:p>
                  </a:txBody>
                  <a:tcPr>
                    <a:solidFill>
                      <a:schemeClr val="bg1">
                        <a:lumMod val="50000"/>
                      </a:schemeClr>
                    </a:solidFill>
                  </a:tcPr>
                </a:tc>
                <a:tc>
                  <a:txBody>
                    <a:bodyPr/>
                    <a:lstStyle/>
                    <a:p>
                      <a:r>
                        <a:rPr lang="en-US" dirty="0"/>
                        <a:t>2</a:t>
                      </a:r>
                    </a:p>
                  </a:txBody>
                  <a:tcPr>
                    <a:solidFill>
                      <a:schemeClr val="bg1">
                        <a:lumMod val="50000"/>
                      </a:schemeClr>
                    </a:solidFill>
                  </a:tcPr>
                </a:tc>
                <a:tc>
                  <a:txBody>
                    <a:bodyPr/>
                    <a:lstStyle/>
                    <a:p>
                      <a:r>
                        <a:rPr lang="en-US" dirty="0"/>
                        <a:t>3</a:t>
                      </a:r>
                    </a:p>
                  </a:txBody>
                  <a:tcPr>
                    <a:solidFill>
                      <a:schemeClr val="bg1">
                        <a:lumMod val="50000"/>
                      </a:schemeClr>
                    </a:solidFill>
                  </a:tcPr>
                </a:tc>
                <a:tc>
                  <a:txBody>
                    <a:bodyPr/>
                    <a:lstStyle/>
                    <a:p>
                      <a:r>
                        <a:rPr lang="en-US" dirty="0"/>
                        <a:t>4</a:t>
                      </a:r>
                    </a:p>
                  </a:txBody>
                  <a:tcPr>
                    <a:solidFill>
                      <a:schemeClr val="bg1">
                        <a:lumMod val="50000"/>
                      </a:schemeClr>
                    </a:solidFill>
                  </a:tcPr>
                </a:tc>
                <a:tc>
                  <a:txBody>
                    <a:bodyPr/>
                    <a:lstStyle/>
                    <a:p>
                      <a:r>
                        <a:rPr lang="en-US" dirty="0"/>
                        <a:t>5</a:t>
                      </a:r>
                    </a:p>
                  </a:txBody>
                  <a:tcPr>
                    <a:solidFill>
                      <a:schemeClr val="bg1">
                        <a:lumMod val="50000"/>
                      </a:schemeClr>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solidFill>
                      <a:schemeClr val="bg1">
                        <a:lumMod val="85000"/>
                      </a:schemeClr>
                    </a:solidFill>
                  </a:tcPr>
                </a:tc>
                <a:tc>
                  <a:txBody>
                    <a:bodyPr/>
                    <a:lstStyle/>
                    <a:p>
                      <a:r>
                        <a:rPr lang="en-US" dirty="0"/>
                        <a:t>7</a:t>
                      </a:r>
                    </a:p>
                  </a:txBody>
                  <a:tcPr>
                    <a:solidFill>
                      <a:schemeClr val="bg1">
                        <a:lumMod val="85000"/>
                      </a:schemeClr>
                    </a:solidFill>
                  </a:tcPr>
                </a:tc>
                <a:tc>
                  <a:txBody>
                    <a:bodyPr/>
                    <a:lstStyle/>
                    <a:p>
                      <a:r>
                        <a:rPr lang="en-US" dirty="0"/>
                        <a:t>8</a:t>
                      </a:r>
                    </a:p>
                  </a:txBody>
                  <a:tcPr>
                    <a:solidFill>
                      <a:schemeClr val="bg1">
                        <a:lumMod val="85000"/>
                      </a:schemeClr>
                    </a:solidFill>
                  </a:tcPr>
                </a:tc>
                <a:tc>
                  <a:txBody>
                    <a:bodyPr/>
                    <a:lstStyle/>
                    <a:p>
                      <a:r>
                        <a:rPr lang="en-US" dirty="0"/>
                        <a:t>13</a:t>
                      </a:r>
                    </a:p>
                  </a:txBody>
                  <a:tcPr>
                    <a:solidFill>
                      <a:schemeClr val="bg1">
                        <a:lumMod val="85000"/>
                      </a:schemeClr>
                    </a:solidFill>
                  </a:tcPr>
                </a:tc>
                <a:tc>
                  <a:txBody>
                    <a:bodyPr/>
                    <a:lstStyle/>
                    <a:p>
                      <a:r>
                        <a:rPr lang="en-US" dirty="0"/>
                        <a:t>25</a:t>
                      </a:r>
                    </a:p>
                  </a:txBody>
                  <a:tcPr>
                    <a:solidFill>
                      <a:schemeClr val="bg1">
                        <a:lumMod val="85000"/>
                      </a:schemeClr>
                    </a:solidFill>
                  </a:tcPr>
                </a:tc>
                <a:tc>
                  <a:txBody>
                    <a:bodyPr/>
                    <a:lstStyle/>
                    <a:p>
                      <a:r>
                        <a:rPr lang="en-US" dirty="0"/>
                        <a:t>29</a:t>
                      </a:r>
                    </a:p>
                  </a:txBody>
                  <a:tcPr>
                    <a:solidFill>
                      <a:schemeClr val="bg1">
                        <a:lumMod val="85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10" name="Title 9">
            <a:extLst>
              <a:ext uri="{FF2B5EF4-FFF2-40B4-BE49-F238E27FC236}">
                <a16:creationId xmlns:a16="http://schemas.microsoft.com/office/drawing/2014/main" id="{747D5D34-F229-4C04-9C3C-53C025BB660D}"/>
              </a:ext>
            </a:extLst>
          </p:cNvPr>
          <p:cNvSpPr>
            <a:spLocks noGrp="1"/>
          </p:cNvSpPr>
          <p:nvPr>
            <p:ph type="title"/>
          </p:nvPr>
        </p:nvSpPr>
        <p:spPr/>
        <p:txBody>
          <a:bodyPr/>
          <a:lstStyle/>
          <a:p>
            <a:r>
              <a:rPr lang="en-US" dirty="0"/>
              <a:t>Binary search</a:t>
            </a:r>
          </a:p>
        </p:txBody>
      </p:sp>
      <p:sp>
        <p:nvSpPr>
          <p:cNvPr id="5" name="TextBox 4">
            <a:extLst>
              <a:ext uri="{FF2B5EF4-FFF2-40B4-BE49-F238E27FC236}">
                <a16:creationId xmlns:a16="http://schemas.microsoft.com/office/drawing/2014/main" id="{1FFC6CBD-67FC-4A49-AF5A-844F02209943}"/>
              </a:ext>
            </a:extLst>
          </p:cNvPr>
          <p:cNvSpPr txBox="1"/>
          <p:nvPr/>
        </p:nvSpPr>
        <p:spPr>
          <a:xfrm>
            <a:off x="485774" y="6331414"/>
            <a:ext cx="9524215" cy="369332"/>
          </a:xfrm>
          <a:prstGeom prst="rect">
            <a:avLst/>
          </a:prstGeom>
          <a:noFill/>
        </p:spPr>
        <p:txBody>
          <a:bodyPr wrap="square">
            <a:spAutoFit/>
          </a:bodyPr>
          <a:lstStyle/>
          <a:p>
            <a:r>
              <a:rPr lang="en-US" sz="1800" dirty="0">
                <a:solidFill>
                  <a:schemeClr val="bg1">
                    <a:lumMod val="65000"/>
                  </a:schemeClr>
                </a:solidFill>
              </a:rPr>
              <a:t>Slide credit: http://www.peerinstruction4cs.org/2013/07/13/cs2-in-c-peer-instruction-materials/</a:t>
            </a:r>
            <a:endParaRPr lang="en-US" dirty="0">
              <a:solidFill>
                <a:schemeClr val="bg1">
                  <a:lumMod val="65000"/>
                </a:schemeClr>
              </a:solidFill>
            </a:endParaRPr>
          </a:p>
        </p:txBody>
      </p:sp>
    </p:spTree>
    <p:extLst>
      <p:ext uri="{BB962C8B-B14F-4D97-AF65-F5344CB8AC3E}">
        <p14:creationId xmlns:p14="http://schemas.microsoft.com/office/powerpoint/2010/main" val="3613205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362200" y="2819400"/>
            <a:ext cx="7338508" cy="3124200"/>
          </a:xfrm>
        </p:spPr>
        <p:txBody>
          <a:bodyPr>
            <a:noAutofit/>
          </a:bodyPr>
          <a:lstStyle/>
          <a:p>
            <a:r>
              <a:rPr lang="en-US" sz="2800" dirty="0"/>
              <a:t>Let’s say the answer was C, “we didn’t go far enough”</a:t>
            </a:r>
          </a:p>
          <a:p>
            <a:r>
              <a:rPr lang="en-US" sz="2800" dirty="0"/>
              <a:t>We ruled out the entire first half, and now only have the second half to search</a:t>
            </a:r>
          </a:p>
          <a:p>
            <a:r>
              <a:rPr lang="en-US" sz="2800" dirty="0"/>
              <a:t>We could start at the front of the second half and proceed forward…</a:t>
            </a:r>
            <a:r>
              <a:rPr lang="en-US" sz="2800" dirty="0">
                <a:solidFill>
                  <a:schemeClr val="accent1"/>
                </a:solidFill>
              </a:rPr>
              <a:t>but why do that when we know we have a better way?</a:t>
            </a:r>
          </a:p>
          <a:p>
            <a:r>
              <a:rPr lang="en-US" sz="2800" b="1" dirty="0"/>
              <a:t>Jump right to the middle </a:t>
            </a:r>
            <a:r>
              <a:rPr lang="en-US" sz="2800" dirty="0"/>
              <a:t>of the region to search</a:t>
            </a:r>
          </a:p>
        </p:txBody>
      </p:sp>
      <p:graphicFrame>
        <p:nvGraphicFramePr>
          <p:cNvPr id="4" name="Table 3"/>
          <p:cNvGraphicFramePr>
            <a:graphicFrameLocks noGrp="1"/>
          </p:cNvGraphicFramePr>
          <p:nvPr>
            <p:custDataLst>
              <p:tags r:id="rId2"/>
            </p:custDataLst>
          </p:nvPr>
        </p:nvGraphicFramePr>
        <p:xfrm>
          <a:off x="2819400" y="16764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solidFill>
                      <a:schemeClr val="bg1">
                        <a:lumMod val="50000"/>
                      </a:schemeClr>
                    </a:solidFill>
                  </a:tcPr>
                </a:tc>
                <a:tc>
                  <a:txBody>
                    <a:bodyPr/>
                    <a:lstStyle/>
                    <a:p>
                      <a:r>
                        <a:rPr lang="en-US" dirty="0"/>
                        <a:t>1</a:t>
                      </a:r>
                    </a:p>
                  </a:txBody>
                  <a:tcPr>
                    <a:solidFill>
                      <a:schemeClr val="bg1">
                        <a:lumMod val="50000"/>
                      </a:schemeClr>
                    </a:solidFill>
                  </a:tcPr>
                </a:tc>
                <a:tc>
                  <a:txBody>
                    <a:bodyPr/>
                    <a:lstStyle/>
                    <a:p>
                      <a:r>
                        <a:rPr lang="en-US" dirty="0"/>
                        <a:t>2</a:t>
                      </a:r>
                    </a:p>
                  </a:txBody>
                  <a:tcPr>
                    <a:solidFill>
                      <a:schemeClr val="bg1">
                        <a:lumMod val="50000"/>
                      </a:schemeClr>
                    </a:solidFill>
                  </a:tcPr>
                </a:tc>
                <a:tc>
                  <a:txBody>
                    <a:bodyPr/>
                    <a:lstStyle/>
                    <a:p>
                      <a:r>
                        <a:rPr lang="en-US" dirty="0"/>
                        <a:t>3</a:t>
                      </a:r>
                    </a:p>
                  </a:txBody>
                  <a:tcPr>
                    <a:solidFill>
                      <a:schemeClr val="bg1">
                        <a:lumMod val="50000"/>
                      </a:schemeClr>
                    </a:solidFill>
                  </a:tcPr>
                </a:tc>
                <a:tc>
                  <a:txBody>
                    <a:bodyPr/>
                    <a:lstStyle/>
                    <a:p>
                      <a:r>
                        <a:rPr lang="en-US" dirty="0"/>
                        <a:t>4</a:t>
                      </a:r>
                    </a:p>
                  </a:txBody>
                  <a:tcPr>
                    <a:solidFill>
                      <a:schemeClr val="bg1">
                        <a:lumMod val="50000"/>
                      </a:schemeClr>
                    </a:solidFill>
                  </a:tcPr>
                </a:tc>
                <a:tc>
                  <a:txBody>
                    <a:bodyPr/>
                    <a:lstStyle/>
                    <a:p>
                      <a:r>
                        <a:rPr lang="en-US" dirty="0"/>
                        <a:t>5</a:t>
                      </a:r>
                    </a:p>
                  </a:txBody>
                  <a:tcPr>
                    <a:solidFill>
                      <a:schemeClr val="bg1">
                        <a:lumMod val="50000"/>
                      </a:schemeClr>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solidFill>
                      <a:schemeClr val="accent3"/>
                    </a:solidFill>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solidFill>
                      <a:schemeClr val="bg1">
                        <a:lumMod val="85000"/>
                      </a:schemeClr>
                    </a:solidFill>
                  </a:tcPr>
                </a:tc>
                <a:tc>
                  <a:txBody>
                    <a:bodyPr/>
                    <a:lstStyle/>
                    <a:p>
                      <a:r>
                        <a:rPr lang="en-US" dirty="0"/>
                        <a:t>7</a:t>
                      </a:r>
                    </a:p>
                  </a:txBody>
                  <a:tcPr>
                    <a:solidFill>
                      <a:schemeClr val="bg1">
                        <a:lumMod val="85000"/>
                      </a:schemeClr>
                    </a:solidFill>
                  </a:tcPr>
                </a:tc>
                <a:tc>
                  <a:txBody>
                    <a:bodyPr/>
                    <a:lstStyle/>
                    <a:p>
                      <a:r>
                        <a:rPr lang="en-US" dirty="0"/>
                        <a:t>8</a:t>
                      </a:r>
                    </a:p>
                  </a:txBody>
                  <a:tcPr>
                    <a:solidFill>
                      <a:schemeClr val="bg1">
                        <a:lumMod val="85000"/>
                      </a:schemeClr>
                    </a:solidFill>
                  </a:tcPr>
                </a:tc>
                <a:tc>
                  <a:txBody>
                    <a:bodyPr/>
                    <a:lstStyle/>
                    <a:p>
                      <a:r>
                        <a:rPr lang="en-US" dirty="0"/>
                        <a:t>13</a:t>
                      </a:r>
                    </a:p>
                  </a:txBody>
                  <a:tcPr>
                    <a:solidFill>
                      <a:schemeClr val="bg1">
                        <a:lumMod val="85000"/>
                      </a:schemeClr>
                    </a:solidFill>
                  </a:tcPr>
                </a:tc>
                <a:tc>
                  <a:txBody>
                    <a:bodyPr/>
                    <a:lstStyle/>
                    <a:p>
                      <a:r>
                        <a:rPr lang="en-US" dirty="0"/>
                        <a:t>25</a:t>
                      </a:r>
                    </a:p>
                  </a:txBody>
                  <a:tcPr>
                    <a:solidFill>
                      <a:schemeClr val="bg1">
                        <a:lumMod val="85000"/>
                      </a:schemeClr>
                    </a:solidFill>
                  </a:tcPr>
                </a:tc>
                <a:tc>
                  <a:txBody>
                    <a:bodyPr/>
                    <a:lstStyle/>
                    <a:p>
                      <a:r>
                        <a:rPr lang="en-US" dirty="0"/>
                        <a:t>29</a:t>
                      </a:r>
                    </a:p>
                  </a:txBody>
                  <a:tcPr>
                    <a:solidFill>
                      <a:schemeClr val="bg1">
                        <a:lumMod val="85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solidFill>
                      <a:schemeClr val="accent3">
                        <a:lumMod val="20000"/>
                        <a:lumOff val="80000"/>
                      </a:schemeClr>
                    </a:solidFill>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6" name="Title 5">
            <a:extLst>
              <a:ext uri="{FF2B5EF4-FFF2-40B4-BE49-F238E27FC236}">
                <a16:creationId xmlns:a16="http://schemas.microsoft.com/office/drawing/2014/main" id="{3F237B7E-466E-44FE-A644-A12E400C9692}"/>
              </a:ext>
            </a:extLst>
          </p:cNvPr>
          <p:cNvSpPr>
            <a:spLocks noGrp="1"/>
          </p:cNvSpPr>
          <p:nvPr>
            <p:ph type="title"/>
          </p:nvPr>
        </p:nvSpPr>
        <p:spPr/>
        <p:txBody>
          <a:bodyPr/>
          <a:lstStyle/>
          <a:p>
            <a:r>
              <a:rPr lang="en-US" dirty="0"/>
              <a:t>Binary search</a:t>
            </a:r>
          </a:p>
        </p:txBody>
      </p:sp>
    </p:spTree>
    <p:extLst>
      <p:ext uri="{BB962C8B-B14F-4D97-AF65-F5344CB8AC3E}">
        <p14:creationId xmlns:p14="http://schemas.microsoft.com/office/powerpoint/2010/main" val="40305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2362200" y="2819400"/>
            <a:ext cx="7338508" cy="3124200"/>
          </a:xfrm>
        </p:spPr>
        <p:txBody>
          <a:bodyPr>
            <a:noAutofit/>
          </a:bodyPr>
          <a:lstStyle/>
          <a:p>
            <a:r>
              <a:rPr lang="en-US" sz="2800" dirty="0"/>
              <a:t>Let’s say the answer was C, “we didn’t go far enough”</a:t>
            </a:r>
          </a:p>
          <a:p>
            <a:r>
              <a:rPr lang="en-US" sz="2800" dirty="0"/>
              <a:t>We ruled out the entire first half, and now only have the second half to search</a:t>
            </a:r>
          </a:p>
          <a:p>
            <a:r>
              <a:rPr lang="en-US" sz="2800" dirty="0"/>
              <a:t>We could start at the front of the second half and proceed forward…</a:t>
            </a:r>
            <a:r>
              <a:rPr lang="en-US" sz="2800" dirty="0">
                <a:solidFill>
                  <a:schemeClr val="accent1"/>
                </a:solidFill>
              </a:rPr>
              <a:t>but why do that when we know we have a better way?</a:t>
            </a:r>
          </a:p>
          <a:p>
            <a:r>
              <a:rPr lang="en-US" sz="2800" b="1" dirty="0"/>
              <a:t>Jump right to the middle </a:t>
            </a:r>
            <a:r>
              <a:rPr lang="en-US" sz="2800" dirty="0"/>
              <a:t>of the region to search</a:t>
            </a:r>
          </a:p>
        </p:txBody>
      </p:sp>
      <p:graphicFrame>
        <p:nvGraphicFramePr>
          <p:cNvPr id="4" name="Table 3"/>
          <p:cNvGraphicFramePr>
            <a:graphicFrameLocks noGrp="1"/>
          </p:cNvGraphicFramePr>
          <p:nvPr>
            <p:custDataLst>
              <p:tags r:id="rId2"/>
            </p:custDataLst>
          </p:nvPr>
        </p:nvGraphicFramePr>
        <p:xfrm>
          <a:off x="2819400" y="1676400"/>
          <a:ext cx="6096002" cy="74168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2">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2">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70840">
                <a:tc>
                  <a:txBody>
                    <a:bodyPr/>
                    <a:lstStyle/>
                    <a:p>
                      <a:r>
                        <a:rPr lang="en-US" dirty="0"/>
                        <a:t>0</a:t>
                      </a:r>
                    </a:p>
                  </a:txBody>
                  <a:tcPr>
                    <a:solidFill>
                      <a:schemeClr val="bg1">
                        <a:lumMod val="50000"/>
                      </a:schemeClr>
                    </a:solidFill>
                  </a:tcPr>
                </a:tc>
                <a:tc>
                  <a:txBody>
                    <a:bodyPr/>
                    <a:lstStyle/>
                    <a:p>
                      <a:r>
                        <a:rPr lang="en-US" dirty="0"/>
                        <a:t>1</a:t>
                      </a:r>
                    </a:p>
                  </a:txBody>
                  <a:tcPr>
                    <a:solidFill>
                      <a:schemeClr val="bg1">
                        <a:lumMod val="50000"/>
                      </a:schemeClr>
                    </a:solidFill>
                  </a:tcPr>
                </a:tc>
                <a:tc>
                  <a:txBody>
                    <a:bodyPr/>
                    <a:lstStyle/>
                    <a:p>
                      <a:r>
                        <a:rPr lang="en-US" dirty="0"/>
                        <a:t>2</a:t>
                      </a:r>
                    </a:p>
                  </a:txBody>
                  <a:tcPr>
                    <a:solidFill>
                      <a:schemeClr val="bg1">
                        <a:lumMod val="50000"/>
                      </a:schemeClr>
                    </a:solidFill>
                  </a:tcPr>
                </a:tc>
                <a:tc>
                  <a:txBody>
                    <a:bodyPr/>
                    <a:lstStyle/>
                    <a:p>
                      <a:r>
                        <a:rPr lang="en-US" dirty="0"/>
                        <a:t>3</a:t>
                      </a:r>
                    </a:p>
                  </a:txBody>
                  <a:tcPr>
                    <a:solidFill>
                      <a:schemeClr val="bg1">
                        <a:lumMod val="50000"/>
                      </a:schemeClr>
                    </a:solidFill>
                  </a:tcPr>
                </a:tc>
                <a:tc>
                  <a:txBody>
                    <a:bodyPr/>
                    <a:lstStyle/>
                    <a:p>
                      <a:r>
                        <a:rPr lang="en-US" dirty="0"/>
                        <a:t>4</a:t>
                      </a:r>
                    </a:p>
                  </a:txBody>
                  <a:tcPr>
                    <a:solidFill>
                      <a:schemeClr val="bg1">
                        <a:lumMod val="50000"/>
                      </a:schemeClr>
                    </a:solidFill>
                  </a:tcPr>
                </a:tc>
                <a:tc>
                  <a:txBody>
                    <a:bodyPr/>
                    <a:lstStyle/>
                    <a:p>
                      <a:r>
                        <a:rPr lang="en-US" dirty="0"/>
                        <a:t>5</a:t>
                      </a:r>
                    </a:p>
                  </a:txBody>
                  <a:tcPr>
                    <a:solidFill>
                      <a:schemeClr val="bg1">
                        <a:lumMod val="50000"/>
                      </a:schemeClr>
                    </a:solidFill>
                  </a:tcPr>
                </a:tc>
                <a:tc>
                  <a:txBody>
                    <a:bodyPr/>
                    <a:lstStyle/>
                    <a:p>
                      <a:r>
                        <a:rPr lang="en-US" dirty="0"/>
                        <a:t>6</a:t>
                      </a:r>
                    </a:p>
                  </a:txBody>
                  <a:tcPr/>
                </a:tc>
                <a:tc>
                  <a:txBody>
                    <a:bodyPr/>
                    <a:lstStyle/>
                    <a:p>
                      <a:r>
                        <a:rPr lang="en-US" dirty="0"/>
                        <a:t>7</a:t>
                      </a:r>
                    </a:p>
                  </a:txBody>
                  <a:tcPr/>
                </a:tc>
                <a:tc>
                  <a:txBody>
                    <a:bodyPr/>
                    <a:lstStyle/>
                    <a:p>
                      <a:r>
                        <a:rPr lang="en-US" dirty="0"/>
                        <a:t>8</a:t>
                      </a:r>
                    </a:p>
                  </a:txBody>
                  <a:tcPr>
                    <a:solidFill>
                      <a:schemeClr val="accent3"/>
                    </a:solidFill>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2</a:t>
                      </a:r>
                    </a:p>
                  </a:txBody>
                  <a:tcPr>
                    <a:solidFill>
                      <a:schemeClr val="bg1">
                        <a:lumMod val="85000"/>
                      </a:schemeClr>
                    </a:solidFill>
                  </a:tcPr>
                </a:tc>
                <a:tc>
                  <a:txBody>
                    <a:bodyPr/>
                    <a:lstStyle/>
                    <a:p>
                      <a:r>
                        <a:rPr lang="en-US" dirty="0"/>
                        <a:t>7</a:t>
                      </a:r>
                    </a:p>
                  </a:txBody>
                  <a:tcPr>
                    <a:solidFill>
                      <a:schemeClr val="bg1">
                        <a:lumMod val="85000"/>
                      </a:schemeClr>
                    </a:solidFill>
                  </a:tcPr>
                </a:tc>
                <a:tc>
                  <a:txBody>
                    <a:bodyPr/>
                    <a:lstStyle/>
                    <a:p>
                      <a:r>
                        <a:rPr lang="en-US" dirty="0"/>
                        <a:t>8</a:t>
                      </a:r>
                    </a:p>
                  </a:txBody>
                  <a:tcPr>
                    <a:solidFill>
                      <a:schemeClr val="bg1">
                        <a:lumMod val="85000"/>
                      </a:schemeClr>
                    </a:solidFill>
                  </a:tcPr>
                </a:tc>
                <a:tc>
                  <a:txBody>
                    <a:bodyPr/>
                    <a:lstStyle/>
                    <a:p>
                      <a:r>
                        <a:rPr lang="en-US" dirty="0"/>
                        <a:t>13</a:t>
                      </a:r>
                    </a:p>
                  </a:txBody>
                  <a:tcPr>
                    <a:solidFill>
                      <a:schemeClr val="bg1">
                        <a:lumMod val="85000"/>
                      </a:schemeClr>
                    </a:solidFill>
                  </a:tcPr>
                </a:tc>
                <a:tc>
                  <a:txBody>
                    <a:bodyPr/>
                    <a:lstStyle/>
                    <a:p>
                      <a:r>
                        <a:rPr lang="en-US" dirty="0"/>
                        <a:t>25</a:t>
                      </a:r>
                    </a:p>
                  </a:txBody>
                  <a:tcPr>
                    <a:solidFill>
                      <a:schemeClr val="bg1">
                        <a:lumMod val="85000"/>
                      </a:schemeClr>
                    </a:solidFill>
                  </a:tcPr>
                </a:tc>
                <a:tc>
                  <a:txBody>
                    <a:bodyPr/>
                    <a:lstStyle/>
                    <a:p>
                      <a:r>
                        <a:rPr lang="en-US" dirty="0"/>
                        <a:t>29</a:t>
                      </a:r>
                    </a:p>
                  </a:txBody>
                  <a:tcPr>
                    <a:solidFill>
                      <a:schemeClr val="bg1">
                        <a:lumMod val="85000"/>
                      </a:schemeClr>
                    </a:solidFill>
                  </a:tcPr>
                </a:tc>
                <a:tc>
                  <a:txBody>
                    <a:bodyPr/>
                    <a:lstStyle/>
                    <a:p>
                      <a:r>
                        <a:rPr lang="en-US" dirty="0"/>
                        <a:t>33</a:t>
                      </a:r>
                    </a:p>
                  </a:txBody>
                  <a:tcPr/>
                </a:tc>
                <a:tc>
                  <a:txBody>
                    <a:bodyPr/>
                    <a:lstStyle/>
                    <a:p>
                      <a:r>
                        <a:rPr lang="en-US" dirty="0"/>
                        <a:t>51</a:t>
                      </a:r>
                    </a:p>
                  </a:txBody>
                  <a:tcPr/>
                </a:tc>
                <a:tc>
                  <a:txBody>
                    <a:bodyPr/>
                    <a:lstStyle/>
                    <a:p>
                      <a:r>
                        <a:rPr lang="en-US" dirty="0"/>
                        <a:t>89</a:t>
                      </a:r>
                    </a:p>
                  </a:txBody>
                  <a:tcPr>
                    <a:solidFill>
                      <a:schemeClr val="accent3">
                        <a:lumMod val="20000"/>
                        <a:lumOff val="80000"/>
                      </a:schemeClr>
                    </a:solidFill>
                  </a:tcPr>
                </a:tc>
                <a:tc>
                  <a:txBody>
                    <a:bodyPr/>
                    <a:lstStyle/>
                    <a:p>
                      <a:r>
                        <a:rPr lang="en-US" dirty="0"/>
                        <a:t>90</a:t>
                      </a:r>
                    </a:p>
                  </a:txBody>
                  <a:tcPr/>
                </a:tc>
                <a:tc>
                  <a:txBody>
                    <a:bodyPr/>
                    <a:lstStyle/>
                    <a:p>
                      <a:r>
                        <a:rPr lang="en-US" dirty="0"/>
                        <a:t>95</a:t>
                      </a:r>
                    </a:p>
                  </a:txBody>
                  <a:tcPr/>
                </a:tc>
                <a:extLst>
                  <a:ext uri="{0D108BD9-81ED-4DB2-BD59-A6C34878D82A}">
                    <a16:rowId xmlns:a16="http://schemas.microsoft.com/office/drawing/2014/main" val="10001"/>
                  </a:ext>
                </a:extLst>
              </a:tr>
            </a:tbl>
          </a:graphicData>
        </a:graphic>
      </p:graphicFrame>
      <p:sp>
        <p:nvSpPr>
          <p:cNvPr id="5" name="Explosion 2 4"/>
          <p:cNvSpPr/>
          <p:nvPr>
            <p:custDataLst>
              <p:tags r:id="rId3"/>
            </p:custDataLst>
          </p:nvPr>
        </p:nvSpPr>
        <p:spPr>
          <a:xfrm>
            <a:off x="4012154" y="3048000"/>
            <a:ext cx="4038600" cy="22860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b="1" dirty="0">
                <a:solidFill>
                  <a:prstClr val="white"/>
                </a:solidFill>
                <a:latin typeface="Consolas" panose="020B0609020204030204" pitchFamily="49" charset="0"/>
                <a:cs typeface="Consolas" panose="020B0609020204030204" pitchFamily="49" charset="0"/>
              </a:rPr>
              <a:t>RECURSION!!</a:t>
            </a:r>
          </a:p>
        </p:txBody>
      </p:sp>
      <p:sp>
        <p:nvSpPr>
          <p:cNvPr id="7" name="Title 6">
            <a:extLst>
              <a:ext uri="{FF2B5EF4-FFF2-40B4-BE49-F238E27FC236}">
                <a16:creationId xmlns:a16="http://schemas.microsoft.com/office/drawing/2014/main" id="{F245CC48-57C0-44B6-AD4A-62D902F7CC70}"/>
              </a:ext>
            </a:extLst>
          </p:cNvPr>
          <p:cNvSpPr>
            <a:spLocks noGrp="1"/>
          </p:cNvSpPr>
          <p:nvPr>
            <p:ph type="title"/>
          </p:nvPr>
        </p:nvSpPr>
        <p:spPr/>
        <p:txBody>
          <a:bodyPr/>
          <a:lstStyle/>
          <a:p>
            <a:r>
              <a:rPr lang="en-US" dirty="0"/>
              <a:t>Binary search</a:t>
            </a:r>
          </a:p>
        </p:txBody>
      </p:sp>
    </p:spTree>
    <p:extLst>
      <p:ext uri="{BB962C8B-B14F-4D97-AF65-F5344CB8AC3E}">
        <p14:creationId xmlns:p14="http://schemas.microsoft.com/office/powerpoint/2010/main" val="1049503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221F9-24E5-4517-AB90-CB2A18474EEA}"/>
              </a:ext>
            </a:extLst>
          </p:cNvPr>
          <p:cNvSpPr>
            <a:spLocks noGrp="1"/>
          </p:cNvSpPr>
          <p:nvPr>
            <p:ph type="title"/>
          </p:nvPr>
        </p:nvSpPr>
        <p:spPr/>
        <p:txBody>
          <a:bodyPr/>
          <a:lstStyle/>
          <a:p>
            <a:r>
              <a:rPr lang="en-US" dirty="0"/>
              <a:t>Binary search</a:t>
            </a:r>
          </a:p>
        </p:txBody>
      </p:sp>
      <p:sp>
        <p:nvSpPr>
          <p:cNvPr id="3" name="Content Placeholder 2">
            <a:extLst>
              <a:ext uri="{FF2B5EF4-FFF2-40B4-BE49-F238E27FC236}">
                <a16:creationId xmlns:a16="http://schemas.microsoft.com/office/drawing/2014/main" id="{56F4A3D8-0A17-4F89-832A-E3B4A271D9AA}"/>
              </a:ext>
            </a:extLst>
          </p:cNvPr>
          <p:cNvSpPr>
            <a:spLocks noGrp="1"/>
          </p:cNvSpPr>
          <p:nvPr>
            <p:ph idx="1"/>
          </p:nvPr>
        </p:nvSpPr>
        <p:spPr>
          <a:xfrm>
            <a:off x="993775" y="1100902"/>
            <a:ext cx="9759950" cy="5973623"/>
          </a:xfrm>
        </p:spPr>
        <p:txBody>
          <a:bodyPr>
            <a:normAutofit/>
          </a:bodyPr>
          <a:lstStyle/>
          <a:p>
            <a:r>
              <a:rPr lang="en-US" sz="2000" b="1" dirty="0">
                <a:solidFill>
                  <a:schemeClr val="accent6">
                    <a:lumMod val="75000"/>
                  </a:schemeClr>
                </a:solidFill>
                <a:latin typeface="Courier New" panose="02070309020205020404" pitchFamily="49" charset="0"/>
                <a:cs typeface="Courier New" panose="02070309020205020404" pitchFamily="49" charset="0"/>
              </a:rPr>
              <a:t>bool</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binarySearch</a:t>
            </a:r>
            <a:r>
              <a:rPr lang="en-US" sz="2000" b="1" dirty="0">
                <a:latin typeface="Courier New" panose="02070309020205020404" pitchFamily="49" charset="0"/>
                <a:cs typeface="Courier New" panose="02070309020205020404" pitchFamily="49" charset="0"/>
              </a:rPr>
              <a:t>(list data,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key) {</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return</a:t>
            </a:r>
            <a:r>
              <a:rPr lang="en-US" sz="2000" b="1" dirty="0">
                <a:latin typeface="Courier New" panose="02070309020205020404" pitchFamily="49" charset="0"/>
                <a:cs typeface="Courier New" panose="02070309020205020404" pitchFamily="49" charset="0"/>
              </a:rPr>
              <a:t> binarySearch2(data, key, </a:t>
            </a:r>
            <a:r>
              <a:rPr lang="en-US" sz="2000" b="1" dirty="0">
                <a:solidFill>
                  <a:srgbClr val="C00000"/>
                </a:solidFill>
                <a:latin typeface="Courier New" panose="02070309020205020404" pitchFamily="49" charset="0"/>
                <a:cs typeface="Courier New" panose="02070309020205020404" pitchFamily="49" charset="0"/>
              </a:rPr>
              <a:t>0</a:t>
            </a:r>
            <a:r>
              <a:rPr lang="en-US" sz="2000" b="1" dirty="0">
                <a:latin typeface="Courier New" panose="02070309020205020404" pitchFamily="49" charset="0"/>
                <a:cs typeface="Courier New" panose="02070309020205020404" pitchFamily="49" charset="0"/>
              </a:rPr>
              <a:t>, </a:t>
            </a:r>
            <a:r>
              <a:rPr lang="en-US" sz="2000" b="1" dirty="0" err="1">
                <a:latin typeface="Courier New" panose="02070309020205020404" pitchFamily="49" charset="0"/>
                <a:cs typeface="Courier New" panose="02070309020205020404" pitchFamily="49" charset="0"/>
              </a:rPr>
              <a:t>len</a:t>
            </a:r>
            <a:r>
              <a:rPr lang="en-US" sz="2000" b="1" dirty="0">
                <a:latin typeface="Courier New" panose="02070309020205020404" pitchFamily="49" charset="0"/>
                <a:cs typeface="Courier New" panose="02070309020205020404" pitchFamily="49" charset="0"/>
              </a:rPr>
              <a:t>(data)-</a:t>
            </a:r>
            <a:r>
              <a:rPr lang="en-US" sz="2000" b="1" dirty="0">
                <a:solidFill>
                  <a:srgbClr val="C00000"/>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a:t>
            </a:r>
          </a:p>
          <a:p>
            <a:endParaRPr lang="en-US" sz="2000" b="1" dirty="0">
              <a:latin typeface="Courier New" panose="02070309020205020404" pitchFamily="49" charset="0"/>
              <a:cs typeface="Courier New" panose="02070309020205020404" pitchFamily="49" charset="0"/>
            </a:endParaRPr>
          </a:p>
          <a:p>
            <a:r>
              <a:rPr lang="en-US" sz="2000" b="1" dirty="0">
                <a:solidFill>
                  <a:schemeClr val="accent6">
                    <a:lumMod val="75000"/>
                  </a:schemeClr>
                </a:solidFill>
                <a:latin typeface="Courier New" panose="02070309020205020404" pitchFamily="49" charset="0"/>
                <a:cs typeface="Courier New" panose="02070309020205020404" pitchFamily="49" charset="0"/>
              </a:rPr>
              <a:t>bool</a:t>
            </a:r>
            <a:r>
              <a:rPr lang="en-US" sz="2000" b="1" dirty="0">
                <a:latin typeface="Courier New" panose="02070309020205020404" pitchFamily="49" charset="0"/>
                <a:cs typeface="Courier New" panose="02070309020205020404" pitchFamily="49" charset="0"/>
              </a:rPr>
              <a:t> binarySearch2(list data,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key,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first,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last) {</a:t>
            </a:r>
          </a:p>
          <a:p>
            <a:r>
              <a:rPr lang="en-US" sz="2000" b="1" dirty="0">
                <a:latin typeface="Courier New" panose="02070309020205020404" pitchFamily="49" charset="0"/>
                <a:cs typeface="Courier New" panose="02070309020205020404" pitchFamily="49" charset="0"/>
              </a:rPr>
              <a:t>	if (last &gt; first) return </a:t>
            </a:r>
            <a:r>
              <a:rPr lang="en-US" sz="2000" b="1" dirty="0">
                <a:solidFill>
                  <a:schemeClr val="accent1"/>
                </a:solidFill>
                <a:latin typeface="Courier New" panose="02070309020205020404" pitchFamily="49" charset="0"/>
                <a:cs typeface="Courier New" panose="02070309020205020404" pitchFamily="49" charset="0"/>
              </a:rPr>
              <a:t>false</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	</a:t>
            </a:r>
            <a:r>
              <a:rPr lang="en-US" sz="2000" b="1" dirty="0">
                <a:solidFill>
                  <a:schemeClr val="accent6">
                    <a:lumMod val="75000"/>
                  </a:schemeClr>
                </a:solidFill>
                <a:latin typeface="Courier New" panose="02070309020205020404" pitchFamily="49" charset="0"/>
                <a:cs typeface="Courier New" panose="02070309020205020404" pitchFamily="49" charset="0"/>
              </a:rPr>
              <a:t>int</a:t>
            </a:r>
            <a:r>
              <a:rPr lang="en-US" sz="2000" b="1" dirty="0">
                <a:latin typeface="Courier New" panose="02070309020205020404" pitchFamily="49" charset="0"/>
                <a:cs typeface="Courier New" panose="02070309020205020404" pitchFamily="49" charset="0"/>
              </a:rPr>
              <a:t> mid = (first + last) // 2; </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if</a:t>
            </a:r>
            <a:r>
              <a:rPr lang="en-US" sz="2000" b="1" dirty="0">
                <a:latin typeface="Courier New" panose="02070309020205020404" pitchFamily="49" charset="0"/>
                <a:cs typeface="Courier New" panose="02070309020205020404" pitchFamily="49" charset="0"/>
              </a:rPr>
              <a:t> (data[mid] == key)</a:t>
            </a:r>
          </a:p>
          <a:p>
            <a:r>
              <a:rPr lang="en-US" sz="2000" b="1" dirty="0">
                <a:solidFill>
                  <a:schemeClr val="accent2">
                    <a:lumMod val="75000"/>
                  </a:schemeClr>
                </a:solidFill>
                <a:latin typeface="Courier New" panose="02070309020205020404" pitchFamily="49" charset="0"/>
                <a:cs typeface="Courier New" panose="02070309020205020404" pitchFamily="49" charset="0"/>
              </a:rPr>
              <a:t>		return</a:t>
            </a:r>
            <a:r>
              <a:rPr lang="en-US" sz="2000" b="1" dirty="0">
                <a:latin typeface="Courier New" panose="02070309020205020404" pitchFamily="49" charset="0"/>
                <a:cs typeface="Courier New" panose="02070309020205020404" pitchFamily="49" charset="0"/>
              </a:rPr>
              <a:t> </a:t>
            </a:r>
            <a:r>
              <a:rPr lang="en-US" sz="2000" b="1" dirty="0">
                <a:solidFill>
                  <a:srgbClr val="C00000"/>
                </a:solidFill>
                <a:latin typeface="Courier New" panose="02070309020205020404" pitchFamily="49" charset="0"/>
                <a:cs typeface="Courier New" panose="02070309020205020404" pitchFamily="49" charset="0"/>
              </a:rPr>
              <a:t>true</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else if </a:t>
            </a:r>
            <a:r>
              <a:rPr lang="en-US" sz="2000" b="1" dirty="0">
                <a:latin typeface="Courier New" panose="02070309020205020404" pitchFamily="49" charset="0"/>
                <a:cs typeface="Courier New" panose="02070309020205020404" pitchFamily="49" charset="0"/>
              </a:rPr>
              <a:t>(data[mid] &gt; key)</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return</a:t>
            </a:r>
            <a:r>
              <a:rPr lang="en-US" sz="2000" b="1" dirty="0">
                <a:latin typeface="Courier New" panose="02070309020205020404" pitchFamily="49" charset="0"/>
                <a:cs typeface="Courier New" panose="02070309020205020404" pitchFamily="49" charset="0"/>
              </a:rPr>
              <a:t> binarySearch2(data, key, first, mid-</a:t>
            </a:r>
            <a:r>
              <a:rPr lang="en-US" sz="2000" b="1" dirty="0">
                <a:solidFill>
                  <a:srgbClr val="C00000"/>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else</a:t>
            </a:r>
          </a:p>
          <a:p>
            <a:r>
              <a:rPr lang="en-US" sz="2000" b="1" dirty="0">
                <a:latin typeface="Courier New" panose="02070309020205020404" pitchFamily="49" charset="0"/>
                <a:cs typeface="Courier New" panose="02070309020205020404" pitchFamily="49" charset="0"/>
              </a:rPr>
              <a:t>		</a:t>
            </a:r>
            <a:r>
              <a:rPr lang="en-US" sz="2000" b="1" dirty="0">
                <a:solidFill>
                  <a:schemeClr val="accent2">
                    <a:lumMod val="75000"/>
                  </a:schemeClr>
                </a:solidFill>
                <a:latin typeface="Courier New" panose="02070309020205020404" pitchFamily="49" charset="0"/>
                <a:cs typeface="Courier New" panose="02070309020205020404" pitchFamily="49" charset="0"/>
              </a:rPr>
              <a:t>return</a:t>
            </a:r>
            <a:r>
              <a:rPr lang="en-US" sz="2000" b="1" dirty="0">
                <a:latin typeface="Courier New" panose="02070309020205020404" pitchFamily="49" charset="0"/>
                <a:cs typeface="Courier New" panose="02070309020205020404" pitchFamily="49" charset="0"/>
              </a:rPr>
              <a:t> binarySearch2(data, key, mid+</a:t>
            </a:r>
            <a:r>
              <a:rPr lang="en-US" sz="2000" b="1" dirty="0">
                <a:solidFill>
                  <a:srgbClr val="C00000"/>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 last)</a:t>
            </a:r>
          </a:p>
          <a:p>
            <a:r>
              <a:rPr lang="en-US" sz="20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28246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D732-4996-432E-8492-28734771CFDA}"/>
              </a:ext>
            </a:extLst>
          </p:cNvPr>
          <p:cNvSpPr>
            <a:spLocks noGrp="1"/>
          </p:cNvSpPr>
          <p:nvPr>
            <p:ph type="title"/>
          </p:nvPr>
        </p:nvSpPr>
        <p:spPr/>
        <p:txBody>
          <a:bodyPr/>
          <a:lstStyle/>
          <a:p>
            <a:r>
              <a:rPr lang="en-US" dirty="0">
                <a:solidFill>
                  <a:srgbClr val="C00000"/>
                </a:solidFill>
              </a:rPr>
              <a:t>Poll 2</a:t>
            </a:r>
          </a:p>
        </p:txBody>
      </p:sp>
      <p:sp>
        <p:nvSpPr>
          <p:cNvPr id="3" name="Content Placeholder 2">
            <a:extLst>
              <a:ext uri="{FF2B5EF4-FFF2-40B4-BE49-F238E27FC236}">
                <a16:creationId xmlns:a16="http://schemas.microsoft.com/office/drawing/2014/main" id="{38440474-B69C-43C5-A51A-B0C2F8A0E537}"/>
              </a:ext>
            </a:extLst>
          </p:cNvPr>
          <p:cNvSpPr>
            <a:spLocks noGrp="1"/>
          </p:cNvSpPr>
          <p:nvPr>
            <p:ph idx="1"/>
          </p:nvPr>
        </p:nvSpPr>
        <p:spPr>
          <a:xfrm>
            <a:off x="838200" y="1224243"/>
            <a:ext cx="7886700" cy="3671607"/>
          </a:xfrm>
        </p:spPr>
        <p:txBody>
          <a:bodyPr>
            <a:normAutofit lnSpcReduction="10000"/>
          </a:bodyPr>
          <a:lstStyle/>
          <a:p>
            <a:r>
              <a:rPr lang="en-US" dirty="0">
                <a:solidFill>
                  <a:schemeClr val="accent1">
                    <a:lumMod val="75000"/>
                  </a:schemeClr>
                </a:solidFill>
              </a:rPr>
              <a:t>What is the time complexity of binary search?</a:t>
            </a:r>
          </a:p>
          <a:p>
            <a:r>
              <a:rPr lang="en-US" dirty="0"/>
              <a:t>A: O(1)</a:t>
            </a:r>
          </a:p>
          <a:p>
            <a:r>
              <a:rPr lang="en-US" dirty="0"/>
              <a:t>B: O(N)</a:t>
            </a:r>
          </a:p>
          <a:p>
            <a:r>
              <a:rPr lang="en-US" dirty="0"/>
              <a:t>C: O(N/2)</a:t>
            </a:r>
          </a:p>
          <a:p>
            <a:r>
              <a:rPr lang="en-US" dirty="0"/>
              <a:t>D: O(log N)</a:t>
            </a:r>
          </a:p>
          <a:p>
            <a:r>
              <a:rPr lang="en-US" dirty="0"/>
              <a:t>E: None of the above</a:t>
            </a:r>
          </a:p>
        </p:txBody>
      </p:sp>
    </p:spTree>
    <p:extLst>
      <p:ext uri="{BB962C8B-B14F-4D97-AF65-F5344CB8AC3E}">
        <p14:creationId xmlns:p14="http://schemas.microsoft.com/office/powerpoint/2010/main" val="201182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400050" y="261172"/>
            <a:ext cx="10515600" cy="839730"/>
          </a:xfrm>
        </p:spPr>
        <p:txBody>
          <a:bodyPr/>
          <a:lstStyle/>
          <a:p>
            <a:r>
              <a:rPr lang="en-US" dirty="0">
                <a:solidFill>
                  <a:schemeClr val="tx1">
                    <a:lumMod val="95000"/>
                    <a:lumOff val="5000"/>
                  </a:schemeClr>
                </a:solidFill>
              </a:rPr>
              <a:t>Recursion Examples</a:t>
            </a:r>
          </a:p>
        </p:txBody>
      </p:sp>
      <p:sp>
        <p:nvSpPr>
          <p:cNvPr id="3" name="Content Placeholder 2">
            <a:extLst>
              <a:ext uri="{FF2B5EF4-FFF2-40B4-BE49-F238E27FC236}">
                <a16:creationId xmlns:a16="http://schemas.microsoft.com/office/drawing/2014/main" id="{4CE5819E-7453-4633-9DED-17455957C1EF}"/>
              </a:ext>
            </a:extLst>
          </p:cNvPr>
          <p:cNvSpPr>
            <a:spLocks noGrp="1"/>
          </p:cNvSpPr>
          <p:nvPr>
            <p:ph idx="1"/>
          </p:nvPr>
        </p:nvSpPr>
        <p:spPr>
          <a:xfrm>
            <a:off x="400050" y="1100902"/>
            <a:ext cx="10515600" cy="4886045"/>
          </a:xfrm>
        </p:spPr>
        <p:txBody>
          <a:bodyPr>
            <a:normAutofit fontScale="92500" lnSpcReduction="10000"/>
          </a:bodyPr>
          <a:lstStyle/>
          <a:p>
            <a:r>
              <a:rPr lang="en-US" dirty="0">
                <a:solidFill>
                  <a:schemeClr val="accent1">
                    <a:lumMod val="75000"/>
                  </a:schemeClr>
                </a:solidFill>
              </a:rPr>
              <a:t>List sum</a:t>
            </a:r>
            <a:endParaRPr lang="en-US" dirty="0">
              <a:solidFill>
                <a:srgbClr val="7030A0"/>
              </a:solidFill>
            </a:endParaRPr>
          </a:p>
          <a:p>
            <a:endParaRPr lang="en-US" sz="800" dirty="0"/>
          </a:p>
          <a:p>
            <a:pPr>
              <a:lnSpc>
                <a:spcPct val="100000"/>
              </a:lnSpc>
            </a:pPr>
            <a:r>
              <a:rPr lang="en-US" sz="1800" dirty="0">
                <a:latin typeface="Courier New" panose="02070309020205020404" pitchFamily="49" charset="0"/>
                <a:cs typeface="Courier New" panose="02070309020205020404" pitchFamily="49" charset="0"/>
              </a:rPr>
              <a:t># Problem: sum all of the numbers in a given list</a:t>
            </a:r>
          </a:p>
          <a:p>
            <a:pPr>
              <a:lnSpc>
                <a:spcPct val="100000"/>
              </a:lnSpc>
            </a:pPr>
            <a:r>
              <a:rPr lang="en-US" sz="1800" dirty="0">
                <a:latin typeface="Courier New" panose="02070309020205020404" pitchFamily="49" charset="0"/>
                <a:cs typeface="Courier New" panose="02070309020205020404" pitchFamily="49" charset="0"/>
              </a:rPr>
              <a:t>def </a:t>
            </a:r>
            <a:r>
              <a:rPr lang="en-US" sz="1800" dirty="0" err="1">
                <a:latin typeface="Courier New" panose="02070309020205020404" pitchFamily="49" charset="0"/>
                <a:cs typeface="Courier New" panose="02070309020205020404" pitchFamily="49" charset="0"/>
              </a:rPr>
              <a:t>listSum</a:t>
            </a:r>
            <a:r>
              <a:rPr lang="en-US" sz="1800" dirty="0">
                <a:latin typeface="Courier New" panose="02070309020205020404" pitchFamily="49" charset="0"/>
                <a:cs typeface="Courier New" panose="02070309020205020404" pitchFamily="49" charset="0"/>
              </a:rPr>
              <a:t>(L):</a:t>
            </a:r>
          </a:p>
          <a:p>
            <a:pPr>
              <a:lnSpc>
                <a:spcPct val="100000"/>
              </a:lnSpc>
            </a:pPr>
            <a:r>
              <a:rPr lang="en-US" sz="1800" dirty="0">
                <a:latin typeface="Courier New" panose="02070309020205020404" pitchFamily="49" charset="0"/>
                <a:cs typeface="Courier New" panose="02070309020205020404" pitchFamily="49" charset="0"/>
              </a:rPr>
              <a:t>    # Base Case: the list is empty, so the sum is 0</a:t>
            </a:r>
          </a:p>
          <a:p>
            <a:pPr>
              <a:lnSpc>
                <a:spcPct val="100000"/>
              </a:lnSpc>
            </a:pPr>
            <a:r>
              <a:rPr lang="en-US" sz="1800" dirty="0">
                <a:latin typeface="Courier New" panose="02070309020205020404" pitchFamily="49" charset="0"/>
                <a:cs typeface="Courier New" panose="02070309020205020404" pitchFamily="49" charset="0"/>
              </a:rPr>
              <a:t>    if (</a:t>
            </a:r>
            <a:r>
              <a:rPr lang="en-US" sz="1800" dirty="0" err="1">
                <a:latin typeface="Courier New" panose="02070309020205020404" pitchFamily="49" charset="0"/>
                <a:cs typeface="Courier New" panose="02070309020205020404" pitchFamily="49" charset="0"/>
              </a:rPr>
              <a:t>len</a:t>
            </a:r>
            <a:r>
              <a:rPr lang="en-US" sz="1800" dirty="0">
                <a:latin typeface="Courier New" panose="02070309020205020404" pitchFamily="49" charset="0"/>
                <a:cs typeface="Courier New" panose="02070309020205020404" pitchFamily="49" charset="0"/>
              </a:rPr>
              <a:t>(L) == 0):</a:t>
            </a:r>
          </a:p>
          <a:p>
            <a:pPr>
              <a:lnSpc>
                <a:spcPct val="100000"/>
              </a:lnSpc>
            </a:pPr>
            <a:r>
              <a:rPr lang="en-US" sz="1800" dirty="0">
                <a:latin typeface="Courier New" panose="02070309020205020404" pitchFamily="49" charset="0"/>
                <a:cs typeface="Courier New" panose="02070309020205020404" pitchFamily="49" charset="0"/>
              </a:rPr>
              <a:t>        return 0</a:t>
            </a:r>
          </a:p>
          <a:p>
            <a:pPr>
              <a:lnSpc>
                <a:spcPct val="100000"/>
              </a:lnSpc>
            </a:pPr>
            <a:r>
              <a:rPr lang="en-US" sz="1800" dirty="0">
                <a:latin typeface="Courier New" panose="02070309020205020404" pitchFamily="49" charset="0"/>
                <a:cs typeface="Courier New" panose="02070309020205020404" pitchFamily="49" charset="0"/>
              </a:rPr>
              <a:t>    else:</a:t>
            </a:r>
          </a:p>
          <a:p>
            <a:pPr>
              <a:lnSpc>
                <a:spcPct val="100000"/>
              </a:lnSpc>
            </a:pPr>
            <a:r>
              <a:rPr lang="en-US" sz="1800" dirty="0">
                <a:latin typeface="Courier New" panose="02070309020205020404" pitchFamily="49" charset="0"/>
                <a:cs typeface="Courier New" panose="02070309020205020404" pitchFamily="49" charset="0"/>
              </a:rPr>
              <a:t>        # Recursive Case: assume we already know the sum of the entire list</a:t>
            </a:r>
          </a:p>
          <a:p>
            <a:pPr>
              <a:lnSpc>
                <a:spcPct val="100000"/>
              </a:lnSpc>
            </a:pPr>
            <a:r>
              <a:rPr lang="en-US" sz="1800" dirty="0">
                <a:latin typeface="Courier New" panose="02070309020205020404" pitchFamily="49" charset="0"/>
                <a:cs typeface="Courier New" panose="02070309020205020404" pitchFamily="49" charset="0"/>
              </a:rPr>
              <a:t>        # after the first element. Add that sum to the first element.</a:t>
            </a:r>
          </a:p>
          <a:p>
            <a:pPr>
              <a:lnSpc>
                <a:spcPct val="100000"/>
              </a:lnSpc>
            </a:pPr>
            <a:r>
              <a:rPr lang="en-US" sz="1800" dirty="0">
                <a:latin typeface="Courier New" panose="02070309020205020404" pitchFamily="49" charset="0"/>
                <a:cs typeface="Courier New" panose="02070309020205020404" pitchFamily="49" charset="0"/>
              </a:rPr>
              <a:t>        return L[0] + </a:t>
            </a:r>
            <a:r>
              <a:rPr lang="en-US" sz="1800" dirty="0" err="1">
                <a:latin typeface="Courier New" panose="02070309020205020404" pitchFamily="49" charset="0"/>
                <a:cs typeface="Courier New" panose="02070309020205020404" pitchFamily="49" charset="0"/>
              </a:rPr>
              <a:t>listSum</a:t>
            </a:r>
            <a:r>
              <a:rPr lang="en-US" sz="1800" dirty="0">
                <a:latin typeface="Courier New" panose="02070309020205020404" pitchFamily="49" charset="0"/>
                <a:cs typeface="Courier New" panose="02070309020205020404" pitchFamily="49" charset="0"/>
              </a:rPr>
              <a:t>(L[1:])</a:t>
            </a:r>
          </a:p>
          <a:p>
            <a:pPr>
              <a:lnSpc>
                <a:spcPct val="100000"/>
              </a:lnSpc>
            </a:pPr>
            <a:endParaRPr lang="en-US" sz="1800" dirty="0">
              <a:latin typeface="Courier New" panose="02070309020205020404" pitchFamily="49" charset="0"/>
              <a:cs typeface="Courier New" panose="02070309020205020404" pitchFamily="49" charset="0"/>
            </a:endParaRPr>
          </a:p>
          <a:p>
            <a:pPr>
              <a:lnSpc>
                <a:spcPct val="100000"/>
              </a:lnSpc>
            </a:pPr>
            <a:r>
              <a:rPr lang="en-US" sz="1800" dirty="0">
                <a:latin typeface="Courier New" panose="02070309020205020404" pitchFamily="49" charset="0"/>
                <a:cs typeface="Courier New" panose="02070309020205020404" pitchFamily="49" charset="0"/>
              </a:rPr>
              <a:t>print(</a:t>
            </a:r>
            <a:r>
              <a:rPr lang="en-US" sz="1800" dirty="0" err="1">
                <a:latin typeface="Courier New" panose="02070309020205020404" pitchFamily="49" charset="0"/>
                <a:cs typeface="Courier New" panose="02070309020205020404" pitchFamily="49" charset="0"/>
              </a:rPr>
              <a:t>listSum</a:t>
            </a:r>
            <a:r>
              <a:rPr lang="en-US" sz="1800" dirty="0">
                <a:latin typeface="Courier New" panose="02070309020205020404" pitchFamily="49" charset="0"/>
                <a:cs typeface="Courier New" panose="02070309020205020404" pitchFamily="49" charset="0"/>
              </a:rPr>
              <a:t>([2,3,5,7,11])) # 28</a:t>
            </a:r>
          </a:p>
        </p:txBody>
      </p:sp>
      <p:sp>
        <p:nvSpPr>
          <p:cNvPr id="5" name="TextBox 4">
            <a:extLst>
              <a:ext uri="{FF2B5EF4-FFF2-40B4-BE49-F238E27FC236}">
                <a16:creationId xmlns:a16="http://schemas.microsoft.com/office/drawing/2014/main" id="{5DEA7498-39E0-41F7-BF91-875923050C7B}"/>
              </a:ext>
            </a:extLst>
          </p:cNvPr>
          <p:cNvSpPr txBox="1"/>
          <p:nvPr/>
        </p:nvSpPr>
        <p:spPr>
          <a:xfrm>
            <a:off x="485775" y="6331414"/>
            <a:ext cx="3182842" cy="369332"/>
          </a:xfrm>
          <a:prstGeom prst="rect">
            <a:avLst/>
          </a:prstGeom>
          <a:noFill/>
        </p:spPr>
        <p:txBody>
          <a:bodyPr wrap="square">
            <a:spAutoFit/>
          </a:bodyPr>
          <a:lstStyle/>
          <a:p>
            <a:r>
              <a:rPr lang="en-US" sz="1800" dirty="0">
                <a:solidFill>
                  <a:schemeClr val="bg1">
                    <a:lumMod val="65000"/>
                  </a:schemeClr>
                </a:solidFill>
              </a:rPr>
              <a:t>Slide credit: CMU 15-112</a:t>
            </a:r>
            <a:endParaRPr lang="en-US" dirty="0">
              <a:solidFill>
                <a:schemeClr val="bg1">
                  <a:lumMod val="65000"/>
                </a:schemeClr>
              </a:solidFill>
            </a:endParaRPr>
          </a:p>
        </p:txBody>
      </p:sp>
    </p:spTree>
    <p:extLst>
      <p:ext uri="{BB962C8B-B14F-4D97-AF65-F5344CB8AC3E}">
        <p14:creationId xmlns:p14="http://schemas.microsoft.com/office/powerpoint/2010/main" val="4096425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400050" y="261172"/>
            <a:ext cx="10515600" cy="839730"/>
          </a:xfrm>
        </p:spPr>
        <p:txBody>
          <a:bodyPr/>
          <a:lstStyle/>
          <a:p>
            <a:r>
              <a:rPr lang="en-US" dirty="0">
                <a:solidFill>
                  <a:schemeClr val="tx1">
                    <a:lumMod val="95000"/>
                    <a:lumOff val="5000"/>
                  </a:schemeClr>
                </a:solidFill>
              </a:rPr>
              <a:t>Recursion Examples</a:t>
            </a:r>
          </a:p>
        </p:txBody>
      </p:sp>
      <p:sp>
        <p:nvSpPr>
          <p:cNvPr id="3" name="Content Placeholder 2">
            <a:extLst>
              <a:ext uri="{FF2B5EF4-FFF2-40B4-BE49-F238E27FC236}">
                <a16:creationId xmlns:a16="http://schemas.microsoft.com/office/drawing/2014/main" id="{4CE5819E-7453-4633-9DED-17455957C1EF}"/>
              </a:ext>
            </a:extLst>
          </p:cNvPr>
          <p:cNvSpPr>
            <a:spLocks noGrp="1"/>
          </p:cNvSpPr>
          <p:nvPr>
            <p:ph idx="1"/>
          </p:nvPr>
        </p:nvSpPr>
        <p:spPr>
          <a:xfrm>
            <a:off x="400050" y="1100902"/>
            <a:ext cx="10515600" cy="4886045"/>
          </a:xfrm>
        </p:spPr>
        <p:txBody>
          <a:bodyPr>
            <a:normAutofit/>
          </a:bodyPr>
          <a:lstStyle/>
          <a:p>
            <a:r>
              <a:rPr lang="en-US" dirty="0">
                <a:solidFill>
                  <a:schemeClr val="accent1">
                    <a:lumMod val="75000"/>
                  </a:schemeClr>
                </a:solidFill>
              </a:rPr>
              <a:t>Power</a:t>
            </a:r>
            <a:endParaRPr lang="en-US" dirty="0">
              <a:solidFill>
                <a:srgbClr val="7030A0"/>
              </a:solidFill>
            </a:endParaRPr>
          </a:p>
          <a:p>
            <a:endParaRPr lang="en-US" sz="800" dirty="0"/>
          </a:p>
          <a:p>
            <a:pPr>
              <a:lnSpc>
                <a:spcPct val="100000"/>
              </a:lnSpc>
            </a:pPr>
            <a:r>
              <a:rPr lang="en-US" sz="1800" dirty="0">
                <a:latin typeface="Courier New" panose="02070309020205020404" pitchFamily="49" charset="0"/>
                <a:cs typeface="Courier New" panose="02070309020205020404" pitchFamily="49" charset="0"/>
              </a:rPr>
              <a:t># Problem: raise the number base to the given exponent</a:t>
            </a:r>
          </a:p>
          <a:p>
            <a:pPr>
              <a:lnSpc>
                <a:spcPct val="100000"/>
              </a:lnSpc>
            </a:pPr>
            <a:r>
              <a:rPr lang="en-US" sz="1800" dirty="0">
                <a:latin typeface="Courier New" panose="02070309020205020404" pitchFamily="49" charset="0"/>
                <a:cs typeface="Courier New" panose="02070309020205020404" pitchFamily="49" charset="0"/>
              </a:rPr>
              <a:t>def power(base, </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a:t>
            </a:r>
          </a:p>
          <a:p>
            <a:pPr>
              <a:lnSpc>
                <a:spcPct val="100000"/>
              </a:lnSpc>
            </a:pPr>
            <a:r>
              <a:rPr lang="en-US" sz="1800" dirty="0">
                <a:latin typeface="Courier New" panose="02070309020205020404" pitchFamily="49" charset="0"/>
                <a:cs typeface="Courier New" panose="02070309020205020404" pitchFamily="49" charset="0"/>
              </a:rPr>
              <a:t>    # assume </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 is non-negative integer</a:t>
            </a:r>
          </a:p>
          <a:p>
            <a:pPr>
              <a:lnSpc>
                <a:spcPct val="100000"/>
              </a:lnSpc>
            </a:pPr>
            <a:r>
              <a:rPr lang="en-US" sz="1800" dirty="0">
                <a:latin typeface="Courier New" panose="02070309020205020404" pitchFamily="49" charset="0"/>
                <a:cs typeface="Courier New" panose="02070309020205020404" pitchFamily="49" charset="0"/>
              </a:rPr>
              <a:t>    if (</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 == 0):</a:t>
            </a:r>
          </a:p>
          <a:p>
            <a:pPr>
              <a:lnSpc>
                <a:spcPct val="100000"/>
              </a:lnSpc>
            </a:pPr>
            <a:r>
              <a:rPr lang="en-US" sz="1800" dirty="0">
                <a:latin typeface="Courier New" panose="02070309020205020404" pitchFamily="49" charset="0"/>
                <a:cs typeface="Courier New" panose="02070309020205020404" pitchFamily="49" charset="0"/>
              </a:rPr>
              <a:t>        return 1</a:t>
            </a:r>
          </a:p>
          <a:p>
            <a:pPr>
              <a:lnSpc>
                <a:spcPct val="100000"/>
              </a:lnSpc>
            </a:pPr>
            <a:r>
              <a:rPr lang="en-US" sz="1800" dirty="0">
                <a:latin typeface="Courier New" panose="02070309020205020404" pitchFamily="49" charset="0"/>
                <a:cs typeface="Courier New" panose="02070309020205020404" pitchFamily="49" charset="0"/>
              </a:rPr>
              <a:t>    else:</a:t>
            </a:r>
          </a:p>
          <a:p>
            <a:pPr>
              <a:lnSpc>
                <a:spcPct val="100000"/>
              </a:lnSpc>
            </a:pPr>
            <a:r>
              <a:rPr lang="en-US" sz="1800" dirty="0">
                <a:latin typeface="Courier New" panose="02070309020205020404" pitchFamily="49" charset="0"/>
                <a:cs typeface="Courier New" panose="02070309020205020404" pitchFamily="49" charset="0"/>
              </a:rPr>
              <a:t>        return base * power(base, expt-1)</a:t>
            </a:r>
          </a:p>
          <a:p>
            <a:pPr>
              <a:lnSpc>
                <a:spcPct val="100000"/>
              </a:lnSpc>
            </a:pPr>
            <a:endParaRPr lang="en-US" sz="1800" dirty="0">
              <a:latin typeface="Courier New" panose="02070309020205020404" pitchFamily="49" charset="0"/>
              <a:cs typeface="Courier New" panose="02070309020205020404" pitchFamily="49" charset="0"/>
            </a:endParaRPr>
          </a:p>
          <a:p>
            <a:pPr>
              <a:lnSpc>
                <a:spcPct val="100000"/>
              </a:lnSpc>
            </a:pPr>
            <a:r>
              <a:rPr lang="en-US" sz="1800" dirty="0">
                <a:latin typeface="Courier New" panose="02070309020205020404" pitchFamily="49" charset="0"/>
                <a:cs typeface="Courier New" panose="02070309020205020404" pitchFamily="49" charset="0"/>
              </a:rPr>
              <a:t>print(power(2,5)) # 32</a:t>
            </a:r>
          </a:p>
        </p:txBody>
      </p:sp>
      <p:sp>
        <p:nvSpPr>
          <p:cNvPr id="5" name="TextBox 4">
            <a:extLst>
              <a:ext uri="{FF2B5EF4-FFF2-40B4-BE49-F238E27FC236}">
                <a16:creationId xmlns:a16="http://schemas.microsoft.com/office/drawing/2014/main" id="{62C5C36F-4189-4750-975F-FB3CEB752C32}"/>
              </a:ext>
            </a:extLst>
          </p:cNvPr>
          <p:cNvSpPr txBox="1"/>
          <p:nvPr/>
        </p:nvSpPr>
        <p:spPr>
          <a:xfrm>
            <a:off x="485774" y="6331414"/>
            <a:ext cx="3557415" cy="369332"/>
          </a:xfrm>
          <a:prstGeom prst="rect">
            <a:avLst/>
          </a:prstGeom>
          <a:noFill/>
        </p:spPr>
        <p:txBody>
          <a:bodyPr wrap="square">
            <a:spAutoFit/>
          </a:bodyPr>
          <a:lstStyle/>
          <a:p>
            <a:r>
              <a:rPr lang="en-US" sz="1800" dirty="0">
                <a:solidFill>
                  <a:schemeClr val="bg1">
                    <a:lumMod val="65000"/>
                  </a:schemeClr>
                </a:solidFill>
              </a:rPr>
              <a:t>Slide credit: CMU 15-112</a:t>
            </a:r>
            <a:endParaRPr lang="en-US" dirty="0">
              <a:solidFill>
                <a:schemeClr val="bg1">
                  <a:lumMod val="65000"/>
                </a:schemeClr>
              </a:solidFill>
            </a:endParaRPr>
          </a:p>
        </p:txBody>
      </p:sp>
    </p:spTree>
    <p:extLst>
      <p:ext uri="{BB962C8B-B14F-4D97-AF65-F5344CB8AC3E}">
        <p14:creationId xmlns:p14="http://schemas.microsoft.com/office/powerpoint/2010/main" val="615447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400050" y="261172"/>
            <a:ext cx="10515600" cy="839730"/>
          </a:xfrm>
        </p:spPr>
        <p:txBody>
          <a:bodyPr/>
          <a:lstStyle/>
          <a:p>
            <a:r>
              <a:rPr lang="en-US" dirty="0">
                <a:solidFill>
                  <a:schemeClr val="tx1">
                    <a:lumMod val="95000"/>
                    <a:lumOff val="5000"/>
                  </a:schemeClr>
                </a:solidFill>
              </a:rPr>
              <a:t>Recursion Examples</a:t>
            </a:r>
          </a:p>
        </p:txBody>
      </p:sp>
      <p:sp>
        <p:nvSpPr>
          <p:cNvPr id="3" name="Content Placeholder 2">
            <a:extLst>
              <a:ext uri="{FF2B5EF4-FFF2-40B4-BE49-F238E27FC236}">
                <a16:creationId xmlns:a16="http://schemas.microsoft.com/office/drawing/2014/main" id="{4CE5819E-7453-4633-9DED-17455957C1EF}"/>
              </a:ext>
            </a:extLst>
          </p:cNvPr>
          <p:cNvSpPr>
            <a:spLocks noGrp="1"/>
          </p:cNvSpPr>
          <p:nvPr>
            <p:ph idx="1"/>
          </p:nvPr>
        </p:nvSpPr>
        <p:spPr>
          <a:xfrm>
            <a:off x="400050" y="1100902"/>
            <a:ext cx="10515600" cy="4886045"/>
          </a:xfrm>
        </p:spPr>
        <p:txBody>
          <a:bodyPr>
            <a:normAutofit fontScale="92500" lnSpcReduction="20000"/>
          </a:bodyPr>
          <a:lstStyle/>
          <a:p>
            <a:r>
              <a:rPr lang="en-US" dirty="0">
                <a:solidFill>
                  <a:schemeClr val="accent1">
                    <a:lumMod val="75000"/>
                  </a:schemeClr>
                </a:solidFill>
              </a:rPr>
              <a:t>Power – Multiple base cases!</a:t>
            </a:r>
            <a:endParaRPr lang="en-US" dirty="0">
              <a:solidFill>
                <a:srgbClr val="7030A0"/>
              </a:solidFill>
            </a:endParaRPr>
          </a:p>
          <a:p>
            <a:endParaRPr lang="en-US" sz="800" dirty="0"/>
          </a:p>
          <a:p>
            <a:pPr>
              <a:lnSpc>
                <a:spcPct val="100000"/>
              </a:lnSpc>
            </a:pPr>
            <a:r>
              <a:rPr lang="en-US" sz="1800" dirty="0">
                <a:latin typeface="Courier New" panose="02070309020205020404" pitchFamily="49" charset="0"/>
                <a:cs typeface="Courier New" panose="02070309020205020404" pitchFamily="49" charset="0"/>
              </a:rPr>
              <a:t>def power(base, </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a:t>
            </a:r>
          </a:p>
          <a:p>
            <a:pPr>
              <a:lnSpc>
                <a:spcPct val="100000"/>
              </a:lnSpc>
            </a:pPr>
            <a:r>
              <a:rPr lang="en-US" sz="1800" dirty="0">
                <a:latin typeface="Courier New" panose="02070309020205020404" pitchFamily="49" charset="0"/>
                <a:cs typeface="Courier New" panose="02070309020205020404" pitchFamily="49" charset="0"/>
              </a:rPr>
              <a:t>    # This version allows for negative exponents</a:t>
            </a:r>
          </a:p>
          <a:p>
            <a:pPr>
              <a:lnSpc>
                <a:spcPct val="100000"/>
              </a:lnSpc>
            </a:pPr>
            <a:r>
              <a:rPr lang="en-US" sz="1800" dirty="0">
                <a:latin typeface="Courier New" panose="02070309020205020404" pitchFamily="49" charset="0"/>
                <a:cs typeface="Courier New" panose="02070309020205020404" pitchFamily="49" charset="0"/>
              </a:rPr>
              <a:t>    # It still assumes that </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 is an integer, however.</a:t>
            </a:r>
          </a:p>
          <a:p>
            <a:pPr>
              <a:lnSpc>
                <a:spcPct val="100000"/>
              </a:lnSpc>
            </a:pPr>
            <a:r>
              <a:rPr lang="en-US" sz="1800" dirty="0">
                <a:latin typeface="Courier New" panose="02070309020205020404" pitchFamily="49" charset="0"/>
                <a:cs typeface="Courier New" panose="02070309020205020404" pitchFamily="49" charset="0"/>
              </a:rPr>
              <a:t>    if (</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 == 0):</a:t>
            </a:r>
          </a:p>
          <a:p>
            <a:pPr>
              <a:lnSpc>
                <a:spcPct val="100000"/>
              </a:lnSpc>
            </a:pPr>
            <a:r>
              <a:rPr lang="en-US" sz="1800" dirty="0">
                <a:latin typeface="Courier New" panose="02070309020205020404" pitchFamily="49" charset="0"/>
                <a:cs typeface="Courier New" panose="02070309020205020404" pitchFamily="49" charset="0"/>
              </a:rPr>
              <a:t>        return 1</a:t>
            </a:r>
          </a:p>
          <a:p>
            <a:pPr>
              <a:lnSpc>
                <a:spcPct val="100000"/>
              </a:lnSpc>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elif</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 &lt; 0): # new recursive case!</a:t>
            </a:r>
          </a:p>
          <a:p>
            <a:pPr>
              <a:lnSpc>
                <a:spcPct val="100000"/>
              </a:lnSpc>
            </a:pPr>
            <a:r>
              <a:rPr lang="en-US" sz="1800" dirty="0">
                <a:latin typeface="Courier New" panose="02070309020205020404" pitchFamily="49" charset="0"/>
                <a:cs typeface="Courier New" panose="02070309020205020404" pitchFamily="49" charset="0"/>
              </a:rPr>
              <a:t>        return 1.0 / power(base, abs(</a:t>
            </a:r>
            <a:r>
              <a:rPr lang="en-US" sz="1800" dirty="0" err="1">
                <a:latin typeface="Courier New" panose="02070309020205020404" pitchFamily="49" charset="0"/>
                <a:cs typeface="Courier New" panose="02070309020205020404" pitchFamily="49" charset="0"/>
              </a:rPr>
              <a:t>expt</a:t>
            </a:r>
            <a:r>
              <a:rPr lang="en-US" sz="1800" dirty="0">
                <a:latin typeface="Courier New" panose="02070309020205020404" pitchFamily="49" charset="0"/>
                <a:cs typeface="Courier New" panose="02070309020205020404" pitchFamily="49" charset="0"/>
              </a:rPr>
              <a:t>))</a:t>
            </a:r>
          </a:p>
          <a:p>
            <a:pPr>
              <a:lnSpc>
                <a:spcPct val="100000"/>
              </a:lnSpc>
            </a:pPr>
            <a:r>
              <a:rPr lang="en-US" sz="1800" dirty="0">
                <a:latin typeface="Courier New" panose="02070309020205020404" pitchFamily="49" charset="0"/>
                <a:cs typeface="Courier New" panose="02070309020205020404" pitchFamily="49" charset="0"/>
              </a:rPr>
              <a:t>    else:</a:t>
            </a:r>
          </a:p>
          <a:p>
            <a:pPr>
              <a:lnSpc>
                <a:spcPct val="100000"/>
              </a:lnSpc>
            </a:pPr>
            <a:r>
              <a:rPr lang="en-US" sz="1800" dirty="0">
                <a:latin typeface="Courier New" panose="02070309020205020404" pitchFamily="49" charset="0"/>
                <a:cs typeface="Courier New" panose="02070309020205020404" pitchFamily="49" charset="0"/>
              </a:rPr>
              <a:t>        return base * power(base, expt-1)</a:t>
            </a:r>
          </a:p>
          <a:p>
            <a:pPr>
              <a:lnSpc>
                <a:spcPct val="100000"/>
              </a:lnSpc>
            </a:pPr>
            <a:endParaRPr lang="en-US" sz="1800" dirty="0">
              <a:latin typeface="Courier New" panose="02070309020205020404" pitchFamily="49" charset="0"/>
              <a:cs typeface="Courier New" panose="02070309020205020404" pitchFamily="49" charset="0"/>
            </a:endParaRPr>
          </a:p>
          <a:p>
            <a:pPr>
              <a:lnSpc>
                <a:spcPct val="100000"/>
              </a:lnSpc>
            </a:pPr>
            <a:r>
              <a:rPr lang="en-US" sz="1800" dirty="0">
                <a:latin typeface="Courier New" panose="02070309020205020404" pitchFamily="49" charset="0"/>
                <a:cs typeface="Courier New" panose="02070309020205020404" pitchFamily="49" charset="0"/>
              </a:rPr>
              <a:t>print(power(2,5)) # 32</a:t>
            </a:r>
          </a:p>
          <a:p>
            <a:pPr>
              <a:lnSpc>
                <a:spcPct val="100000"/>
              </a:lnSpc>
            </a:pPr>
            <a:r>
              <a:rPr lang="en-US" sz="1800" dirty="0">
                <a:latin typeface="Courier New" panose="02070309020205020404" pitchFamily="49" charset="0"/>
                <a:cs typeface="Courier New" panose="02070309020205020404" pitchFamily="49" charset="0"/>
              </a:rPr>
              <a:t>print(power(2,-5)) # 1/32 = 0.03125</a:t>
            </a:r>
          </a:p>
        </p:txBody>
      </p:sp>
      <p:sp>
        <p:nvSpPr>
          <p:cNvPr id="5" name="TextBox 4">
            <a:extLst>
              <a:ext uri="{FF2B5EF4-FFF2-40B4-BE49-F238E27FC236}">
                <a16:creationId xmlns:a16="http://schemas.microsoft.com/office/drawing/2014/main" id="{E1CB49ED-7907-4FC2-961A-12DE07672A45}"/>
              </a:ext>
            </a:extLst>
          </p:cNvPr>
          <p:cNvSpPr txBox="1"/>
          <p:nvPr/>
        </p:nvSpPr>
        <p:spPr>
          <a:xfrm rot="16200000">
            <a:off x="10530728" y="5027050"/>
            <a:ext cx="2721350" cy="369332"/>
          </a:xfrm>
          <a:prstGeom prst="rect">
            <a:avLst/>
          </a:prstGeom>
          <a:noFill/>
        </p:spPr>
        <p:txBody>
          <a:bodyPr wrap="square">
            <a:spAutoFit/>
          </a:bodyPr>
          <a:lstStyle/>
          <a:p>
            <a:r>
              <a:rPr lang="en-US" sz="1800" dirty="0">
                <a:solidFill>
                  <a:schemeClr val="bg1">
                    <a:lumMod val="65000"/>
                  </a:schemeClr>
                </a:solidFill>
              </a:rPr>
              <a:t>Slide credit: CMU 15-112</a:t>
            </a:r>
            <a:endParaRPr lang="en-US" dirty="0">
              <a:solidFill>
                <a:schemeClr val="bg1">
                  <a:lumMod val="65000"/>
                </a:schemeClr>
              </a:solidFill>
            </a:endParaRPr>
          </a:p>
        </p:txBody>
      </p:sp>
    </p:spTree>
    <p:extLst>
      <p:ext uri="{BB962C8B-B14F-4D97-AF65-F5344CB8AC3E}">
        <p14:creationId xmlns:p14="http://schemas.microsoft.com/office/powerpoint/2010/main" val="3989407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98C6-F4F9-4B85-A0D9-8BF68850EF2B}"/>
              </a:ext>
            </a:extLst>
          </p:cNvPr>
          <p:cNvSpPr>
            <a:spLocks noGrp="1"/>
          </p:cNvSpPr>
          <p:nvPr>
            <p:ph type="title"/>
          </p:nvPr>
        </p:nvSpPr>
        <p:spPr>
          <a:xfrm>
            <a:off x="838200" y="3009135"/>
            <a:ext cx="10515600" cy="839730"/>
          </a:xfrm>
        </p:spPr>
        <p:txBody>
          <a:bodyPr/>
          <a:lstStyle/>
          <a:p>
            <a:r>
              <a:rPr lang="en-US" dirty="0"/>
              <a:t>Recursion in memory</a:t>
            </a:r>
          </a:p>
        </p:txBody>
      </p:sp>
      <p:sp>
        <p:nvSpPr>
          <p:cNvPr id="3" name="Content Placeholder 2">
            <a:extLst>
              <a:ext uri="{FF2B5EF4-FFF2-40B4-BE49-F238E27FC236}">
                <a16:creationId xmlns:a16="http://schemas.microsoft.com/office/drawing/2014/main" id="{C791AC2D-D2EA-47C6-89E4-E609F83E4AC1}"/>
              </a:ext>
            </a:extLst>
          </p:cNvPr>
          <p:cNvSpPr>
            <a:spLocks noGrp="1"/>
          </p:cNvSpPr>
          <p:nvPr>
            <p:ph idx="1"/>
          </p:nvPr>
        </p:nvSpPr>
        <p:spPr>
          <a:xfrm>
            <a:off x="552099" y="1113178"/>
            <a:ext cx="10515600" cy="5377691"/>
          </a:xfrm>
        </p:spPr>
        <p:txBody>
          <a:bodyPr>
            <a:normAutofit/>
          </a:bodyPr>
          <a:lstStyle/>
          <a:p>
            <a:endParaRPr lang="en-US" dirty="0"/>
          </a:p>
        </p:txBody>
      </p:sp>
    </p:spTree>
    <p:extLst>
      <p:ext uri="{BB962C8B-B14F-4D97-AF65-F5344CB8AC3E}">
        <p14:creationId xmlns:p14="http://schemas.microsoft.com/office/powerpoint/2010/main" val="4216609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98C6-F4F9-4B85-A0D9-8BF68850EF2B}"/>
              </a:ext>
            </a:extLst>
          </p:cNvPr>
          <p:cNvSpPr>
            <a:spLocks noGrp="1"/>
          </p:cNvSpPr>
          <p:nvPr>
            <p:ph type="title"/>
          </p:nvPr>
        </p:nvSpPr>
        <p:spPr/>
        <p:txBody>
          <a:bodyPr/>
          <a:lstStyle/>
          <a:p>
            <a:r>
              <a:rPr lang="en-US" dirty="0"/>
              <a:t>Iterative vs Recursive</a:t>
            </a:r>
          </a:p>
        </p:txBody>
      </p:sp>
      <p:sp>
        <p:nvSpPr>
          <p:cNvPr id="3" name="Content Placeholder 2">
            <a:extLst>
              <a:ext uri="{FF2B5EF4-FFF2-40B4-BE49-F238E27FC236}">
                <a16:creationId xmlns:a16="http://schemas.microsoft.com/office/drawing/2014/main" id="{C791AC2D-D2EA-47C6-89E4-E609F83E4AC1}"/>
              </a:ext>
            </a:extLst>
          </p:cNvPr>
          <p:cNvSpPr>
            <a:spLocks noGrp="1"/>
          </p:cNvSpPr>
          <p:nvPr>
            <p:ph idx="1"/>
          </p:nvPr>
        </p:nvSpPr>
        <p:spPr>
          <a:xfrm>
            <a:off x="552099" y="1113178"/>
            <a:ext cx="10515600" cy="5377691"/>
          </a:xfrm>
        </p:spPr>
        <p:txBody>
          <a:bodyPr/>
          <a:lstStyle/>
          <a:p>
            <a:r>
              <a:rPr lang="en-US" dirty="0">
                <a:sym typeface="Wingdings" panose="05000000000000000000" pitchFamily="2" charset="2"/>
              </a:rPr>
              <a:t>Factorial</a:t>
            </a:r>
          </a:p>
          <a:p>
            <a:endParaRPr lang="en-US" dirty="0">
              <a:solidFill>
                <a:schemeClr val="tx1"/>
              </a:solidFill>
              <a:sym typeface="Wingdings" panose="05000000000000000000" pitchFamily="2" charset="2"/>
            </a:endParaRPr>
          </a:p>
          <a:p>
            <a:endParaRPr lang="en-US" dirty="0">
              <a:solidFill>
                <a:schemeClr val="tx1"/>
              </a:solidFill>
              <a:sym typeface="Wingdings" panose="05000000000000000000" pitchFamily="2" charset="2"/>
            </a:endParaRPr>
          </a:p>
          <a:p>
            <a:pPr marL="457200" indent="-457200">
              <a:buFont typeface="Wingdings" panose="05000000000000000000" pitchFamily="2" charset="2"/>
              <a:buChar char="§"/>
            </a:pPr>
            <a:endParaRPr lang="en-US" dirty="0">
              <a:solidFill>
                <a:schemeClr val="tx1"/>
              </a:solidFill>
              <a:sym typeface="Wingdings" panose="05000000000000000000" pitchFamily="2" charset="2"/>
            </a:endParaRPr>
          </a:p>
          <a:p>
            <a:endParaRPr lang="en-US" dirty="0"/>
          </a:p>
        </p:txBody>
      </p:sp>
      <p:sp>
        <p:nvSpPr>
          <p:cNvPr id="5" name="TextBox 4">
            <a:extLst>
              <a:ext uri="{FF2B5EF4-FFF2-40B4-BE49-F238E27FC236}">
                <a16:creationId xmlns:a16="http://schemas.microsoft.com/office/drawing/2014/main" id="{D51170A0-5F29-454A-BBE1-955E170C5247}"/>
              </a:ext>
            </a:extLst>
          </p:cNvPr>
          <p:cNvSpPr txBox="1"/>
          <p:nvPr/>
        </p:nvSpPr>
        <p:spPr>
          <a:xfrm>
            <a:off x="552099" y="1903363"/>
            <a:ext cx="5143851" cy="2985433"/>
          </a:xfrm>
          <a:prstGeom prst="rect">
            <a:avLst/>
          </a:prstGeom>
          <a:noFill/>
        </p:spPr>
        <p:txBody>
          <a:bodyPr wrap="square">
            <a:spAutoFit/>
          </a:bodyPr>
          <a:lstStyle/>
          <a:p>
            <a:r>
              <a:rPr lang="en-US" sz="2400" dirty="0"/>
              <a:t>Iterative</a:t>
            </a:r>
          </a:p>
          <a:p>
            <a:endParaRPr lang="en-US" sz="2400" dirty="0"/>
          </a:p>
          <a:p>
            <a:r>
              <a:rPr lang="en-US" sz="2000" dirty="0">
                <a:latin typeface="Courier New" panose="02070309020205020404" pitchFamily="49" charset="0"/>
                <a:cs typeface="Courier New" panose="02070309020205020404" pitchFamily="49" charset="0"/>
              </a:rPr>
              <a:t>def </a:t>
            </a:r>
            <a:r>
              <a:rPr lang="en-US" sz="2000" dirty="0">
                <a:solidFill>
                  <a:srgbClr val="7030A0"/>
                </a:solidFill>
                <a:latin typeface="Courier New" panose="02070309020205020404" pitchFamily="49" charset="0"/>
                <a:cs typeface="Courier New" panose="02070309020205020404" pitchFamily="49" charset="0"/>
              </a:rPr>
              <a:t>factorial</a:t>
            </a:r>
            <a:r>
              <a:rPr lang="en-US" sz="2000" dirty="0">
                <a:latin typeface="Courier New" panose="02070309020205020404" pitchFamily="49" charset="0"/>
                <a:cs typeface="Courier New" panose="02070309020205020404" pitchFamily="49" charset="0"/>
              </a:rPr>
              <a:t>(n):</a:t>
            </a:r>
          </a:p>
          <a:p>
            <a:r>
              <a:rPr lang="en-US" sz="2000" dirty="0">
                <a:latin typeface="Courier New" panose="02070309020205020404" pitchFamily="49" charset="0"/>
                <a:cs typeface="Courier New" panose="02070309020205020404" pitchFamily="49" charset="0"/>
              </a:rPr>
              <a:t>    result = 1</a:t>
            </a:r>
          </a:p>
          <a:p>
            <a:r>
              <a:rPr lang="en-US" sz="2000" dirty="0">
                <a:latin typeface="Courier New" panose="02070309020205020404" pitchFamily="49" charset="0"/>
                <a:cs typeface="Courier New" panose="02070309020205020404" pitchFamily="49" charset="0"/>
              </a:rPr>
              <a:t>    for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in range(2, n + 1):</a:t>
            </a:r>
          </a:p>
          <a:p>
            <a:r>
              <a:rPr lang="en-US" sz="2000" dirty="0">
                <a:latin typeface="Courier New" panose="02070309020205020404" pitchFamily="49" charset="0"/>
                <a:cs typeface="Courier New" panose="02070309020205020404" pitchFamily="49" charset="0"/>
              </a:rPr>
              <a:t>        result *= </a:t>
            </a:r>
            <a:r>
              <a:rPr lang="en-US" sz="2000" dirty="0" err="1">
                <a:latin typeface="Courier New" panose="02070309020205020404" pitchFamily="49" charset="0"/>
                <a:cs typeface="Courier New" panose="02070309020205020404" pitchFamily="49" charset="0"/>
              </a:rPr>
              <a:t>i</a:t>
            </a:r>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    return result</a:t>
            </a:r>
          </a:p>
          <a:p>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print(</a:t>
            </a:r>
            <a:r>
              <a:rPr lang="en-US" sz="2000" dirty="0">
                <a:solidFill>
                  <a:srgbClr val="7030A0"/>
                </a:solidFill>
                <a:latin typeface="Courier New" panose="02070309020205020404" pitchFamily="49" charset="0"/>
                <a:cs typeface="Courier New" panose="02070309020205020404" pitchFamily="49" charset="0"/>
              </a:rPr>
              <a:t>factorial</a:t>
            </a:r>
            <a:r>
              <a:rPr lang="en-US" sz="2000" dirty="0">
                <a:latin typeface="Courier New" panose="02070309020205020404" pitchFamily="49" charset="0"/>
                <a:cs typeface="Courier New" panose="02070309020205020404" pitchFamily="49" charset="0"/>
              </a:rPr>
              <a:t>(5))</a:t>
            </a:r>
          </a:p>
        </p:txBody>
      </p:sp>
      <p:sp>
        <p:nvSpPr>
          <p:cNvPr id="6" name="TextBox 5">
            <a:extLst>
              <a:ext uri="{FF2B5EF4-FFF2-40B4-BE49-F238E27FC236}">
                <a16:creationId xmlns:a16="http://schemas.microsoft.com/office/drawing/2014/main" id="{CC8D93A8-FC21-48EC-9DAB-30E158A42B1C}"/>
              </a:ext>
            </a:extLst>
          </p:cNvPr>
          <p:cNvSpPr txBox="1"/>
          <p:nvPr/>
        </p:nvSpPr>
        <p:spPr>
          <a:xfrm>
            <a:off x="5923848" y="1903363"/>
            <a:ext cx="5982402" cy="2985433"/>
          </a:xfrm>
          <a:prstGeom prst="rect">
            <a:avLst/>
          </a:prstGeom>
          <a:noFill/>
        </p:spPr>
        <p:txBody>
          <a:bodyPr wrap="square">
            <a:spAutoFit/>
          </a:bodyPr>
          <a:lstStyle/>
          <a:p>
            <a:r>
              <a:rPr lang="en-US" sz="2400" dirty="0"/>
              <a:t>Recursive</a:t>
            </a:r>
          </a:p>
          <a:p>
            <a:endParaRPr lang="en-US" sz="2400" dirty="0"/>
          </a:p>
          <a:p>
            <a:r>
              <a:rPr lang="en-US" sz="2000" dirty="0">
                <a:latin typeface="Courier New" panose="02070309020205020404" pitchFamily="49" charset="0"/>
                <a:cs typeface="Courier New" panose="02070309020205020404" pitchFamily="49" charset="0"/>
              </a:rPr>
              <a:t>def </a:t>
            </a:r>
            <a:r>
              <a:rPr lang="en-US" sz="2000" dirty="0">
                <a:solidFill>
                  <a:srgbClr val="7030A0"/>
                </a:solidFill>
                <a:latin typeface="Courier New" panose="02070309020205020404" pitchFamily="49" charset="0"/>
                <a:cs typeface="Courier New" panose="02070309020205020404" pitchFamily="49" charset="0"/>
              </a:rPr>
              <a:t>factorial</a:t>
            </a:r>
            <a:r>
              <a:rPr lang="en-US" sz="2000" dirty="0">
                <a:latin typeface="Courier New" panose="02070309020205020404" pitchFamily="49" charset="0"/>
                <a:cs typeface="Courier New" panose="02070309020205020404" pitchFamily="49" charset="0"/>
              </a:rPr>
              <a:t>(n):</a:t>
            </a:r>
          </a:p>
          <a:p>
            <a:r>
              <a:rPr lang="en-US" sz="2000" dirty="0">
                <a:latin typeface="Courier New" panose="02070309020205020404" pitchFamily="49" charset="0"/>
                <a:cs typeface="Courier New" panose="02070309020205020404" pitchFamily="49" charset="0"/>
              </a:rPr>
              <a:t>    if (n &lt; 2):</a:t>
            </a:r>
          </a:p>
          <a:p>
            <a:r>
              <a:rPr lang="en-US" sz="2000" dirty="0">
                <a:latin typeface="Courier New" panose="02070309020205020404" pitchFamily="49" charset="0"/>
                <a:cs typeface="Courier New" panose="02070309020205020404" pitchFamily="49" charset="0"/>
              </a:rPr>
              <a:t>        return 1</a:t>
            </a:r>
          </a:p>
          <a:p>
            <a:r>
              <a:rPr lang="en-US" sz="2000" dirty="0">
                <a:latin typeface="Courier New" panose="02070309020205020404" pitchFamily="49" charset="0"/>
                <a:cs typeface="Courier New" panose="02070309020205020404" pitchFamily="49" charset="0"/>
              </a:rPr>
              <a:t>    else:</a:t>
            </a:r>
          </a:p>
          <a:p>
            <a:r>
              <a:rPr lang="en-US" sz="2000" dirty="0">
                <a:latin typeface="Courier New" panose="02070309020205020404" pitchFamily="49" charset="0"/>
                <a:cs typeface="Courier New" panose="02070309020205020404" pitchFamily="49" charset="0"/>
              </a:rPr>
              <a:t>        return n * </a:t>
            </a:r>
            <a:r>
              <a:rPr lang="en-US" sz="2000" dirty="0">
                <a:solidFill>
                  <a:srgbClr val="7030A0"/>
                </a:solidFill>
                <a:latin typeface="Courier New" panose="02070309020205020404" pitchFamily="49" charset="0"/>
                <a:cs typeface="Courier New" panose="02070309020205020404" pitchFamily="49" charset="0"/>
              </a:rPr>
              <a:t>factorial</a:t>
            </a:r>
            <a:r>
              <a:rPr lang="en-US" sz="2000" dirty="0">
                <a:latin typeface="Courier New" panose="02070309020205020404" pitchFamily="49" charset="0"/>
                <a:cs typeface="Courier New" panose="02070309020205020404" pitchFamily="49" charset="0"/>
              </a:rPr>
              <a:t>(n - 1)</a:t>
            </a:r>
          </a:p>
          <a:p>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print(</a:t>
            </a:r>
            <a:r>
              <a:rPr lang="en-US" sz="2000" dirty="0">
                <a:solidFill>
                  <a:srgbClr val="7030A0"/>
                </a:solidFill>
                <a:latin typeface="Courier New" panose="02070309020205020404" pitchFamily="49" charset="0"/>
                <a:cs typeface="Courier New" panose="02070309020205020404" pitchFamily="49" charset="0"/>
              </a:rPr>
              <a:t>factorial</a:t>
            </a:r>
            <a:r>
              <a:rPr lang="en-US" sz="2000" dirty="0">
                <a:latin typeface="Courier New" panose="02070309020205020404" pitchFamily="49" charset="0"/>
                <a:cs typeface="Courier New" panose="02070309020205020404" pitchFamily="49" charset="0"/>
              </a:rPr>
              <a:t>(5))</a:t>
            </a:r>
          </a:p>
        </p:txBody>
      </p:sp>
    </p:spTree>
    <p:extLst>
      <p:ext uri="{BB962C8B-B14F-4D97-AF65-F5344CB8AC3E}">
        <p14:creationId xmlns:p14="http://schemas.microsoft.com/office/powerpoint/2010/main" val="3779400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AC4FF506-FE52-43D9-B1B2-99CDD1DE10B5}"/>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23" name="Rectangle 22">
            <a:extLst>
              <a:ext uri="{FF2B5EF4-FFF2-40B4-BE49-F238E27FC236}">
                <a16:creationId xmlns:a16="http://schemas.microsoft.com/office/drawing/2014/main" id="{6F203BA0-AEAE-4AD4-A65F-9EB69ACD04D3}"/>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cxnSp>
        <p:nvCxnSpPr>
          <p:cNvPr id="24" name="Straight Arrow Connector 23">
            <a:extLst>
              <a:ext uri="{FF2B5EF4-FFF2-40B4-BE49-F238E27FC236}">
                <a16:creationId xmlns:a16="http://schemas.microsoft.com/office/drawing/2014/main" id="{42574C38-8ED2-43F3-AEF6-DAA4E1CF822D}"/>
              </a:ext>
            </a:extLst>
          </p:cNvPr>
          <p:cNvCxnSpPr>
            <a:cxnSpLocks/>
            <a:stCxn id="23" idx="0"/>
          </p:cNvCxnSpPr>
          <p:nvPr>
            <p:custDataLst>
              <p:tags r:id="rId3"/>
            </p:custDataLst>
          </p:nvPr>
        </p:nvCxnSpPr>
        <p:spPr>
          <a:xfrm flipV="1">
            <a:off x="3581400" y="5410200"/>
            <a:ext cx="0" cy="475498"/>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4F9E402-6F57-486F-9E6E-001F9B3FB691}"/>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21" name="Text Placeholder 4">
            <a:extLst>
              <a:ext uri="{FF2B5EF4-FFF2-40B4-BE49-F238E27FC236}">
                <a16:creationId xmlns:a16="http://schemas.microsoft.com/office/drawing/2014/main" id="{2D2B3B3E-3B4E-4696-B243-F25D5752C3CF}"/>
              </a:ext>
            </a:extLst>
          </p:cNvPr>
          <p:cNvSpPr txBox="1">
            <a:spLocks/>
          </p:cNvSpPr>
          <p:nvPr>
            <p:custDataLst>
              <p:tags r:id="rId5"/>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9" name="Rectangle 8">
            <a:extLst>
              <a:ext uri="{FF2B5EF4-FFF2-40B4-BE49-F238E27FC236}">
                <a16:creationId xmlns:a16="http://schemas.microsoft.com/office/drawing/2014/main" id="{15820171-44B1-4BE8-B58E-8535FC380681}"/>
              </a:ext>
            </a:extLst>
          </p:cNvPr>
          <p:cNvSpPr/>
          <p:nvPr>
            <p:custDataLst>
              <p:tags r:id="rId6"/>
            </p:custDataLst>
          </p:nvPr>
        </p:nvSpPr>
        <p:spPr>
          <a:xfrm>
            <a:off x="2209800" y="1551211"/>
            <a:ext cx="27432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Stack</a:t>
            </a:r>
          </a:p>
        </p:txBody>
      </p:sp>
      <p:cxnSp>
        <p:nvCxnSpPr>
          <p:cNvPr id="11" name="Straight Arrow Connector 10">
            <a:extLst>
              <a:ext uri="{FF2B5EF4-FFF2-40B4-BE49-F238E27FC236}">
                <a16:creationId xmlns:a16="http://schemas.microsoft.com/office/drawing/2014/main" id="{FB15332B-F7C1-40BD-A940-06A3A6567408}"/>
              </a:ext>
            </a:extLst>
          </p:cNvPr>
          <p:cNvCxnSpPr>
            <a:cxnSpLocks/>
            <a:stCxn id="9" idx="2"/>
          </p:cNvCxnSpPr>
          <p:nvPr>
            <p:custDataLst>
              <p:tags r:id="rId7"/>
            </p:custDataLst>
          </p:nvPr>
        </p:nvCxnSpPr>
        <p:spPr>
          <a:xfrm>
            <a:off x="3581400" y="2008411"/>
            <a:ext cx="0" cy="500746"/>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979429A-2837-414E-844D-6B8041D6C5BE}"/>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sp>
        <p:nvSpPr>
          <p:cNvPr id="13" name="Title 1">
            <a:extLst>
              <a:ext uri="{FF2B5EF4-FFF2-40B4-BE49-F238E27FC236}">
                <a16:creationId xmlns:a16="http://schemas.microsoft.com/office/drawing/2014/main" id="{8540088E-5417-44D5-8F68-2E10EC91D574}"/>
              </a:ext>
            </a:extLst>
          </p:cNvPr>
          <p:cNvSpPr>
            <a:spLocks noGrp="1"/>
          </p:cNvSpPr>
          <p:nvPr>
            <p:ph type="title"/>
          </p:nvPr>
        </p:nvSpPr>
        <p:spPr>
          <a:xfrm>
            <a:off x="2152650" y="261172"/>
            <a:ext cx="7886700" cy="839730"/>
          </a:xfrm>
        </p:spPr>
        <p:txBody>
          <a:bodyPr/>
          <a:lstStyle/>
          <a:p>
            <a:r>
              <a:rPr lang="en-US" dirty="0"/>
              <a:t>How does this look in memory?</a:t>
            </a:r>
          </a:p>
        </p:txBody>
      </p:sp>
    </p:spTree>
    <p:extLst>
      <p:ext uri="{BB962C8B-B14F-4D97-AF65-F5344CB8AC3E}">
        <p14:creationId xmlns:p14="http://schemas.microsoft.com/office/powerpoint/2010/main" val="153340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p:bldP spid="21" grpId="0"/>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How does this look in memory?</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8" name="Rectangle 7">
            <a:extLst>
              <a:ext uri="{FF2B5EF4-FFF2-40B4-BE49-F238E27FC236}">
                <a16:creationId xmlns:a16="http://schemas.microsoft.com/office/drawing/2014/main" id="{A97BFA8F-986D-4FEE-99E6-EA3692B23AF8}"/>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sp>
        <p:nvSpPr>
          <p:cNvPr id="9" name="Rectangle 8">
            <a:extLst>
              <a:ext uri="{FF2B5EF4-FFF2-40B4-BE49-F238E27FC236}">
                <a16:creationId xmlns:a16="http://schemas.microsoft.com/office/drawing/2014/main" id="{15820171-44B1-4BE8-B58E-8535FC380681}"/>
              </a:ext>
            </a:extLst>
          </p:cNvPr>
          <p:cNvSpPr/>
          <p:nvPr>
            <p:custDataLst>
              <p:tags r:id="rId3"/>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2" name="Rectangle 11">
            <a:extLst>
              <a:ext uri="{FF2B5EF4-FFF2-40B4-BE49-F238E27FC236}">
                <a16:creationId xmlns:a16="http://schemas.microsoft.com/office/drawing/2014/main" id="{4AA83F8D-99F6-446C-823C-BA6170A60316}"/>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16" name="Rectangle 15">
            <a:extLst>
              <a:ext uri="{FF2B5EF4-FFF2-40B4-BE49-F238E27FC236}">
                <a16:creationId xmlns:a16="http://schemas.microsoft.com/office/drawing/2014/main" id="{15DA2F77-3399-4D9B-8707-64D1839B9962}"/>
              </a:ext>
            </a:extLst>
          </p:cNvPr>
          <p:cNvSpPr/>
          <p:nvPr>
            <p:custDataLst>
              <p:tags r:id="rId5"/>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6"/>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7"/>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8"/>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9"/>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34" name="Rectangle 33">
            <a:extLst>
              <a:ext uri="{FF2B5EF4-FFF2-40B4-BE49-F238E27FC236}">
                <a16:creationId xmlns:a16="http://schemas.microsoft.com/office/drawing/2014/main" id="{35D0033F-947D-4E8F-8ACB-F1AA4998F01F}"/>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15097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D7D6-3927-4960-B114-C7905A86F4F4}"/>
              </a:ext>
            </a:extLst>
          </p:cNvPr>
          <p:cNvSpPr>
            <a:spLocks noGrp="1"/>
          </p:cNvSpPr>
          <p:nvPr>
            <p:ph type="ctrTitle"/>
          </p:nvPr>
        </p:nvSpPr>
        <p:spPr>
          <a:xfrm>
            <a:off x="407624" y="1133379"/>
            <a:ext cx="11376752" cy="2387600"/>
          </a:xfrm>
        </p:spPr>
        <p:txBody>
          <a:bodyPr/>
          <a:lstStyle/>
          <a:p>
            <a:r>
              <a:rPr lang="en-US" dirty="0"/>
              <a:t>The “stack” part of memory is a stack</a:t>
            </a:r>
          </a:p>
        </p:txBody>
      </p:sp>
      <p:sp>
        <p:nvSpPr>
          <p:cNvPr id="3" name="Subtitle 2">
            <a:extLst>
              <a:ext uri="{FF2B5EF4-FFF2-40B4-BE49-F238E27FC236}">
                <a16:creationId xmlns:a16="http://schemas.microsoft.com/office/drawing/2014/main" id="{25DDC4DB-D40E-46B2-A7B6-6B1FB3741664}"/>
              </a:ext>
            </a:extLst>
          </p:cNvPr>
          <p:cNvSpPr>
            <a:spLocks noGrp="1"/>
          </p:cNvSpPr>
          <p:nvPr>
            <p:ph type="subTitle" idx="1"/>
          </p:nvPr>
        </p:nvSpPr>
        <p:spPr/>
        <p:txBody>
          <a:bodyPr>
            <a:normAutofit/>
          </a:bodyPr>
          <a:lstStyle/>
          <a:p>
            <a:r>
              <a:rPr lang="en-US" sz="3200" dirty="0"/>
              <a:t>Function call: push</a:t>
            </a:r>
          </a:p>
          <a:p>
            <a:r>
              <a:rPr lang="en-US" sz="3200" dirty="0"/>
              <a:t>Return: pop</a:t>
            </a:r>
          </a:p>
        </p:txBody>
      </p:sp>
    </p:spTree>
    <p:extLst>
      <p:ext uri="{BB962C8B-B14F-4D97-AF65-F5344CB8AC3E}">
        <p14:creationId xmlns:p14="http://schemas.microsoft.com/office/powerpoint/2010/main" val="217628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1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result = </a:t>
            </a:r>
            <a:r>
              <a:rPr lang="en-US" b="1" dirty="0">
                <a:solidFill>
                  <a:prstClr val="black"/>
                </a:solidFill>
                <a:highlight>
                  <a:srgbClr val="FFFF00"/>
                </a:highlight>
                <a:latin typeface="Courier New" panose="02070309020205020404" pitchFamily="49" charset="0"/>
                <a:cs typeface="Courier New" panose="02070309020205020404" pitchFamily="49" charset="0"/>
              </a:rPr>
              <a:t>factorial</a:t>
            </a:r>
            <a:r>
              <a:rPr lang="en-US" b="1" dirty="0">
                <a:solidFill>
                  <a:prstClr val="black"/>
                </a:solidFill>
                <a:latin typeface="Courier New" panose="02070309020205020404" pitchFamily="49" charset="0"/>
                <a:cs typeface="Courier New" panose="02070309020205020404" pitchFamily="49" charset="0"/>
              </a:rPr>
              <a:t>(n);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8206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20"/>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21"/>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22"/>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a:t>
            </a:r>
            <a:r>
              <a:rPr lang="en-US" b="1" dirty="0">
                <a:solidFill>
                  <a:prstClr val="black"/>
                </a:solidFill>
                <a:highlight>
                  <a:srgbClr val="FFFF00"/>
                </a:highlight>
                <a:latin typeface="Courier New" panose="02070309020205020404" pitchFamily="49" charset="0"/>
                <a:cs typeface="Courier New" panose="02070309020205020404" pitchFamily="49" charset="0"/>
              </a:rPr>
              <a:t>factorial</a:t>
            </a:r>
            <a:r>
              <a:rPr lang="en-US" b="1" dirty="0">
                <a:solidFill>
                  <a:prstClr val="black"/>
                </a:solidFill>
                <a:latin typeface="Courier New" panose="02070309020205020404" pitchFamily="49" charset="0"/>
                <a:cs typeface="Courier New" panose="02070309020205020404" pitchFamily="49" charset="0"/>
              </a:rPr>
              <a:t>(n-1);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grpSp>
        <p:nvGrpSpPr>
          <p:cNvPr id="26" name="Group 25">
            <a:extLst>
              <a:ext uri="{FF2B5EF4-FFF2-40B4-BE49-F238E27FC236}">
                <a16:creationId xmlns:a16="http://schemas.microsoft.com/office/drawing/2014/main" id="{EB0971CD-9920-4D07-859B-AD01022A2256}"/>
              </a:ext>
            </a:extLst>
          </p:cNvPr>
          <p:cNvGrpSpPr/>
          <p:nvPr/>
        </p:nvGrpSpPr>
        <p:grpSpPr>
          <a:xfrm>
            <a:off x="2209800" y="2967333"/>
            <a:ext cx="2743200" cy="523493"/>
            <a:chOff x="685800" y="2443839"/>
            <a:chExt cx="2743200" cy="523493"/>
          </a:xfrm>
          <a:solidFill>
            <a:schemeClr val="accent1">
              <a:lumMod val="40000"/>
              <a:lumOff val="60000"/>
            </a:schemeClr>
          </a:solidFill>
        </p:grpSpPr>
        <p:sp>
          <p:nvSpPr>
            <p:cNvPr id="27" name="Rectangle 26">
              <a:extLst>
                <a:ext uri="{FF2B5EF4-FFF2-40B4-BE49-F238E27FC236}">
                  <a16:creationId xmlns:a16="http://schemas.microsoft.com/office/drawing/2014/main" id="{54837D87-C760-4B7B-97B9-73D524E61BA8}"/>
                </a:ext>
              </a:extLst>
            </p:cNvPr>
            <p:cNvSpPr/>
            <p:nvPr>
              <p:custDataLst>
                <p:tags r:id="rId17"/>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0" name="Rectangle 29">
              <a:extLst>
                <a:ext uri="{FF2B5EF4-FFF2-40B4-BE49-F238E27FC236}">
                  <a16:creationId xmlns:a16="http://schemas.microsoft.com/office/drawing/2014/main" id="{285F8E40-71D0-4CCA-8A08-BAC2B061986D}"/>
                </a:ext>
              </a:extLst>
            </p:cNvPr>
            <p:cNvSpPr/>
            <p:nvPr>
              <p:custDataLst>
                <p:tags r:id="rId18"/>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3</a:t>
              </a:r>
            </a:p>
          </p:txBody>
        </p:sp>
        <p:sp>
          <p:nvSpPr>
            <p:cNvPr id="31" name="Rectangle 30">
              <a:extLst>
                <a:ext uri="{FF2B5EF4-FFF2-40B4-BE49-F238E27FC236}">
                  <a16:creationId xmlns:a16="http://schemas.microsoft.com/office/drawing/2014/main" id="{5A6447D3-59EB-4FAC-922C-755810B9A7B7}"/>
                </a:ext>
              </a:extLst>
            </p:cNvPr>
            <p:cNvSpPr/>
            <p:nvPr>
              <p:custDataLst>
                <p:tags r:id="rId19"/>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2" name="Group 31">
            <a:extLst>
              <a:ext uri="{FF2B5EF4-FFF2-40B4-BE49-F238E27FC236}">
                <a16:creationId xmlns:a16="http://schemas.microsoft.com/office/drawing/2014/main" id="{B47F09EE-627D-429C-9BF8-53DB87B2C0ED}"/>
              </a:ext>
            </a:extLst>
          </p:cNvPr>
          <p:cNvGrpSpPr/>
          <p:nvPr/>
        </p:nvGrpSpPr>
        <p:grpSpPr>
          <a:xfrm>
            <a:off x="2209800" y="3488036"/>
            <a:ext cx="2743200" cy="523493"/>
            <a:chOff x="685800" y="2443839"/>
            <a:chExt cx="2743200" cy="523493"/>
          </a:xfrm>
          <a:solidFill>
            <a:schemeClr val="accent1">
              <a:lumMod val="40000"/>
              <a:lumOff val="60000"/>
            </a:schemeClr>
          </a:solidFill>
        </p:grpSpPr>
        <p:sp>
          <p:nvSpPr>
            <p:cNvPr id="33" name="Rectangle 32">
              <a:extLst>
                <a:ext uri="{FF2B5EF4-FFF2-40B4-BE49-F238E27FC236}">
                  <a16:creationId xmlns:a16="http://schemas.microsoft.com/office/drawing/2014/main" id="{DD7B73AE-A2B2-4E17-8A8B-47269B784DE1}"/>
                </a:ext>
              </a:extLst>
            </p:cNvPr>
            <p:cNvSpPr/>
            <p:nvPr>
              <p:custDataLst>
                <p:tags r:id="rId14"/>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4" name="Rectangle 33">
              <a:extLst>
                <a:ext uri="{FF2B5EF4-FFF2-40B4-BE49-F238E27FC236}">
                  <a16:creationId xmlns:a16="http://schemas.microsoft.com/office/drawing/2014/main" id="{A49741B3-4987-4D81-BAEA-97971CE4AE96}"/>
                </a:ext>
              </a:extLst>
            </p:cNvPr>
            <p:cNvSpPr/>
            <p:nvPr>
              <p:custDataLst>
                <p:tags r:id="rId15"/>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a:t>
              </a:r>
            </a:p>
          </p:txBody>
        </p:sp>
        <p:sp>
          <p:nvSpPr>
            <p:cNvPr id="35" name="Rectangle 34">
              <a:extLst>
                <a:ext uri="{FF2B5EF4-FFF2-40B4-BE49-F238E27FC236}">
                  <a16:creationId xmlns:a16="http://schemas.microsoft.com/office/drawing/2014/main" id="{C4FC5350-2F1A-47EE-B886-970339045A84}"/>
                </a:ext>
              </a:extLst>
            </p:cNvPr>
            <p:cNvSpPr/>
            <p:nvPr>
              <p:custDataLst>
                <p:tags r:id="rId16"/>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6" name="Group 35">
            <a:extLst>
              <a:ext uri="{FF2B5EF4-FFF2-40B4-BE49-F238E27FC236}">
                <a16:creationId xmlns:a16="http://schemas.microsoft.com/office/drawing/2014/main" id="{D89D838A-3263-4227-97FC-478A214A9054}"/>
              </a:ext>
            </a:extLst>
          </p:cNvPr>
          <p:cNvGrpSpPr/>
          <p:nvPr/>
        </p:nvGrpSpPr>
        <p:grpSpPr>
          <a:xfrm>
            <a:off x="2209800" y="4011529"/>
            <a:ext cx="2743200" cy="523493"/>
            <a:chOff x="685800" y="2443839"/>
            <a:chExt cx="2743200" cy="523493"/>
          </a:xfrm>
          <a:solidFill>
            <a:schemeClr val="accent1">
              <a:lumMod val="40000"/>
              <a:lumOff val="60000"/>
            </a:schemeClr>
          </a:solidFill>
        </p:grpSpPr>
        <p:sp>
          <p:nvSpPr>
            <p:cNvPr id="37" name="Rectangle 36">
              <a:extLst>
                <a:ext uri="{FF2B5EF4-FFF2-40B4-BE49-F238E27FC236}">
                  <a16:creationId xmlns:a16="http://schemas.microsoft.com/office/drawing/2014/main" id="{AB53FB74-5026-4859-B2B8-9B420F26B47A}"/>
                </a:ext>
              </a:extLst>
            </p:cNvPr>
            <p:cNvSpPr/>
            <p:nvPr>
              <p:custDataLst>
                <p:tags r:id="rId11"/>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8" name="Rectangle 37">
              <a:extLst>
                <a:ext uri="{FF2B5EF4-FFF2-40B4-BE49-F238E27FC236}">
                  <a16:creationId xmlns:a16="http://schemas.microsoft.com/office/drawing/2014/main" id="{B9A4449F-BDAF-4040-A203-D41389C07530}"/>
                </a:ext>
              </a:extLst>
            </p:cNvPr>
            <p:cNvSpPr/>
            <p:nvPr>
              <p:custDataLst>
                <p:tags r:id="rId12"/>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a:t>
              </a:r>
            </a:p>
          </p:txBody>
        </p:sp>
        <p:sp>
          <p:nvSpPr>
            <p:cNvPr id="39" name="Rectangle 38">
              <a:extLst>
                <a:ext uri="{FF2B5EF4-FFF2-40B4-BE49-F238E27FC236}">
                  <a16:creationId xmlns:a16="http://schemas.microsoft.com/office/drawing/2014/main" id="{58DB8AFC-EC03-4E9F-8EC3-72D511676A24}"/>
                </a:ext>
              </a:extLst>
            </p:cNvPr>
            <p:cNvSpPr/>
            <p:nvPr>
              <p:custDataLst>
                <p:tags r:id="rId13"/>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40" name="Group 39">
            <a:extLst>
              <a:ext uri="{FF2B5EF4-FFF2-40B4-BE49-F238E27FC236}">
                <a16:creationId xmlns:a16="http://schemas.microsoft.com/office/drawing/2014/main" id="{B2DD6164-4903-4FF7-B964-E16424073057}"/>
              </a:ext>
            </a:extLst>
          </p:cNvPr>
          <p:cNvGrpSpPr/>
          <p:nvPr/>
        </p:nvGrpSpPr>
        <p:grpSpPr>
          <a:xfrm>
            <a:off x="2209800" y="4529137"/>
            <a:ext cx="2743200" cy="523493"/>
            <a:chOff x="685800" y="2443839"/>
            <a:chExt cx="2743200" cy="523493"/>
          </a:xfrm>
          <a:solidFill>
            <a:schemeClr val="accent1">
              <a:lumMod val="40000"/>
              <a:lumOff val="60000"/>
            </a:schemeClr>
          </a:solidFill>
        </p:grpSpPr>
        <p:sp>
          <p:nvSpPr>
            <p:cNvPr id="41" name="Rectangle 40">
              <a:extLst>
                <a:ext uri="{FF2B5EF4-FFF2-40B4-BE49-F238E27FC236}">
                  <a16:creationId xmlns:a16="http://schemas.microsoft.com/office/drawing/2014/main" id="{09620591-5DBA-4C53-8DEA-DB85988CB639}"/>
                </a:ext>
              </a:extLst>
            </p:cNvPr>
            <p:cNvSpPr/>
            <p:nvPr>
              <p:custDataLst>
                <p:tags r:id="rId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42" name="Rectangle 41">
              <a:extLst>
                <a:ext uri="{FF2B5EF4-FFF2-40B4-BE49-F238E27FC236}">
                  <a16:creationId xmlns:a16="http://schemas.microsoft.com/office/drawing/2014/main" id="{23AA530D-7B40-4D5D-9EF6-3EA005F3FC42}"/>
                </a:ext>
              </a:extLst>
            </p:cNvPr>
            <p:cNvSpPr/>
            <p:nvPr>
              <p:custDataLst>
                <p:tags r:id="rId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43" name="Rectangle 42">
              <a:extLst>
                <a:ext uri="{FF2B5EF4-FFF2-40B4-BE49-F238E27FC236}">
                  <a16:creationId xmlns:a16="http://schemas.microsoft.com/office/drawing/2014/main" id="{9FAA20E6-3914-490F-AF61-9E6C02D2BECE}"/>
                </a:ext>
              </a:extLst>
            </p:cNvPr>
            <p:cNvSpPr/>
            <p:nvPr>
              <p:custDataLst>
                <p:tags r:id="rId1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Tree>
    <p:extLst>
      <p:ext uri="{BB962C8B-B14F-4D97-AF65-F5344CB8AC3E}">
        <p14:creationId xmlns:p14="http://schemas.microsoft.com/office/powerpoint/2010/main" val="167263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21"/>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22"/>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23"/>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highlight>
                  <a:srgbClr val="FFFF00"/>
                </a:highlight>
                <a:latin typeface="Courier New" panose="02070309020205020404" pitchFamily="49" charset="0"/>
                <a:cs typeface="Courier New" panose="02070309020205020404" pitchFamily="49" charset="0"/>
              </a:rPr>
              <a:t>if </a:t>
            </a:r>
            <a:r>
              <a:rPr lang="en-US" b="1" dirty="0">
                <a:solidFill>
                  <a:prstClr val="black"/>
                </a:solidFill>
                <a:highlight>
                  <a:srgbClr val="FFFF00"/>
                </a:highlight>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highlight>
                  <a:srgbClr val="FFFF00"/>
                </a:highlight>
                <a:latin typeface="Courier New" panose="02070309020205020404" pitchFamily="49" charset="0"/>
                <a:cs typeface="Courier New" panose="02070309020205020404" pitchFamily="49" charset="0"/>
              </a:rPr>
              <a:t>return</a:t>
            </a:r>
            <a:r>
              <a:rPr lang="en-US" b="1" dirty="0">
                <a:solidFill>
                  <a:prstClr val="black"/>
                </a:solidFill>
                <a:highlight>
                  <a:srgbClr val="FFFF00"/>
                </a:highlight>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prstClr val="black"/>
                </a:solidFill>
                <a:highlight>
                  <a:srgbClr val="FFFF00"/>
                </a:highlight>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grpSp>
        <p:nvGrpSpPr>
          <p:cNvPr id="26" name="Group 25">
            <a:extLst>
              <a:ext uri="{FF2B5EF4-FFF2-40B4-BE49-F238E27FC236}">
                <a16:creationId xmlns:a16="http://schemas.microsoft.com/office/drawing/2014/main" id="{EB0971CD-9920-4D07-859B-AD01022A2256}"/>
              </a:ext>
            </a:extLst>
          </p:cNvPr>
          <p:cNvGrpSpPr/>
          <p:nvPr/>
        </p:nvGrpSpPr>
        <p:grpSpPr>
          <a:xfrm>
            <a:off x="2209800" y="2967333"/>
            <a:ext cx="2743200" cy="523493"/>
            <a:chOff x="685800" y="2443839"/>
            <a:chExt cx="2743200" cy="523493"/>
          </a:xfrm>
          <a:solidFill>
            <a:schemeClr val="accent1">
              <a:lumMod val="40000"/>
              <a:lumOff val="60000"/>
            </a:schemeClr>
          </a:solidFill>
        </p:grpSpPr>
        <p:sp>
          <p:nvSpPr>
            <p:cNvPr id="27" name="Rectangle 26">
              <a:extLst>
                <a:ext uri="{FF2B5EF4-FFF2-40B4-BE49-F238E27FC236}">
                  <a16:creationId xmlns:a16="http://schemas.microsoft.com/office/drawing/2014/main" id="{54837D87-C760-4B7B-97B9-73D524E61BA8}"/>
                </a:ext>
              </a:extLst>
            </p:cNvPr>
            <p:cNvSpPr/>
            <p:nvPr>
              <p:custDataLst>
                <p:tags r:id="rId1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0" name="Rectangle 29">
              <a:extLst>
                <a:ext uri="{FF2B5EF4-FFF2-40B4-BE49-F238E27FC236}">
                  <a16:creationId xmlns:a16="http://schemas.microsoft.com/office/drawing/2014/main" id="{285F8E40-71D0-4CCA-8A08-BAC2B061986D}"/>
                </a:ext>
              </a:extLst>
            </p:cNvPr>
            <p:cNvSpPr/>
            <p:nvPr>
              <p:custDataLst>
                <p:tags r:id="rId1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3</a:t>
              </a:r>
            </a:p>
          </p:txBody>
        </p:sp>
        <p:sp>
          <p:nvSpPr>
            <p:cNvPr id="31" name="Rectangle 30">
              <a:extLst>
                <a:ext uri="{FF2B5EF4-FFF2-40B4-BE49-F238E27FC236}">
                  <a16:creationId xmlns:a16="http://schemas.microsoft.com/office/drawing/2014/main" id="{5A6447D3-59EB-4FAC-922C-755810B9A7B7}"/>
                </a:ext>
              </a:extLst>
            </p:cNvPr>
            <p:cNvSpPr/>
            <p:nvPr>
              <p:custDataLst>
                <p:tags r:id="rId2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2" name="Group 31">
            <a:extLst>
              <a:ext uri="{FF2B5EF4-FFF2-40B4-BE49-F238E27FC236}">
                <a16:creationId xmlns:a16="http://schemas.microsoft.com/office/drawing/2014/main" id="{B47F09EE-627D-429C-9BF8-53DB87B2C0ED}"/>
              </a:ext>
            </a:extLst>
          </p:cNvPr>
          <p:cNvGrpSpPr/>
          <p:nvPr/>
        </p:nvGrpSpPr>
        <p:grpSpPr>
          <a:xfrm>
            <a:off x="2209800" y="3488036"/>
            <a:ext cx="2743200" cy="523493"/>
            <a:chOff x="685800" y="2443839"/>
            <a:chExt cx="2743200" cy="523493"/>
          </a:xfrm>
          <a:solidFill>
            <a:schemeClr val="accent1">
              <a:lumMod val="40000"/>
              <a:lumOff val="60000"/>
            </a:schemeClr>
          </a:solidFill>
        </p:grpSpPr>
        <p:sp>
          <p:nvSpPr>
            <p:cNvPr id="33" name="Rectangle 32">
              <a:extLst>
                <a:ext uri="{FF2B5EF4-FFF2-40B4-BE49-F238E27FC236}">
                  <a16:creationId xmlns:a16="http://schemas.microsoft.com/office/drawing/2014/main" id="{DD7B73AE-A2B2-4E17-8A8B-47269B784DE1}"/>
                </a:ext>
              </a:extLst>
            </p:cNvPr>
            <p:cNvSpPr/>
            <p:nvPr>
              <p:custDataLst>
                <p:tags r:id="rId15"/>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4" name="Rectangle 33">
              <a:extLst>
                <a:ext uri="{FF2B5EF4-FFF2-40B4-BE49-F238E27FC236}">
                  <a16:creationId xmlns:a16="http://schemas.microsoft.com/office/drawing/2014/main" id="{A49741B3-4987-4D81-BAEA-97971CE4AE96}"/>
                </a:ext>
              </a:extLst>
            </p:cNvPr>
            <p:cNvSpPr/>
            <p:nvPr>
              <p:custDataLst>
                <p:tags r:id="rId16"/>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a:t>
              </a:r>
            </a:p>
          </p:txBody>
        </p:sp>
        <p:sp>
          <p:nvSpPr>
            <p:cNvPr id="35" name="Rectangle 34">
              <a:extLst>
                <a:ext uri="{FF2B5EF4-FFF2-40B4-BE49-F238E27FC236}">
                  <a16:creationId xmlns:a16="http://schemas.microsoft.com/office/drawing/2014/main" id="{C4FC5350-2F1A-47EE-B886-970339045A84}"/>
                </a:ext>
              </a:extLst>
            </p:cNvPr>
            <p:cNvSpPr/>
            <p:nvPr>
              <p:custDataLst>
                <p:tags r:id="rId17"/>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6" name="Group 35">
            <a:extLst>
              <a:ext uri="{FF2B5EF4-FFF2-40B4-BE49-F238E27FC236}">
                <a16:creationId xmlns:a16="http://schemas.microsoft.com/office/drawing/2014/main" id="{D89D838A-3263-4227-97FC-478A214A9054}"/>
              </a:ext>
            </a:extLst>
          </p:cNvPr>
          <p:cNvGrpSpPr/>
          <p:nvPr/>
        </p:nvGrpSpPr>
        <p:grpSpPr>
          <a:xfrm>
            <a:off x="2209800" y="4011529"/>
            <a:ext cx="2743200" cy="523493"/>
            <a:chOff x="685800" y="2443839"/>
            <a:chExt cx="2743200" cy="523493"/>
          </a:xfrm>
          <a:solidFill>
            <a:schemeClr val="accent1">
              <a:lumMod val="40000"/>
              <a:lumOff val="60000"/>
            </a:schemeClr>
          </a:solidFill>
        </p:grpSpPr>
        <p:sp>
          <p:nvSpPr>
            <p:cNvPr id="37" name="Rectangle 36">
              <a:extLst>
                <a:ext uri="{FF2B5EF4-FFF2-40B4-BE49-F238E27FC236}">
                  <a16:creationId xmlns:a16="http://schemas.microsoft.com/office/drawing/2014/main" id="{AB53FB74-5026-4859-B2B8-9B420F26B47A}"/>
                </a:ext>
              </a:extLst>
            </p:cNvPr>
            <p:cNvSpPr/>
            <p:nvPr>
              <p:custDataLst>
                <p:tags r:id="rId12"/>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8" name="Rectangle 37">
              <a:extLst>
                <a:ext uri="{FF2B5EF4-FFF2-40B4-BE49-F238E27FC236}">
                  <a16:creationId xmlns:a16="http://schemas.microsoft.com/office/drawing/2014/main" id="{B9A4449F-BDAF-4040-A203-D41389C07530}"/>
                </a:ext>
              </a:extLst>
            </p:cNvPr>
            <p:cNvSpPr/>
            <p:nvPr>
              <p:custDataLst>
                <p:tags r:id="rId13"/>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a:t>
              </a:r>
            </a:p>
          </p:txBody>
        </p:sp>
        <p:sp>
          <p:nvSpPr>
            <p:cNvPr id="39" name="Rectangle 38">
              <a:extLst>
                <a:ext uri="{FF2B5EF4-FFF2-40B4-BE49-F238E27FC236}">
                  <a16:creationId xmlns:a16="http://schemas.microsoft.com/office/drawing/2014/main" id="{58DB8AFC-EC03-4E9F-8EC3-72D511676A24}"/>
                </a:ext>
              </a:extLst>
            </p:cNvPr>
            <p:cNvSpPr/>
            <p:nvPr>
              <p:custDataLst>
                <p:tags r:id="rId14"/>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40" name="Group 39">
            <a:extLst>
              <a:ext uri="{FF2B5EF4-FFF2-40B4-BE49-F238E27FC236}">
                <a16:creationId xmlns:a16="http://schemas.microsoft.com/office/drawing/2014/main" id="{B2DD6164-4903-4FF7-B964-E16424073057}"/>
              </a:ext>
            </a:extLst>
          </p:cNvPr>
          <p:cNvGrpSpPr/>
          <p:nvPr/>
        </p:nvGrpSpPr>
        <p:grpSpPr>
          <a:xfrm>
            <a:off x="2209800" y="4529137"/>
            <a:ext cx="2743200" cy="523493"/>
            <a:chOff x="685800" y="2443839"/>
            <a:chExt cx="2743200" cy="523493"/>
          </a:xfrm>
          <a:solidFill>
            <a:schemeClr val="accent1">
              <a:lumMod val="40000"/>
              <a:lumOff val="60000"/>
            </a:schemeClr>
          </a:solidFill>
        </p:grpSpPr>
        <p:sp>
          <p:nvSpPr>
            <p:cNvPr id="41" name="Rectangle 40">
              <a:extLst>
                <a:ext uri="{FF2B5EF4-FFF2-40B4-BE49-F238E27FC236}">
                  <a16:creationId xmlns:a16="http://schemas.microsoft.com/office/drawing/2014/main" id="{09620591-5DBA-4C53-8DEA-DB85988CB639}"/>
                </a:ext>
              </a:extLst>
            </p:cNvPr>
            <p:cNvSpPr/>
            <p:nvPr>
              <p:custDataLst>
                <p:tags r:id="rId9"/>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42" name="Rectangle 41">
              <a:extLst>
                <a:ext uri="{FF2B5EF4-FFF2-40B4-BE49-F238E27FC236}">
                  <a16:creationId xmlns:a16="http://schemas.microsoft.com/office/drawing/2014/main" id="{23AA530D-7B40-4D5D-9EF6-3EA005F3FC42}"/>
                </a:ext>
              </a:extLst>
            </p:cNvPr>
            <p:cNvSpPr/>
            <p:nvPr>
              <p:custDataLst>
                <p:tags r:id="rId10"/>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43" name="Rectangle 42">
              <a:extLst>
                <a:ext uri="{FF2B5EF4-FFF2-40B4-BE49-F238E27FC236}">
                  <a16:creationId xmlns:a16="http://schemas.microsoft.com/office/drawing/2014/main" id="{9FAA20E6-3914-490F-AF61-9E6C02D2BECE}"/>
                </a:ext>
              </a:extLst>
            </p:cNvPr>
            <p:cNvSpPr/>
            <p:nvPr>
              <p:custDataLst>
                <p:tags r:id="rId11"/>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3" name="Arc 2">
            <a:extLst>
              <a:ext uri="{FF2B5EF4-FFF2-40B4-BE49-F238E27FC236}">
                <a16:creationId xmlns:a16="http://schemas.microsoft.com/office/drawing/2014/main" id="{F5B44275-38C8-447B-929F-F7F8EAA3E472}"/>
              </a:ext>
            </a:extLst>
          </p:cNvPr>
          <p:cNvSpPr/>
          <p:nvPr/>
        </p:nvSpPr>
        <p:spPr>
          <a:xfrm>
            <a:off x="4731214" y="4286196"/>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49" name="Rectangle 48">
            <a:extLst>
              <a:ext uri="{FF2B5EF4-FFF2-40B4-BE49-F238E27FC236}">
                <a16:creationId xmlns:a16="http://schemas.microsoft.com/office/drawing/2014/main" id="{2E468B35-82EC-4408-80BC-99ED58AB3623}"/>
              </a:ext>
            </a:extLst>
          </p:cNvPr>
          <p:cNvSpPr/>
          <p:nvPr>
            <p:custDataLst>
              <p:tags r:id="rId8"/>
            </p:custDataLst>
          </p:nvPr>
        </p:nvSpPr>
        <p:spPr>
          <a:xfrm>
            <a:off x="5289086" y="4325741"/>
            <a:ext cx="662827" cy="461665"/>
          </a:xfrm>
          <a:prstGeom prst="rect">
            <a:avLst/>
          </a:prstGeom>
        </p:spPr>
        <p:txBody>
          <a:bodyPr wrap="square">
            <a:spAutoFit/>
          </a:bodyPr>
          <a:lstStyle/>
          <a:p>
            <a:pPr defTabSz="457200"/>
            <a:r>
              <a:rPr lang="en-US" sz="2400" dirty="0">
                <a:solidFill>
                  <a:prstClr val="black"/>
                </a:solidFill>
                <a:latin typeface="Calibri" panose="020F0502020204030204"/>
              </a:rPr>
              <a:t>1</a:t>
            </a:r>
          </a:p>
        </p:txBody>
      </p:sp>
    </p:spTree>
    <p:extLst>
      <p:ext uri="{BB962C8B-B14F-4D97-AF65-F5344CB8AC3E}">
        <p14:creationId xmlns:p14="http://schemas.microsoft.com/office/powerpoint/2010/main" val="21817244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nvGrpSpPr>
          <p:cNvPr id="29" name="Group 28">
            <a:extLst>
              <a:ext uri="{FF2B5EF4-FFF2-40B4-BE49-F238E27FC236}">
                <a16:creationId xmlns:a16="http://schemas.microsoft.com/office/drawing/2014/main" id="{427F5449-570C-4DE4-8386-D30978604EE4}"/>
              </a:ext>
            </a:extLst>
          </p:cNvPr>
          <p:cNvGrpSpPr/>
          <p:nvPr/>
        </p:nvGrpSpPr>
        <p:grpSpPr>
          <a:xfrm>
            <a:off x="2209800" y="2443840"/>
            <a:ext cx="2743200" cy="523493"/>
            <a:chOff x="685800" y="2443839"/>
            <a:chExt cx="2743200" cy="523493"/>
          </a:xfrm>
          <a:solidFill>
            <a:schemeClr val="accent1">
              <a:lumMod val="40000"/>
              <a:lumOff val="60000"/>
            </a:schemeClr>
          </a:solidFill>
        </p:grpSpPr>
        <p:sp>
          <p:nvSpPr>
            <p:cNvPr id="20" name="Rectangle 19">
              <a:extLst>
                <a:ext uri="{FF2B5EF4-FFF2-40B4-BE49-F238E27FC236}">
                  <a16:creationId xmlns:a16="http://schemas.microsoft.com/office/drawing/2014/main" id="{1DAC9444-4577-48BC-9FB3-9DF044906EE0}"/>
                </a:ext>
              </a:extLst>
            </p:cNvPr>
            <p:cNvSpPr/>
            <p:nvPr>
              <p:custDataLst>
                <p:tags r:id="rId21"/>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21" name="Rectangle 20">
              <a:extLst>
                <a:ext uri="{FF2B5EF4-FFF2-40B4-BE49-F238E27FC236}">
                  <a16:creationId xmlns:a16="http://schemas.microsoft.com/office/drawing/2014/main" id="{B9DE1354-8465-4DB5-9261-64E671021732}"/>
                </a:ext>
              </a:extLst>
            </p:cNvPr>
            <p:cNvSpPr/>
            <p:nvPr>
              <p:custDataLst>
                <p:tags r:id="rId22"/>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22" name="Rectangle 21">
              <a:extLst>
                <a:ext uri="{FF2B5EF4-FFF2-40B4-BE49-F238E27FC236}">
                  <a16:creationId xmlns:a16="http://schemas.microsoft.com/office/drawing/2014/main" id="{C7404AD1-78A4-4971-B037-ABDFD41DABA0}"/>
                </a:ext>
              </a:extLst>
            </p:cNvPr>
            <p:cNvSpPr/>
            <p:nvPr>
              <p:custDataLst>
                <p:tags r:id="rId23"/>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highlight>
                  <a:srgbClr val="FFFF00"/>
                </a:highlight>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grpSp>
        <p:nvGrpSpPr>
          <p:cNvPr id="26" name="Group 25">
            <a:extLst>
              <a:ext uri="{FF2B5EF4-FFF2-40B4-BE49-F238E27FC236}">
                <a16:creationId xmlns:a16="http://schemas.microsoft.com/office/drawing/2014/main" id="{EB0971CD-9920-4D07-859B-AD01022A2256}"/>
              </a:ext>
            </a:extLst>
          </p:cNvPr>
          <p:cNvGrpSpPr/>
          <p:nvPr/>
        </p:nvGrpSpPr>
        <p:grpSpPr>
          <a:xfrm>
            <a:off x="2209800" y="2967333"/>
            <a:ext cx="2743200" cy="523493"/>
            <a:chOff x="685800" y="2443839"/>
            <a:chExt cx="2743200" cy="523493"/>
          </a:xfrm>
          <a:solidFill>
            <a:schemeClr val="accent1">
              <a:lumMod val="40000"/>
              <a:lumOff val="60000"/>
            </a:schemeClr>
          </a:solidFill>
        </p:grpSpPr>
        <p:sp>
          <p:nvSpPr>
            <p:cNvPr id="27" name="Rectangle 26">
              <a:extLst>
                <a:ext uri="{FF2B5EF4-FFF2-40B4-BE49-F238E27FC236}">
                  <a16:creationId xmlns:a16="http://schemas.microsoft.com/office/drawing/2014/main" id="{54837D87-C760-4B7B-97B9-73D524E61BA8}"/>
                </a:ext>
              </a:extLst>
            </p:cNvPr>
            <p:cNvSpPr/>
            <p:nvPr>
              <p:custDataLst>
                <p:tags r:id="rId18"/>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0" name="Rectangle 29">
              <a:extLst>
                <a:ext uri="{FF2B5EF4-FFF2-40B4-BE49-F238E27FC236}">
                  <a16:creationId xmlns:a16="http://schemas.microsoft.com/office/drawing/2014/main" id="{285F8E40-71D0-4CCA-8A08-BAC2B061986D}"/>
                </a:ext>
              </a:extLst>
            </p:cNvPr>
            <p:cNvSpPr/>
            <p:nvPr>
              <p:custDataLst>
                <p:tags r:id="rId19"/>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3</a:t>
              </a:r>
            </a:p>
          </p:txBody>
        </p:sp>
        <p:sp>
          <p:nvSpPr>
            <p:cNvPr id="31" name="Rectangle 30">
              <a:extLst>
                <a:ext uri="{FF2B5EF4-FFF2-40B4-BE49-F238E27FC236}">
                  <a16:creationId xmlns:a16="http://schemas.microsoft.com/office/drawing/2014/main" id="{5A6447D3-59EB-4FAC-922C-755810B9A7B7}"/>
                </a:ext>
              </a:extLst>
            </p:cNvPr>
            <p:cNvSpPr/>
            <p:nvPr>
              <p:custDataLst>
                <p:tags r:id="rId20"/>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2" name="Group 31">
            <a:extLst>
              <a:ext uri="{FF2B5EF4-FFF2-40B4-BE49-F238E27FC236}">
                <a16:creationId xmlns:a16="http://schemas.microsoft.com/office/drawing/2014/main" id="{B47F09EE-627D-429C-9BF8-53DB87B2C0ED}"/>
              </a:ext>
            </a:extLst>
          </p:cNvPr>
          <p:cNvGrpSpPr/>
          <p:nvPr/>
        </p:nvGrpSpPr>
        <p:grpSpPr>
          <a:xfrm>
            <a:off x="2209800" y="3488036"/>
            <a:ext cx="2743200" cy="523493"/>
            <a:chOff x="685800" y="2443839"/>
            <a:chExt cx="2743200" cy="523493"/>
          </a:xfrm>
          <a:solidFill>
            <a:schemeClr val="accent1">
              <a:lumMod val="40000"/>
              <a:lumOff val="60000"/>
            </a:schemeClr>
          </a:solidFill>
        </p:grpSpPr>
        <p:sp>
          <p:nvSpPr>
            <p:cNvPr id="33" name="Rectangle 32">
              <a:extLst>
                <a:ext uri="{FF2B5EF4-FFF2-40B4-BE49-F238E27FC236}">
                  <a16:creationId xmlns:a16="http://schemas.microsoft.com/office/drawing/2014/main" id="{DD7B73AE-A2B2-4E17-8A8B-47269B784DE1}"/>
                </a:ext>
              </a:extLst>
            </p:cNvPr>
            <p:cNvSpPr/>
            <p:nvPr>
              <p:custDataLst>
                <p:tags r:id="rId15"/>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4" name="Rectangle 33">
              <a:extLst>
                <a:ext uri="{FF2B5EF4-FFF2-40B4-BE49-F238E27FC236}">
                  <a16:creationId xmlns:a16="http://schemas.microsoft.com/office/drawing/2014/main" id="{A49741B3-4987-4D81-BAEA-97971CE4AE96}"/>
                </a:ext>
              </a:extLst>
            </p:cNvPr>
            <p:cNvSpPr/>
            <p:nvPr>
              <p:custDataLst>
                <p:tags r:id="rId16"/>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a:t>
              </a:r>
            </a:p>
          </p:txBody>
        </p:sp>
        <p:sp>
          <p:nvSpPr>
            <p:cNvPr id="35" name="Rectangle 34">
              <a:extLst>
                <a:ext uri="{FF2B5EF4-FFF2-40B4-BE49-F238E27FC236}">
                  <a16:creationId xmlns:a16="http://schemas.microsoft.com/office/drawing/2014/main" id="{C4FC5350-2F1A-47EE-B886-970339045A84}"/>
                </a:ext>
              </a:extLst>
            </p:cNvPr>
            <p:cNvSpPr/>
            <p:nvPr>
              <p:custDataLst>
                <p:tags r:id="rId17"/>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grpSp>
        <p:nvGrpSpPr>
          <p:cNvPr id="36" name="Group 35">
            <a:extLst>
              <a:ext uri="{FF2B5EF4-FFF2-40B4-BE49-F238E27FC236}">
                <a16:creationId xmlns:a16="http://schemas.microsoft.com/office/drawing/2014/main" id="{D89D838A-3263-4227-97FC-478A214A9054}"/>
              </a:ext>
            </a:extLst>
          </p:cNvPr>
          <p:cNvGrpSpPr/>
          <p:nvPr/>
        </p:nvGrpSpPr>
        <p:grpSpPr>
          <a:xfrm>
            <a:off x="2209800" y="4011529"/>
            <a:ext cx="2743200" cy="523493"/>
            <a:chOff x="685800" y="2443839"/>
            <a:chExt cx="2743200" cy="523493"/>
          </a:xfrm>
          <a:solidFill>
            <a:schemeClr val="accent1">
              <a:lumMod val="40000"/>
              <a:lumOff val="60000"/>
            </a:schemeClr>
          </a:solidFill>
        </p:grpSpPr>
        <p:sp>
          <p:nvSpPr>
            <p:cNvPr id="37" name="Rectangle 36">
              <a:extLst>
                <a:ext uri="{FF2B5EF4-FFF2-40B4-BE49-F238E27FC236}">
                  <a16:creationId xmlns:a16="http://schemas.microsoft.com/office/drawing/2014/main" id="{AB53FB74-5026-4859-B2B8-9B420F26B47A}"/>
                </a:ext>
              </a:extLst>
            </p:cNvPr>
            <p:cNvSpPr/>
            <p:nvPr>
              <p:custDataLst>
                <p:tags r:id="rId12"/>
              </p:custDataLst>
            </p:nvPr>
          </p:nvSpPr>
          <p:spPr>
            <a:xfrm>
              <a:off x="685800" y="2443839"/>
              <a:ext cx="2743200" cy="523493"/>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factorial()</a:t>
              </a:r>
            </a:p>
          </p:txBody>
        </p:sp>
        <p:sp>
          <p:nvSpPr>
            <p:cNvPr id="38" name="Rectangle 37">
              <a:extLst>
                <a:ext uri="{FF2B5EF4-FFF2-40B4-BE49-F238E27FC236}">
                  <a16:creationId xmlns:a16="http://schemas.microsoft.com/office/drawing/2014/main" id="{B9A4449F-BDAF-4040-A203-D41389C07530}"/>
                </a:ext>
              </a:extLst>
            </p:cNvPr>
            <p:cNvSpPr/>
            <p:nvPr>
              <p:custDataLst>
                <p:tags r:id="rId13"/>
              </p:custDataLst>
            </p:nvPr>
          </p:nvSpPr>
          <p:spPr>
            <a:xfrm>
              <a:off x="2784442" y="2537871"/>
              <a:ext cx="557872" cy="363169"/>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a:t>
              </a:r>
            </a:p>
          </p:txBody>
        </p:sp>
        <p:sp>
          <p:nvSpPr>
            <p:cNvPr id="39" name="Rectangle 38">
              <a:extLst>
                <a:ext uri="{FF2B5EF4-FFF2-40B4-BE49-F238E27FC236}">
                  <a16:creationId xmlns:a16="http://schemas.microsoft.com/office/drawing/2014/main" id="{58DB8AFC-EC03-4E9F-8EC3-72D511676A24}"/>
                </a:ext>
              </a:extLst>
            </p:cNvPr>
            <p:cNvSpPr/>
            <p:nvPr>
              <p:custDataLst>
                <p:tags r:id="rId14"/>
              </p:custDataLst>
            </p:nvPr>
          </p:nvSpPr>
          <p:spPr>
            <a:xfrm>
              <a:off x="1585554" y="253787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grpSp>
      <p:sp>
        <p:nvSpPr>
          <p:cNvPr id="44" name="Arc 43">
            <a:extLst>
              <a:ext uri="{FF2B5EF4-FFF2-40B4-BE49-F238E27FC236}">
                <a16:creationId xmlns:a16="http://schemas.microsoft.com/office/drawing/2014/main" id="{7F9B044E-69BD-4BD8-B6B1-B374DAF65935}"/>
              </a:ext>
            </a:extLst>
          </p:cNvPr>
          <p:cNvSpPr/>
          <p:nvPr/>
        </p:nvSpPr>
        <p:spPr>
          <a:xfrm>
            <a:off x="4731214" y="3740441"/>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45" name="Rectangle 44">
            <a:extLst>
              <a:ext uri="{FF2B5EF4-FFF2-40B4-BE49-F238E27FC236}">
                <a16:creationId xmlns:a16="http://schemas.microsoft.com/office/drawing/2014/main" id="{A3734F7C-173E-42FD-B4C3-249A82E3D20D}"/>
              </a:ext>
            </a:extLst>
          </p:cNvPr>
          <p:cNvSpPr/>
          <p:nvPr>
            <p:custDataLst>
              <p:tags r:id="rId8"/>
            </p:custDataLst>
          </p:nvPr>
        </p:nvSpPr>
        <p:spPr>
          <a:xfrm>
            <a:off x="5289086" y="3779986"/>
            <a:ext cx="662827" cy="461665"/>
          </a:xfrm>
          <a:prstGeom prst="rect">
            <a:avLst/>
          </a:prstGeom>
        </p:spPr>
        <p:txBody>
          <a:bodyPr wrap="square">
            <a:spAutoFit/>
          </a:bodyPr>
          <a:lstStyle/>
          <a:p>
            <a:pPr defTabSz="457200"/>
            <a:r>
              <a:rPr lang="en-US" sz="2400" dirty="0">
                <a:solidFill>
                  <a:prstClr val="black"/>
                </a:solidFill>
                <a:latin typeface="Calibri" panose="020F0502020204030204"/>
              </a:rPr>
              <a:t>1</a:t>
            </a:r>
          </a:p>
        </p:txBody>
      </p:sp>
      <p:sp>
        <p:nvSpPr>
          <p:cNvPr id="46" name="Arc 45">
            <a:extLst>
              <a:ext uri="{FF2B5EF4-FFF2-40B4-BE49-F238E27FC236}">
                <a16:creationId xmlns:a16="http://schemas.microsoft.com/office/drawing/2014/main" id="{B8A393F7-5BE9-4750-8354-626F7AF912AF}"/>
              </a:ext>
            </a:extLst>
          </p:cNvPr>
          <p:cNvSpPr/>
          <p:nvPr/>
        </p:nvSpPr>
        <p:spPr>
          <a:xfrm>
            <a:off x="4731214" y="3223986"/>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47" name="Rectangle 46">
            <a:extLst>
              <a:ext uri="{FF2B5EF4-FFF2-40B4-BE49-F238E27FC236}">
                <a16:creationId xmlns:a16="http://schemas.microsoft.com/office/drawing/2014/main" id="{566C7387-43E8-45BA-ABCB-F4757FB356D8}"/>
              </a:ext>
            </a:extLst>
          </p:cNvPr>
          <p:cNvSpPr/>
          <p:nvPr>
            <p:custDataLst>
              <p:tags r:id="rId9"/>
            </p:custDataLst>
          </p:nvPr>
        </p:nvSpPr>
        <p:spPr>
          <a:xfrm>
            <a:off x="5289086" y="3263531"/>
            <a:ext cx="662827" cy="461665"/>
          </a:xfrm>
          <a:prstGeom prst="rect">
            <a:avLst/>
          </a:prstGeom>
        </p:spPr>
        <p:txBody>
          <a:bodyPr wrap="square">
            <a:spAutoFit/>
          </a:bodyPr>
          <a:lstStyle/>
          <a:p>
            <a:pPr defTabSz="457200"/>
            <a:r>
              <a:rPr lang="en-US" sz="2400" dirty="0">
                <a:solidFill>
                  <a:prstClr val="black"/>
                </a:solidFill>
                <a:latin typeface="Calibri" panose="020F0502020204030204"/>
              </a:rPr>
              <a:t>2</a:t>
            </a:r>
          </a:p>
        </p:txBody>
      </p:sp>
      <p:sp>
        <p:nvSpPr>
          <p:cNvPr id="48" name="Arc 47">
            <a:extLst>
              <a:ext uri="{FF2B5EF4-FFF2-40B4-BE49-F238E27FC236}">
                <a16:creationId xmlns:a16="http://schemas.microsoft.com/office/drawing/2014/main" id="{75E811A5-EBF4-4418-BCA1-075101D7BD3A}"/>
              </a:ext>
            </a:extLst>
          </p:cNvPr>
          <p:cNvSpPr/>
          <p:nvPr/>
        </p:nvSpPr>
        <p:spPr>
          <a:xfrm>
            <a:off x="4731214" y="2698280"/>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50" name="Rectangle 49">
            <a:extLst>
              <a:ext uri="{FF2B5EF4-FFF2-40B4-BE49-F238E27FC236}">
                <a16:creationId xmlns:a16="http://schemas.microsoft.com/office/drawing/2014/main" id="{A285F487-8143-4433-BAF4-8E6520C3A893}"/>
              </a:ext>
            </a:extLst>
          </p:cNvPr>
          <p:cNvSpPr/>
          <p:nvPr>
            <p:custDataLst>
              <p:tags r:id="rId10"/>
            </p:custDataLst>
          </p:nvPr>
        </p:nvSpPr>
        <p:spPr>
          <a:xfrm>
            <a:off x="5289086" y="2737825"/>
            <a:ext cx="662827" cy="461665"/>
          </a:xfrm>
          <a:prstGeom prst="rect">
            <a:avLst/>
          </a:prstGeom>
        </p:spPr>
        <p:txBody>
          <a:bodyPr wrap="square">
            <a:spAutoFit/>
          </a:bodyPr>
          <a:lstStyle/>
          <a:p>
            <a:pPr defTabSz="457200"/>
            <a:r>
              <a:rPr lang="en-US" sz="2400" dirty="0">
                <a:solidFill>
                  <a:prstClr val="black"/>
                </a:solidFill>
                <a:latin typeface="Calibri" panose="020F0502020204030204"/>
              </a:rPr>
              <a:t>6</a:t>
            </a:r>
          </a:p>
        </p:txBody>
      </p:sp>
      <p:sp>
        <p:nvSpPr>
          <p:cNvPr id="51" name="Arc 50">
            <a:extLst>
              <a:ext uri="{FF2B5EF4-FFF2-40B4-BE49-F238E27FC236}">
                <a16:creationId xmlns:a16="http://schemas.microsoft.com/office/drawing/2014/main" id="{53E6E522-7FDC-45F0-A6D8-6CE45D871B37}"/>
              </a:ext>
            </a:extLst>
          </p:cNvPr>
          <p:cNvSpPr/>
          <p:nvPr/>
        </p:nvSpPr>
        <p:spPr>
          <a:xfrm>
            <a:off x="4731214" y="2174340"/>
            <a:ext cx="557872" cy="523493"/>
          </a:xfrm>
          <a:prstGeom prst="arc">
            <a:avLst>
              <a:gd name="adj1" fmla="val 16232058"/>
              <a:gd name="adj2" fmla="val 5263311"/>
            </a:avLst>
          </a:prstGeom>
          <a:ln w="38100">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defTabSz="457200"/>
            <a:endParaRPr lang="en-US">
              <a:solidFill>
                <a:prstClr val="black"/>
              </a:solidFill>
              <a:latin typeface="Calibri" panose="020F0502020204030204"/>
            </a:endParaRPr>
          </a:p>
        </p:txBody>
      </p:sp>
      <p:sp>
        <p:nvSpPr>
          <p:cNvPr id="52" name="Rectangle 51">
            <a:extLst>
              <a:ext uri="{FF2B5EF4-FFF2-40B4-BE49-F238E27FC236}">
                <a16:creationId xmlns:a16="http://schemas.microsoft.com/office/drawing/2014/main" id="{3E082620-E1D6-4AD7-9D16-14DFC1E9880C}"/>
              </a:ext>
            </a:extLst>
          </p:cNvPr>
          <p:cNvSpPr/>
          <p:nvPr>
            <p:custDataLst>
              <p:tags r:id="rId11"/>
            </p:custDataLst>
          </p:nvPr>
        </p:nvSpPr>
        <p:spPr>
          <a:xfrm>
            <a:off x="5289086" y="2213885"/>
            <a:ext cx="662827" cy="461665"/>
          </a:xfrm>
          <a:prstGeom prst="rect">
            <a:avLst/>
          </a:prstGeom>
        </p:spPr>
        <p:txBody>
          <a:bodyPr wrap="square">
            <a:spAutoFit/>
          </a:bodyPr>
          <a:lstStyle/>
          <a:p>
            <a:pPr defTabSz="457200"/>
            <a:r>
              <a:rPr lang="en-US" sz="2400" dirty="0">
                <a:solidFill>
                  <a:prstClr val="black"/>
                </a:solidFill>
                <a:latin typeface="Calibri" panose="020F0502020204030204"/>
              </a:rPr>
              <a:t>24</a:t>
            </a:r>
          </a:p>
        </p:txBody>
      </p:sp>
    </p:spTree>
    <p:extLst>
      <p:ext uri="{BB962C8B-B14F-4D97-AF65-F5344CB8AC3E}">
        <p14:creationId xmlns:p14="http://schemas.microsoft.com/office/powerpoint/2010/main" val="299319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45"/>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44"/>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3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46"/>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47"/>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3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5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48"/>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2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5" grpId="0"/>
      <p:bldP spid="45" grpId="1"/>
      <p:bldP spid="46" grpId="0" animBg="1"/>
      <p:bldP spid="46" grpId="1" animBg="1"/>
      <p:bldP spid="47" grpId="0"/>
      <p:bldP spid="47" grpId="1"/>
      <p:bldP spid="48" grpId="0" animBg="1"/>
      <p:bldP spid="48" grpId="1" animBg="1"/>
      <p:bldP spid="50" grpId="0"/>
      <p:bldP spid="50" grpId="1"/>
      <p:bldP spid="51" grpId="0" animBg="1"/>
      <p:bldP spid="5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“Stack” part of memory is a stack</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4</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24</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result:</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n:</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prstClr val="black"/>
                </a:solidFill>
                <a:highlight>
                  <a:srgbClr val="FFFF00"/>
                </a:highlight>
                <a:latin typeface="Courier New" panose="02070309020205020404" pitchFamily="49" charset="0"/>
                <a:cs typeface="Courier New" panose="02070309020205020404" pitchFamily="49" charset="0"/>
              </a:rPr>
              <a:t>result</a:t>
            </a:r>
            <a:r>
              <a:rPr lang="en-US" b="1" dirty="0">
                <a:solidFill>
                  <a:prstClr val="black"/>
                </a:solidFill>
                <a:latin typeface="Courier New" panose="02070309020205020404" pitchFamily="49" charset="0"/>
                <a:cs typeface="Courier New" panose="02070309020205020404" pitchFamily="49" charset="0"/>
              </a:rPr>
              <a:t> = factorial(n);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990716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AC4FF506-FE52-43D9-B1B2-99CDD1DE10B5}"/>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23" name="Rectangle 22">
            <a:extLst>
              <a:ext uri="{FF2B5EF4-FFF2-40B4-BE49-F238E27FC236}">
                <a16:creationId xmlns:a16="http://schemas.microsoft.com/office/drawing/2014/main" id="{6F203BA0-AEAE-4AD4-A65F-9EB69ACD04D3}"/>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cxnSp>
        <p:nvCxnSpPr>
          <p:cNvPr id="24" name="Straight Arrow Connector 23">
            <a:extLst>
              <a:ext uri="{FF2B5EF4-FFF2-40B4-BE49-F238E27FC236}">
                <a16:creationId xmlns:a16="http://schemas.microsoft.com/office/drawing/2014/main" id="{42574C38-8ED2-43F3-AEF6-DAA4E1CF822D}"/>
              </a:ext>
            </a:extLst>
          </p:cNvPr>
          <p:cNvCxnSpPr>
            <a:cxnSpLocks/>
            <a:stCxn id="23" idx="0"/>
          </p:cNvCxnSpPr>
          <p:nvPr>
            <p:custDataLst>
              <p:tags r:id="rId3"/>
            </p:custDataLst>
          </p:nvPr>
        </p:nvCxnSpPr>
        <p:spPr>
          <a:xfrm flipV="1">
            <a:off x="3581400" y="5410200"/>
            <a:ext cx="0" cy="475498"/>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4F9E402-6F57-486F-9E6E-001F9B3FB691}"/>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21" name="Text Placeholder 4">
            <a:extLst>
              <a:ext uri="{FF2B5EF4-FFF2-40B4-BE49-F238E27FC236}">
                <a16:creationId xmlns:a16="http://schemas.microsoft.com/office/drawing/2014/main" id="{2D2B3B3E-3B4E-4696-B243-F25D5752C3CF}"/>
              </a:ext>
            </a:extLst>
          </p:cNvPr>
          <p:cNvSpPr txBox="1">
            <a:spLocks/>
          </p:cNvSpPr>
          <p:nvPr>
            <p:custDataLst>
              <p:tags r:id="rId5"/>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p:txBody>
          <a:bodyPr/>
          <a:lstStyle/>
          <a:p>
            <a:r>
              <a:rPr lang="en-US" dirty="0"/>
              <a:t>What can go wrong?</a:t>
            </a:r>
          </a:p>
        </p:txBody>
      </p:sp>
      <p:sp>
        <p:nvSpPr>
          <p:cNvPr id="9" name="Rectangle 8">
            <a:extLst>
              <a:ext uri="{FF2B5EF4-FFF2-40B4-BE49-F238E27FC236}">
                <a16:creationId xmlns:a16="http://schemas.microsoft.com/office/drawing/2014/main" id="{15820171-44B1-4BE8-B58E-8535FC380681}"/>
              </a:ext>
            </a:extLst>
          </p:cNvPr>
          <p:cNvSpPr/>
          <p:nvPr>
            <p:custDataLst>
              <p:tags r:id="rId6"/>
            </p:custDataLst>
          </p:nvPr>
        </p:nvSpPr>
        <p:spPr>
          <a:xfrm>
            <a:off x="2209800" y="1551211"/>
            <a:ext cx="27432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Stack</a:t>
            </a:r>
          </a:p>
        </p:txBody>
      </p:sp>
      <p:cxnSp>
        <p:nvCxnSpPr>
          <p:cNvPr id="11" name="Straight Arrow Connector 10">
            <a:extLst>
              <a:ext uri="{FF2B5EF4-FFF2-40B4-BE49-F238E27FC236}">
                <a16:creationId xmlns:a16="http://schemas.microsoft.com/office/drawing/2014/main" id="{FB15332B-F7C1-40BD-A940-06A3A6567408}"/>
              </a:ext>
            </a:extLst>
          </p:cNvPr>
          <p:cNvCxnSpPr>
            <a:cxnSpLocks/>
            <a:stCxn id="9" idx="2"/>
          </p:cNvCxnSpPr>
          <p:nvPr>
            <p:custDataLst>
              <p:tags r:id="rId7"/>
            </p:custDataLst>
          </p:nvPr>
        </p:nvCxnSpPr>
        <p:spPr>
          <a:xfrm>
            <a:off x="3581400" y="2008411"/>
            <a:ext cx="0" cy="500746"/>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979429A-2837-414E-844D-6B8041D6C5BE}"/>
              </a:ext>
            </a:extLst>
          </p:cNvPr>
          <p:cNvSpPr/>
          <p:nvPr/>
        </p:nvSpPr>
        <p:spPr>
          <a:xfrm>
            <a:off x="5807528" y="1527771"/>
            <a:ext cx="4953000"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factorial(</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(n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 n * factorial(n-1);</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n = 4;</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70AD47">
                    <a:lumMod val="75000"/>
                  </a:srgbClr>
                </a:solidFill>
                <a:latin typeface="Courier New" panose="02070309020205020404" pitchFamily="49" charset="0"/>
                <a:cs typeface="Courier New" panose="02070309020205020404" pitchFamily="49" charset="0"/>
              </a:rPr>
              <a:t>long</a:t>
            </a:r>
            <a:r>
              <a:rPr lang="en-US" b="1" dirty="0">
                <a:solidFill>
                  <a:prstClr val="black"/>
                </a:solidFill>
                <a:latin typeface="Courier New" panose="02070309020205020404" pitchFamily="49" charset="0"/>
                <a:cs typeface="Courier New" panose="02070309020205020404" pitchFamily="49" charset="0"/>
              </a:rPr>
              <a:t> result = 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result = factorial(n);</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cout</a:t>
            </a:r>
            <a:r>
              <a:rPr lang="en-US" b="1" dirty="0">
                <a:solidFill>
                  <a:prstClr val="black"/>
                </a:solidFill>
                <a:latin typeface="Courier New" panose="02070309020205020404" pitchFamily="49" charset="0"/>
                <a:cs typeface="Courier New" panose="02070309020205020404" pitchFamily="49" charset="0"/>
              </a:rPr>
              <a:t> &lt;&lt; result &lt;&lt; </a:t>
            </a:r>
            <a:r>
              <a:rPr lang="en-US" b="1" dirty="0" err="1">
                <a:solidFill>
                  <a:prstClr val="black"/>
                </a:solidFill>
                <a:latin typeface="Courier New" panose="02070309020205020404" pitchFamily="49" charset="0"/>
                <a:cs typeface="Courier New" panose="02070309020205020404" pitchFamily="49" charset="0"/>
              </a:rPr>
              <a:t>endl</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cxnSp>
        <p:nvCxnSpPr>
          <p:cNvPr id="33" name="Straight Connector 32">
            <a:extLst>
              <a:ext uri="{FF2B5EF4-FFF2-40B4-BE49-F238E27FC236}">
                <a16:creationId xmlns:a16="http://schemas.microsoft.com/office/drawing/2014/main" id="{6875EFD3-7558-4E99-AA11-DB681C1F4E28}"/>
              </a:ext>
            </a:extLst>
          </p:cNvPr>
          <p:cNvCxnSpPr>
            <a:cxnSpLocks/>
          </p:cNvCxnSpPr>
          <p:nvPr/>
        </p:nvCxnSpPr>
        <p:spPr>
          <a:xfrm>
            <a:off x="2181226" y="3152824"/>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6018914C-94DF-4BB3-AFFF-E92103A97401}"/>
              </a:ext>
            </a:extLst>
          </p:cNvPr>
          <p:cNvSpPr/>
          <p:nvPr>
            <p:custDataLst>
              <p:tags r:id="rId8"/>
            </p:custDataLst>
          </p:nvPr>
        </p:nvSpPr>
        <p:spPr>
          <a:xfrm>
            <a:off x="2209800" y="2747650"/>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45" name="Straight Connector 44">
            <a:extLst>
              <a:ext uri="{FF2B5EF4-FFF2-40B4-BE49-F238E27FC236}">
                <a16:creationId xmlns:a16="http://schemas.microsoft.com/office/drawing/2014/main" id="{A418F4F6-FEB7-48C6-B947-052FF53F34F3}"/>
              </a:ext>
            </a:extLst>
          </p:cNvPr>
          <p:cNvCxnSpPr>
            <a:cxnSpLocks/>
          </p:cNvCxnSpPr>
          <p:nvPr/>
        </p:nvCxnSpPr>
        <p:spPr>
          <a:xfrm>
            <a:off x="2209801" y="3152824"/>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13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26" name="Rectangle 25"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0C4784EF-289D-4888-A511-DE33C3C2C277}"/>
              </a:ext>
            </a:extLst>
          </p:cNvPr>
          <p:cNvSpPr/>
          <p:nvPr>
            <p:custDataLst>
              <p:tags r:id="rId1"/>
            </p:custDataLst>
          </p:nvPr>
        </p:nvSpPr>
        <p:spPr>
          <a:xfrm>
            <a:off x="2209800" y="1551211"/>
            <a:ext cx="2743200" cy="5089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a:solidFill>
                <a:prstClr val="white"/>
              </a:solidFill>
              <a:latin typeface="Calibri" panose="020F0502020204030204"/>
            </a:endParaRPr>
          </a:p>
        </p:txBody>
      </p:sp>
      <p:sp>
        <p:nvSpPr>
          <p:cNvPr id="30" name="Rectangle 29">
            <a:extLst>
              <a:ext uri="{FF2B5EF4-FFF2-40B4-BE49-F238E27FC236}">
                <a16:creationId xmlns:a16="http://schemas.microsoft.com/office/drawing/2014/main" id="{8F512CA0-3589-4253-8FA9-538D04276E8B}"/>
              </a:ext>
            </a:extLst>
          </p:cNvPr>
          <p:cNvSpPr/>
          <p:nvPr>
            <p:custDataLst>
              <p:tags r:id="rId2"/>
            </p:custDataLst>
          </p:nvPr>
        </p:nvSpPr>
        <p:spPr>
          <a:xfrm>
            <a:off x="2209800" y="5885698"/>
            <a:ext cx="274320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Heap</a:t>
            </a:r>
          </a:p>
        </p:txBody>
      </p:sp>
      <p:cxnSp>
        <p:nvCxnSpPr>
          <p:cNvPr id="31" name="Straight Arrow Connector 30">
            <a:extLst>
              <a:ext uri="{FF2B5EF4-FFF2-40B4-BE49-F238E27FC236}">
                <a16:creationId xmlns:a16="http://schemas.microsoft.com/office/drawing/2014/main" id="{E41F8E82-7CE3-4F13-A615-8F242363601E}"/>
              </a:ext>
            </a:extLst>
          </p:cNvPr>
          <p:cNvCxnSpPr>
            <a:cxnSpLocks/>
            <a:stCxn id="30" idx="0"/>
          </p:cNvCxnSpPr>
          <p:nvPr>
            <p:custDataLst>
              <p:tags r:id="rId3"/>
            </p:custDataLst>
          </p:nvPr>
        </p:nvCxnSpPr>
        <p:spPr>
          <a:xfrm flipV="1">
            <a:off x="3581400" y="5410200"/>
            <a:ext cx="0" cy="475498"/>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6640F156-4230-4EAF-8F6C-B87762D5ED98}"/>
              </a:ext>
            </a:extLst>
          </p:cNvPr>
          <p:cNvSpPr/>
          <p:nvPr>
            <p:custDataLst>
              <p:tags r:id="rId4"/>
            </p:custDataLst>
          </p:nvPr>
        </p:nvSpPr>
        <p:spPr>
          <a:xfrm>
            <a:off x="1841067" y="6365996"/>
            <a:ext cx="340158" cy="461665"/>
          </a:xfrm>
          <a:prstGeom prst="rect">
            <a:avLst/>
          </a:prstGeom>
        </p:spPr>
        <p:txBody>
          <a:bodyPr wrap="none">
            <a:spAutoFit/>
          </a:bodyPr>
          <a:lstStyle/>
          <a:p>
            <a:pPr defTabSz="457200"/>
            <a:r>
              <a:rPr lang="en-US" sz="2400" dirty="0">
                <a:solidFill>
                  <a:prstClr val="black"/>
                </a:solidFill>
                <a:latin typeface="Calibri" panose="020F0502020204030204"/>
              </a:rPr>
              <a:t>0</a:t>
            </a:r>
          </a:p>
        </p:txBody>
      </p:sp>
      <p:sp>
        <p:nvSpPr>
          <p:cNvPr id="33" name="Text Placeholder 4">
            <a:extLst>
              <a:ext uri="{FF2B5EF4-FFF2-40B4-BE49-F238E27FC236}">
                <a16:creationId xmlns:a16="http://schemas.microsoft.com/office/drawing/2014/main" id="{75B91B20-E4B5-4373-8EDD-51BB2CAC32F6}"/>
              </a:ext>
            </a:extLst>
          </p:cNvPr>
          <p:cNvSpPr txBox="1">
            <a:spLocks/>
          </p:cNvSpPr>
          <p:nvPr>
            <p:custDataLst>
              <p:tags r:id="rId5"/>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34" name="Rectangle 33">
            <a:extLst>
              <a:ext uri="{FF2B5EF4-FFF2-40B4-BE49-F238E27FC236}">
                <a16:creationId xmlns:a16="http://schemas.microsoft.com/office/drawing/2014/main" id="{C329E132-7797-452F-A9E8-937331E729D6}"/>
              </a:ext>
            </a:extLst>
          </p:cNvPr>
          <p:cNvSpPr/>
          <p:nvPr>
            <p:custDataLst>
              <p:tags r:id="rId6"/>
            </p:custDataLst>
          </p:nvPr>
        </p:nvSpPr>
        <p:spPr>
          <a:xfrm>
            <a:off x="2209800" y="1551211"/>
            <a:ext cx="27432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400" dirty="0">
                <a:solidFill>
                  <a:prstClr val="black"/>
                </a:solidFill>
                <a:latin typeface="Calibri" panose="020F0502020204030204"/>
              </a:rPr>
              <a:t>Stack</a:t>
            </a:r>
          </a:p>
        </p:txBody>
      </p:sp>
      <p:cxnSp>
        <p:nvCxnSpPr>
          <p:cNvPr id="35" name="Straight Arrow Connector 34">
            <a:extLst>
              <a:ext uri="{FF2B5EF4-FFF2-40B4-BE49-F238E27FC236}">
                <a16:creationId xmlns:a16="http://schemas.microsoft.com/office/drawing/2014/main" id="{D2E00948-272B-48F6-A759-B4E9362833D5}"/>
              </a:ext>
            </a:extLst>
          </p:cNvPr>
          <p:cNvCxnSpPr>
            <a:cxnSpLocks/>
            <a:stCxn id="34" idx="2"/>
          </p:cNvCxnSpPr>
          <p:nvPr>
            <p:custDataLst>
              <p:tags r:id="rId7"/>
            </p:custDataLst>
          </p:nvPr>
        </p:nvCxnSpPr>
        <p:spPr>
          <a:xfrm>
            <a:off x="3581400" y="2008411"/>
            <a:ext cx="0" cy="500746"/>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CA316F-D6B7-4EA9-A226-5D0E655FAF6B}"/>
              </a:ext>
            </a:extLst>
          </p:cNvPr>
          <p:cNvCxnSpPr>
            <a:cxnSpLocks/>
          </p:cNvCxnSpPr>
          <p:nvPr/>
        </p:nvCxnSpPr>
        <p:spPr>
          <a:xfrm>
            <a:off x="2181226" y="3152824"/>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EFF21030-8758-47F9-BF50-D2D2502EF15C}"/>
              </a:ext>
            </a:extLst>
          </p:cNvPr>
          <p:cNvSpPr/>
          <p:nvPr>
            <p:custDataLst>
              <p:tags r:id="rId8"/>
            </p:custDataLst>
          </p:nvPr>
        </p:nvSpPr>
        <p:spPr>
          <a:xfrm>
            <a:off x="2209800" y="2747650"/>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8" name="Straight Connector 37">
            <a:extLst>
              <a:ext uri="{FF2B5EF4-FFF2-40B4-BE49-F238E27FC236}">
                <a16:creationId xmlns:a16="http://schemas.microsoft.com/office/drawing/2014/main" id="{026981AC-6454-4957-BAF7-A9FFAAAE17E2}"/>
              </a:ext>
            </a:extLst>
          </p:cNvPr>
          <p:cNvCxnSpPr>
            <a:cxnSpLocks/>
          </p:cNvCxnSpPr>
          <p:nvPr/>
        </p:nvCxnSpPr>
        <p:spPr>
          <a:xfrm>
            <a:off x="2209801" y="3152824"/>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506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110844" y="1549539"/>
            <a:ext cx="5497285"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void</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size)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elephant_array</a:t>
            </a:r>
            <a:r>
              <a:rPr lang="en-US" b="1" dirty="0">
                <a:solidFill>
                  <a:prstClr val="black"/>
                </a:solidFill>
                <a:latin typeface="Courier New" panose="02070309020205020404" pitchFamily="49" charset="0"/>
                <a:cs typeface="Courier New" panose="02070309020205020404" pitchFamily="49" charset="0"/>
              </a:rPr>
              <a:t>[size]</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(num-1, size);</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 10;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size = 50;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highlight>
                  <a:srgbClr val="FFFF00"/>
                </a:highlight>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size)</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sp>
        <p:nvSpPr>
          <p:cNvPr id="14" name="Rectangle 13">
            <a:extLst>
              <a:ext uri="{FF2B5EF4-FFF2-40B4-BE49-F238E27FC236}">
                <a16:creationId xmlns:a16="http://schemas.microsoft.com/office/drawing/2014/main" id="{FE29BA21-3807-4CEB-9159-4F785F4002C2}"/>
              </a:ext>
            </a:extLst>
          </p:cNvPr>
          <p:cNvSpPr/>
          <p:nvPr>
            <p:custDataLst>
              <p:tags r:id="rId8"/>
            </p:custDataLst>
          </p:nvPr>
        </p:nvSpPr>
        <p:spPr>
          <a:xfrm>
            <a:off x="2209800" y="2443840"/>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err="1">
                <a:solidFill>
                  <a:prstClr val="black"/>
                </a:solidFill>
                <a:latin typeface="Courier New" panose="02070309020205020404" pitchFamily="49" charset="0"/>
                <a:cs typeface="Courier New" panose="02070309020205020404" pitchFamily="49" charset="0"/>
              </a:rPr>
              <a:t>stack_of_elephants</a:t>
            </a:r>
            <a:endParaRPr lang="en-US" dirty="0">
              <a:solidFill>
                <a:prstClr val="black"/>
              </a:solidFill>
              <a:latin typeface="Courier New" panose="02070309020205020404" pitchFamily="49" charset="0"/>
              <a:cs typeface="Courier New" panose="02070309020205020404" pitchFamily="49" charset="0"/>
            </a:endParaRPr>
          </a:p>
          <a:p>
            <a:pPr defTabSz="457200"/>
            <a:endParaRPr lang="en-US" dirty="0">
              <a:solidFill>
                <a:prstClr val="black"/>
              </a:solidFill>
              <a:latin typeface="Courier New" panose="02070309020205020404" pitchFamily="49" charset="0"/>
              <a:cs typeface="Courier New" panose="02070309020205020404" pitchFamily="49" charset="0"/>
            </a:endParaRPr>
          </a:p>
          <a:p>
            <a:pPr defTabSz="457200"/>
            <a:endParaRPr lang="en-US" dirty="0">
              <a:solidFill>
                <a:prstClr val="black"/>
              </a:solidFill>
              <a:latin typeface="Courier New" panose="02070309020205020404" pitchFamily="49" charset="0"/>
              <a:cs typeface="Courier New" panose="02070309020205020404" pitchFamily="49" charset="0"/>
            </a:endParaRPr>
          </a:p>
          <a:p>
            <a:pPr defTabSz="457200"/>
            <a:endParaRPr lang="en-US" dirty="0">
              <a:solidFill>
                <a:prstClr val="black"/>
              </a:solidFill>
              <a:latin typeface="Courier New" panose="02070309020205020404" pitchFamily="49" charset="0"/>
              <a:cs typeface="Courier New" panose="02070309020205020404" pitchFamily="49" charset="0"/>
            </a:endParaRPr>
          </a:p>
        </p:txBody>
      </p:sp>
      <p:cxnSp>
        <p:nvCxnSpPr>
          <p:cNvPr id="30" name="Straight Connector 29">
            <a:extLst>
              <a:ext uri="{FF2B5EF4-FFF2-40B4-BE49-F238E27FC236}">
                <a16:creationId xmlns:a16="http://schemas.microsoft.com/office/drawing/2014/main" id="{FB486FF5-2650-4A93-ADAF-5977BE67F080}"/>
              </a:ext>
            </a:extLst>
          </p:cNvPr>
          <p:cNvCxnSpPr>
            <a:cxnSpLocks/>
          </p:cNvCxnSpPr>
          <p:nvPr/>
        </p:nvCxnSpPr>
        <p:spPr>
          <a:xfrm>
            <a:off x="2181226" y="5562277"/>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C7D025A-F852-4154-AC58-3070FF0846CF}"/>
              </a:ext>
            </a:extLst>
          </p:cNvPr>
          <p:cNvSpPr/>
          <p:nvPr>
            <p:custDataLst>
              <p:tags r:id="rId9"/>
            </p:custDataLst>
          </p:nvPr>
        </p:nvSpPr>
        <p:spPr>
          <a:xfrm>
            <a:off x="2209800" y="5157103"/>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2" name="Straight Connector 31">
            <a:extLst>
              <a:ext uri="{FF2B5EF4-FFF2-40B4-BE49-F238E27FC236}">
                <a16:creationId xmlns:a16="http://schemas.microsoft.com/office/drawing/2014/main" id="{2D51060C-BB84-453B-9ABD-0DCD572DCB05}"/>
              </a:ext>
            </a:extLst>
          </p:cNvPr>
          <p:cNvCxnSpPr>
            <a:cxnSpLocks/>
          </p:cNvCxnSpPr>
          <p:nvPr/>
        </p:nvCxnSpPr>
        <p:spPr>
          <a:xfrm>
            <a:off x="2209801" y="5562277"/>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9499DAE-56F9-4674-8EC0-721287EB9C50}"/>
              </a:ext>
            </a:extLst>
          </p:cNvPr>
          <p:cNvSpPr/>
          <p:nvPr>
            <p:custDataLst>
              <p:tags r:id="rId10"/>
            </p:custDataLst>
          </p:nvPr>
        </p:nvSpPr>
        <p:spPr>
          <a:xfrm>
            <a:off x="4310766" y="291355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33" name="Rectangle 32">
            <a:extLst>
              <a:ext uri="{FF2B5EF4-FFF2-40B4-BE49-F238E27FC236}">
                <a16:creationId xmlns:a16="http://schemas.microsoft.com/office/drawing/2014/main" id="{37ED7BDF-EDF7-440D-9B86-40C8BC2CEBEC}"/>
              </a:ext>
            </a:extLst>
          </p:cNvPr>
          <p:cNvSpPr/>
          <p:nvPr>
            <p:custDataLst>
              <p:tags r:id="rId11"/>
            </p:custDataLst>
          </p:nvPr>
        </p:nvSpPr>
        <p:spPr>
          <a:xfrm>
            <a:off x="4310766" y="3276721"/>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34" name="Rectangle 33">
            <a:extLst>
              <a:ext uri="{FF2B5EF4-FFF2-40B4-BE49-F238E27FC236}">
                <a16:creationId xmlns:a16="http://schemas.microsoft.com/office/drawing/2014/main" id="{A1A3A7B7-485A-443A-A8E0-1BECF21EC4B1}"/>
              </a:ext>
            </a:extLst>
          </p:cNvPr>
          <p:cNvSpPr/>
          <p:nvPr>
            <p:custDataLst>
              <p:tags r:id="rId12"/>
            </p:custDataLst>
          </p:nvPr>
        </p:nvSpPr>
        <p:spPr>
          <a:xfrm>
            <a:off x="3111878" y="3284132"/>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35" name="Rectangle 34">
            <a:extLst>
              <a:ext uri="{FF2B5EF4-FFF2-40B4-BE49-F238E27FC236}">
                <a16:creationId xmlns:a16="http://schemas.microsoft.com/office/drawing/2014/main" id="{71B42459-14A9-4535-8DC7-99B44A63CF4A}"/>
              </a:ext>
            </a:extLst>
          </p:cNvPr>
          <p:cNvSpPr/>
          <p:nvPr>
            <p:custDataLst>
              <p:tags r:id="rId13"/>
            </p:custDataLst>
          </p:nvPr>
        </p:nvSpPr>
        <p:spPr>
          <a:xfrm>
            <a:off x="3111878" y="2913550"/>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0973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6" grpId="0" animBg="1"/>
      <p:bldP spid="33" grpId="0" animBg="1"/>
      <p:bldP spid="34" grpId="0"/>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110844" y="1549539"/>
            <a:ext cx="5497285"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void</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size)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highlight>
                  <a:srgbClr val="FFFF00"/>
                </a:highlight>
                <a:latin typeface="Courier New" panose="02070309020205020404" pitchFamily="49" charset="0"/>
                <a:cs typeface="Courier New" panose="02070309020205020404" pitchFamily="49" charset="0"/>
              </a:rPr>
              <a:t>int</a:t>
            </a:r>
            <a:r>
              <a:rPr lang="en-US" b="1" dirty="0">
                <a:solidFill>
                  <a:prstClr val="black"/>
                </a:solidFill>
                <a:highlight>
                  <a:srgbClr val="FFFF00"/>
                </a:highlight>
                <a:latin typeface="Courier New" panose="02070309020205020404" pitchFamily="49" charset="0"/>
                <a:cs typeface="Courier New" panose="02070309020205020404" pitchFamily="49" charset="0"/>
              </a:rPr>
              <a:t> </a:t>
            </a:r>
            <a:r>
              <a:rPr lang="en-US" b="1" dirty="0" err="1">
                <a:solidFill>
                  <a:prstClr val="black"/>
                </a:solidFill>
                <a:highlight>
                  <a:srgbClr val="FFFF00"/>
                </a:highlight>
                <a:latin typeface="Courier New" panose="02070309020205020404" pitchFamily="49" charset="0"/>
                <a:cs typeface="Courier New" panose="02070309020205020404" pitchFamily="49" charset="0"/>
              </a:rPr>
              <a:t>elephant_array</a:t>
            </a:r>
            <a:r>
              <a:rPr lang="en-US" b="1" dirty="0">
                <a:solidFill>
                  <a:prstClr val="black"/>
                </a:solidFill>
                <a:highlight>
                  <a:srgbClr val="FFFF00"/>
                </a:highlight>
                <a:latin typeface="Courier New" panose="02070309020205020404" pitchFamily="49" charset="0"/>
                <a:cs typeface="Courier New" panose="02070309020205020404" pitchFamily="49" charset="0"/>
              </a:rPr>
              <a:t>[size]</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(num-1, size);</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 10;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size = 50;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size)</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sp>
        <p:nvSpPr>
          <p:cNvPr id="14" name="Rectangle 13">
            <a:extLst>
              <a:ext uri="{FF2B5EF4-FFF2-40B4-BE49-F238E27FC236}">
                <a16:creationId xmlns:a16="http://schemas.microsoft.com/office/drawing/2014/main" id="{FE29BA21-3807-4CEB-9159-4F785F4002C2}"/>
              </a:ext>
            </a:extLst>
          </p:cNvPr>
          <p:cNvSpPr/>
          <p:nvPr>
            <p:custDataLst>
              <p:tags r:id="rId8"/>
            </p:custDataLst>
          </p:nvPr>
        </p:nvSpPr>
        <p:spPr>
          <a:xfrm>
            <a:off x="2209800" y="2443840"/>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CD3A770A-580B-4D07-9E0A-8F372D53FE8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43200" y="2504177"/>
            <a:ext cx="1676400" cy="1234599"/>
          </a:xfrm>
          <a:prstGeom prst="rect">
            <a:avLst/>
          </a:prstGeom>
        </p:spPr>
      </p:pic>
      <p:cxnSp>
        <p:nvCxnSpPr>
          <p:cNvPr id="30" name="Straight Connector 29">
            <a:extLst>
              <a:ext uri="{FF2B5EF4-FFF2-40B4-BE49-F238E27FC236}">
                <a16:creationId xmlns:a16="http://schemas.microsoft.com/office/drawing/2014/main" id="{FB486FF5-2650-4A93-ADAF-5977BE67F080}"/>
              </a:ext>
            </a:extLst>
          </p:cNvPr>
          <p:cNvCxnSpPr>
            <a:cxnSpLocks/>
          </p:cNvCxnSpPr>
          <p:nvPr/>
        </p:nvCxnSpPr>
        <p:spPr>
          <a:xfrm>
            <a:off x="2181226" y="5562277"/>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C7D025A-F852-4154-AC58-3070FF0846CF}"/>
              </a:ext>
            </a:extLst>
          </p:cNvPr>
          <p:cNvSpPr/>
          <p:nvPr>
            <p:custDataLst>
              <p:tags r:id="rId9"/>
            </p:custDataLst>
          </p:nvPr>
        </p:nvSpPr>
        <p:spPr>
          <a:xfrm>
            <a:off x="2209800" y="5157103"/>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2" name="Straight Connector 31">
            <a:extLst>
              <a:ext uri="{FF2B5EF4-FFF2-40B4-BE49-F238E27FC236}">
                <a16:creationId xmlns:a16="http://schemas.microsoft.com/office/drawing/2014/main" id="{2D51060C-BB84-453B-9ABD-0DCD572DCB05}"/>
              </a:ext>
            </a:extLst>
          </p:cNvPr>
          <p:cNvCxnSpPr>
            <a:cxnSpLocks/>
          </p:cNvCxnSpPr>
          <p:nvPr/>
        </p:nvCxnSpPr>
        <p:spPr>
          <a:xfrm>
            <a:off x="2209801" y="5562277"/>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896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8FD-3869-4AF7-957C-E0EB11B91306}"/>
              </a:ext>
            </a:extLst>
          </p:cNvPr>
          <p:cNvSpPr>
            <a:spLocks noGrp="1"/>
          </p:cNvSpPr>
          <p:nvPr>
            <p:ph type="title"/>
          </p:nvPr>
        </p:nvSpPr>
        <p:spPr>
          <a:xfrm>
            <a:off x="2152650" y="261172"/>
            <a:ext cx="7886700" cy="839730"/>
          </a:xfrm>
        </p:spPr>
        <p:txBody>
          <a:bodyPr/>
          <a:lstStyle/>
          <a:p>
            <a:r>
              <a:rPr lang="en-US" dirty="0"/>
              <a:t>Demo: Stack of elephants</a:t>
            </a:r>
          </a:p>
        </p:txBody>
      </p:sp>
      <p:sp>
        <p:nvSpPr>
          <p:cNvPr id="7" name="Rectangle 6" descr="Memory is represnted as a giant array. The &quot;middle&quot; of the array is free/available space. The &quot;top&quot; of the array is occupied by the heap, which grows downward into the free/available space as more memory is allocated from the heap. The &quot;bottom&quot; of the array is occupied by the stack, which grows up as function calls are made (and shrinks back down as those functions return). The stack holds the local variables of each function. The heap holds space that was allocated with &quot;new&quot; in C++ (or &quot;malloc()&quot; in C). We will talk more about the heap and &quot;new&quot; later in the quarter!" title="Memory: stack and heap">
            <a:extLst>
              <a:ext uri="{FF2B5EF4-FFF2-40B4-BE49-F238E27FC236}">
                <a16:creationId xmlns:a16="http://schemas.microsoft.com/office/drawing/2014/main" id="{6B987BEB-F63E-4CD2-B7E7-985073AFE186}"/>
              </a:ext>
            </a:extLst>
          </p:cNvPr>
          <p:cNvSpPr/>
          <p:nvPr>
            <p:custDataLst>
              <p:tags r:id="rId1"/>
            </p:custDataLst>
          </p:nvPr>
        </p:nvSpPr>
        <p:spPr>
          <a:xfrm>
            <a:off x="2209800" y="1551210"/>
            <a:ext cx="2743200" cy="5306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sz="240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5820171-44B1-4BE8-B58E-8535FC380681}"/>
              </a:ext>
            </a:extLst>
          </p:cNvPr>
          <p:cNvSpPr/>
          <p:nvPr>
            <p:custDataLst>
              <p:tags r:id="rId2"/>
            </p:custDataLst>
          </p:nvPr>
        </p:nvSpPr>
        <p:spPr>
          <a:xfrm>
            <a:off x="2209800" y="1551211"/>
            <a:ext cx="2743200" cy="892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r>
              <a:rPr lang="en-US" dirty="0">
                <a:solidFill>
                  <a:prstClr val="black"/>
                </a:solidFill>
                <a:latin typeface="Courier New" panose="02070309020205020404" pitchFamily="49" charset="0"/>
                <a:cs typeface="Courier New" panose="02070309020205020404" pitchFamily="49" charset="0"/>
              </a:rPr>
              <a:t>main()</a:t>
            </a:r>
          </a:p>
          <a:p>
            <a:pPr defTabSz="457200"/>
            <a:endParaRPr lang="en-US" dirty="0">
              <a:solidFill>
                <a:prstClr val="black"/>
              </a:solidFill>
              <a:latin typeface="Courier New" panose="02070309020205020404" pitchFamily="49" charset="0"/>
              <a:cs typeface="Courier New" panose="02070309020205020404" pitchFamily="49" charset="0"/>
            </a:endParaRPr>
          </a:p>
        </p:txBody>
      </p:sp>
      <p:sp>
        <p:nvSpPr>
          <p:cNvPr id="16" name="Rectangle 15">
            <a:extLst>
              <a:ext uri="{FF2B5EF4-FFF2-40B4-BE49-F238E27FC236}">
                <a16:creationId xmlns:a16="http://schemas.microsoft.com/office/drawing/2014/main" id="{15DA2F77-3399-4D9B-8707-64D1839B9962}"/>
              </a:ext>
            </a:extLst>
          </p:cNvPr>
          <p:cNvSpPr/>
          <p:nvPr>
            <p:custDataLst>
              <p:tags r:id="rId3"/>
            </p:custDataLst>
          </p:nvPr>
        </p:nvSpPr>
        <p:spPr>
          <a:xfrm>
            <a:off x="4310766" y="1645243"/>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10</a:t>
            </a:r>
          </a:p>
        </p:txBody>
      </p:sp>
      <p:sp>
        <p:nvSpPr>
          <p:cNvPr id="17" name="Rectangle 16">
            <a:extLst>
              <a:ext uri="{FF2B5EF4-FFF2-40B4-BE49-F238E27FC236}">
                <a16:creationId xmlns:a16="http://schemas.microsoft.com/office/drawing/2014/main" id="{245FB63A-4050-4210-8043-BF7D1BA65890}"/>
              </a:ext>
            </a:extLst>
          </p:cNvPr>
          <p:cNvSpPr/>
          <p:nvPr>
            <p:custDataLst>
              <p:tags r:id="rId4"/>
            </p:custDataLst>
          </p:nvPr>
        </p:nvSpPr>
        <p:spPr>
          <a:xfrm>
            <a:off x="4310766" y="2008412"/>
            <a:ext cx="557872" cy="3631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black"/>
                </a:solidFill>
                <a:latin typeface="Courier New" panose="02070309020205020404" pitchFamily="49" charset="0"/>
                <a:cs typeface="Courier New" panose="02070309020205020404" pitchFamily="49" charset="0"/>
              </a:rPr>
              <a:t>50</a:t>
            </a:r>
          </a:p>
        </p:txBody>
      </p:sp>
      <p:sp>
        <p:nvSpPr>
          <p:cNvPr id="18" name="Rectangle 17">
            <a:extLst>
              <a:ext uri="{FF2B5EF4-FFF2-40B4-BE49-F238E27FC236}">
                <a16:creationId xmlns:a16="http://schemas.microsoft.com/office/drawing/2014/main" id="{67B2ECF9-3FDE-4958-A934-E701F3B586A6}"/>
              </a:ext>
            </a:extLst>
          </p:cNvPr>
          <p:cNvSpPr/>
          <p:nvPr>
            <p:custDataLst>
              <p:tags r:id="rId5"/>
            </p:custDataLst>
          </p:nvPr>
        </p:nvSpPr>
        <p:spPr>
          <a:xfrm>
            <a:off x="3111878" y="2015823"/>
            <a:ext cx="1197864"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a:solidFill>
                  <a:prstClr val="black"/>
                </a:solidFill>
                <a:latin typeface="Courier New" panose="02070309020205020404" pitchFamily="49" charset="0"/>
                <a:cs typeface="Courier New" panose="02070309020205020404" pitchFamily="49" charset="0"/>
              </a:rPr>
              <a:t>size:</a:t>
            </a:r>
          </a:p>
        </p:txBody>
      </p:sp>
      <p:sp>
        <p:nvSpPr>
          <p:cNvPr id="19" name="Rectangle 18">
            <a:extLst>
              <a:ext uri="{FF2B5EF4-FFF2-40B4-BE49-F238E27FC236}">
                <a16:creationId xmlns:a16="http://schemas.microsoft.com/office/drawing/2014/main" id="{15A654FF-D05C-4B7D-97FF-BA789B55BAB4}"/>
              </a:ext>
            </a:extLst>
          </p:cNvPr>
          <p:cNvSpPr/>
          <p:nvPr>
            <p:custDataLst>
              <p:tags r:id="rId6"/>
            </p:custDataLst>
          </p:nvPr>
        </p:nvSpPr>
        <p:spPr>
          <a:xfrm>
            <a:off x="3111878" y="1645241"/>
            <a:ext cx="1198888" cy="3483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457200"/>
            <a:r>
              <a:rPr lang="en-US" dirty="0" err="1">
                <a:solidFill>
                  <a:prstClr val="black"/>
                </a:solidFill>
                <a:latin typeface="Courier New" panose="02070309020205020404" pitchFamily="49" charset="0"/>
                <a:cs typeface="Courier New" panose="02070309020205020404" pitchFamily="49" charset="0"/>
              </a:rPr>
              <a:t>num</a:t>
            </a:r>
            <a:r>
              <a:rPr lang="en-US" dirty="0">
                <a:solidFill>
                  <a:prstClr val="black"/>
                </a:solidFill>
                <a:latin typeface="Courier New" panose="02070309020205020404" pitchFamily="49" charset="0"/>
                <a:cs typeface="Courier New" panose="02070309020205020404" pitchFamily="49" charset="0"/>
              </a:rPr>
              <a:t>:</a:t>
            </a:r>
          </a:p>
        </p:txBody>
      </p:sp>
      <p:sp>
        <p:nvSpPr>
          <p:cNvPr id="23" name="Text Placeholder 4">
            <a:extLst>
              <a:ext uri="{FF2B5EF4-FFF2-40B4-BE49-F238E27FC236}">
                <a16:creationId xmlns:a16="http://schemas.microsoft.com/office/drawing/2014/main" id="{6B90F07B-D1C8-4824-A3BF-2EA64AB2F572}"/>
              </a:ext>
            </a:extLst>
          </p:cNvPr>
          <p:cNvSpPr txBox="1">
            <a:spLocks/>
          </p:cNvSpPr>
          <p:nvPr>
            <p:custDataLst>
              <p:tags r:id="rId7"/>
            </p:custDataLst>
          </p:nvPr>
        </p:nvSpPr>
        <p:spPr>
          <a:xfrm>
            <a:off x="2152650" y="1017300"/>
            <a:ext cx="3057148" cy="639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prstClr val="black"/>
                </a:solidFill>
                <a:latin typeface="Calibri" panose="020F0502020204030204"/>
              </a:rPr>
              <a:t>Memory</a:t>
            </a:r>
          </a:p>
        </p:txBody>
      </p:sp>
      <p:sp>
        <p:nvSpPr>
          <p:cNvPr id="28" name="Rectangle 27">
            <a:extLst>
              <a:ext uri="{FF2B5EF4-FFF2-40B4-BE49-F238E27FC236}">
                <a16:creationId xmlns:a16="http://schemas.microsoft.com/office/drawing/2014/main" id="{308A3E74-BA75-43DB-A3DD-A754D8782EB6}"/>
              </a:ext>
            </a:extLst>
          </p:cNvPr>
          <p:cNvSpPr/>
          <p:nvPr/>
        </p:nvSpPr>
        <p:spPr>
          <a:xfrm>
            <a:off x="5110844" y="1549539"/>
            <a:ext cx="5497285" cy="4967514"/>
          </a:xfrm>
          <a:prstGeom prst="rect">
            <a:avLst/>
          </a:prstGeom>
        </p:spPr>
        <p:txBody>
          <a:bodyPr wrap="square">
            <a:spAutoFit/>
          </a:bodyPr>
          <a:lstStyle/>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void</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srgbClr val="70AD47">
                    <a:lumMod val="75000"/>
                  </a:srgbClr>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size)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if </a:t>
            </a:r>
            <a:r>
              <a:rPr lang="en-US" b="1" dirty="0">
                <a:solidFill>
                  <a:prstClr val="black"/>
                </a:solidFill>
                <a:latin typeface="Courier New" panose="02070309020205020404" pitchFamily="49" charset="0"/>
                <a:cs typeface="Courier New" panose="02070309020205020404" pitchFamily="49" charset="0"/>
              </a:rPr>
              <a:t>(</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 0)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a:solidFill>
                  <a:srgbClr val="ED7D31">
                    <a:lumMod val="75000"/>
                  </a:srgbClr>
                </a:solidFill>
                <a:latin typeface="Courier New" panose="02070309020205020404" pitchFamily="49" charset="0"/>
                <a:cs typeface="Courier New" panose="02070309020205020404" pitchFamily="49" charset="0"/>
              </a:rPr>
              <a:t>return</a:t>
            </a: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elephant_array</a:t>
            </a:r>
            <a:r>
              <a:rPr lang="en-US" b="1" dirty="0">
                <a:solidFill>
                  <a:prstClr val="black"/>
                </a:solidFill>
                <a:latin typeface="Courier New" panose="02070309020205020404" pitchFamily="49" charset="0"/>
                <a:cs typeface="Courier New" panose="02070309020205020404" pitchFamily="49" charset="0"/>
              </a:rPr>
              <a:t>[size]</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highlight>
                  <a:srgbClr val="FFFF00"/>
                </a:highlight>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(num-1, size);</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a:p>
            <a:pPr defTabSz="457200">
              <a:lnSpc>
                <a:spcPct val="110000"/>
              </a:lnSpc>
            </a:pPr>
            <a:endParaRPr lang="en-US" b="1" dirty="0">
              <a:solidFill>
                <a:prstClr val="black"/>
              </a:solidFill>
              <a:latin typeface="Courier New" panose="02070309020205020404" pitchFamily="49" charset="0"/>
              <a:cs typeface="Courier New" panose="02070309020205020404" pitchFamily="49" charset="0"/>
            </a:endParaRPr>
          </a:p>
          <a:p>
            <a:pPr defTabSz="457200">
              <a:lnSpc>
                <a:spcPct val="110000"/>
              </a:lnSpc>
            </a:pP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main() {</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 10;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srgbClr val="70AD47">
                    <a:lumMod val="75000"/>
                  </a:srgbClr>
                </a:solidFill>
                <a:latin typeface="Courier New" panose="02070309020205020404" pitchFamily="49" charset="0"/>
                <a:cs typeface="Courier New" panose="02070309020205020404" pitchFamily="49" charset="0"/>
              </a:rPr>
              <a:t>int</a:t>
            </a:r>
            <a:r>
              <a:rPr lang="en-US" b="1" dirty="0">
                <a:solidFill>
                  <a:prstClr val="black"/>
                </a:solidFill>
                <a:latin typeface="Courier New" panose="02070309020205020404" pitchFamily="49" charset="0"/>
                <a:cs typeface="Courier New" panose="02070309020205020404" pitchFamily="49" charset="0"/>
              </a:rPr>
              <a:t> size = 50;</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	</a:t>
            </a:r>
            <a:r>
              <a:rPr lang="en-US" b="1" dirty="0" err="1">
                <a:solidFill>
                  <a:prstClr val="black"/>
                </a:solidFill>
                <a:latin typeface="Courier New" panose="02070309020205020404" pitchFamily="49" charset="0"/>
                <a:cs typeface="Courier New" panose="02070309020205020404" pitchFamily="49" charset="0"/>
              </a:rPr>
              <a:t>stack_of_elephants</a:t>
            </a:r>
            <a:r>
              <a:rPr lang="en-US" b="1" dirty="0">
                <a:solidFill>
                  <a:prstClr val="black"/>
                </a:solidFill>
                <a:latin typeface="Courier New" panose="02070309020205020404" pitchFamily="49" charset="0"/>
                <a:cs typeface="Courier New" panose="02070309020205020404" pitchFamily="49" charset="0"/>
              </a:rPr>
              <a:t>(</a:t>
            </a:r>
            <a:r>
              <a:rPr lang="en-US" b="1" dirty="0" err="1">
                <a:solidFill>
                  <a:prstClr val="black"/>
                </a:solidFill>
                <a:latin typeface="Courier New" panose="02070309020205020404" pitchFamily="49" charset="0"/>
                <a:cs typeface="Courier New" panose="02070309020205020404" pitchFamily="49" charset="0"/>
              </a:rPr>
              <a:t>num</a:t>
            </a:r>
            <a:r>
              <a:rPr lang="en-US" b="1" dirty="0">
                <a:solidFill>
                  <a:prstClr val="black"/>
                </a:solidFill>
                <a:latin typeface="Courier New" panose="02070309020205020404" pitchFamily="49" charset="0"/>
                <a:cs typeface="Courier New" panose="02070309020205020404" pitchFamily="49" charset="0"/>
              </a:rPr>
              <a:t>, size)</a:t>
            </a:r>
          </a:p>
          <a:p>
            <a:pPr defTabSz="457200">
              <a:lnSpc>
                <a:spcPct val="110000"/>
              </a:lnSpc>
            </a:pPr>
            <a:r>
              <a:rPr lang="en-US" b="1" dirty="0">
                <a:solidFill>
                  <a:prstClr val="black"/>
                </a:solidFill>
                <a:latin typeface="Courier New" panose="02070309020205020404" pitchFamily="49" charset="0"/>
                <a:cs typeface="Courier New" panose="02070309020205020404" pitchFamily="49" charset="0"/>
              </a:rPr>
              <a:t>}</a:t>
            </a:r>
          </a:p>
        </p:txBody>
      </p:sp>
      <p:sp>
        <p:nvSpPr>
          <p:cNvPr id="14" name="Rectangle 13">
            <a:extLst>
              <a:ext uri="{FF2B5EF4-FFF2-40B4-BE49-F238E27FC236}">
                <a16:creationId xmlns:a16="http://schemas.microsoft.com/office/drawing/2014/main" id="{FE29BA21-3807-4CEB-9159-4F785F4002C2}"/>
              </a:ext>
            </a:extLst>
          </p:cNvPr>
          <p:cNvSpPr/>
          <p:nvPr>
            <p:custDataLst>
              <p:tags r:id="rId8"/>
            </p:custDataLst>
          </p:nvPr>
        </p:nvSpPr>
        <p:spPr>
          <a:xfrm>
            <a:off x="2209800" y="2443840"/>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CD3A770A-580B-4D07-9E0A-8F372D53FE8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2504177"/>
            <a:ext cx="1676400" cy="1234599"/>
          </a:xfrm>
          <a:prstGeom prst="rect">
            <a:avLst/>
          </a:prstGeom>
        </p:spPr>
      </p:pic>
      <p:sp>
        <p:nvSpPr>
          <p:cNvPr id="21" name="Rectangle 20">
            <a:extLst>
              <a:ext uri="{FF2B5EF4-FFF2-40B4-BE49-F238E27FC236}">
                <a16:creationId xmlns:a16="http://schemas.microsoft.com/office/drawing/2014/main" id="{605B8BB1-5714-4424-A475-AB3D507495D8}"/>
              </a:ext>
            </a:extLst>
          </p:cNvPr>
          <p:cNvSpPr/>
          <p:nvPr>
            <p:custDataLst>
              <p:tags r:id="rId9"/>
            </p:custDataLst>
          </p:nvPr>
        </p:nvSpPr>
        <p:spPr>
          <a:xfrm>
            <a:off x="2209800" y="3801831"/>
            <a:ext cx="2743200" cy="13552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22" name="Picture 21">
            <a:extLst>
              <a:ext uri="{FF2B5EF4-FFF2-40B4-BE49-F238E27FC236}">
                <a16:creationId xmlns:a16="http://schemas.microsoft.com/office/drawing/2014/main" id="{EC7C8E16-6162-4172-A76F-705FA852098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3862168"/>
            <a:ext cx="1676400" cy="1234599"/>
          </a:xfrm>
          <a:prstGeom prst="rect">
            <a:avLst/>
          </a:prstGeom>
        </p:spPr>
      </p:pic>
      <p:sp>
        <p:nvSpPr>
          <p:cNvPr id="24" name="Rectangle 23">
            <a:extLst>
              <a:ext uri="{FF2B5EF4-FFF2-40B4-BE49-F238E27FC236}">
                <a16:creationId xmlns:a16="http://schemas.microsoft.com/office/drawing/2014/main" id="{A3787837-871E-4199-9593-734DE9F37DF6}"/>
              </a:ext>
            </a:extLst>
          </p:cNvPr>
          <p:cNvSpPr/>
          <p:nvPr>
            <p:custDataLst>
              <p:tags r:id="rId10"/>
            </p:custDataLst>
          </p:nvPr>
        </p:nvSpPr>
        <p:spPr>
          <a:xfrm>
            <a:off x="2209799" y="5157104"/>
            <a:ext cx="2743200" cy="135527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25" name="Picture 24">
            <a:extLst>
              <a:ext uri="{FF2B5EF4-FFF2-40B4-BE49-F238E27FC236}">
                <a16:creationId xmlns:a16="http://schemas.microsoft.com/office/drawing/2014/main" id="{8B1B4177-53C0-4F75-9F0F-034D6BAFB1A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5208060"/>
            <a:ext cx="1676400" cy="1234599"/>
          </a:xfrm>
          <a:prstGeom prst="rect">
            <a:avLst/>
          </a:prstGeom>
        </p:spPr>
      </p:pic>
      <p:sp>
        <p:nvSpPr>
          <p:cNvPr id="27" name="Rectangle 26">
            <a:extLst>
              <a:ext uri="{FF2B5EF4-FFF2-40B4-BE49-F238E27FC236}">
                <a16:creationId xmlns:a16="http://schemas.microsoft.com/office/drawing/2014/main" id="{7446CC17-1659-4E31-B06B-E5FBA7B96EA6}"/>
              </a:ext>
            </a:extLst>
          </p:cNvPr>
          <p:cNvSpPr/>
          <p:nvPr>
            <p:custDataLst>
              <p:tags r:id="rId11"/>
            </p:custDataLst>
          </p:nvPr>
        </p:nvSpPr>
        <p:spPr>
          <a:xfrm>
            <a:off x="2209799" y="6512379"/>
            <a:ext cx="2743200" cy="1355275"/>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7200"/>
            <a:endParaRPr lang="en-US" dirty="0">
              <a:solidFill>
                <a:prstClr val="black"/>
              </a:solidFill>
              <a:latin typeface="Courier New" panose="02070309020205020404" pitchFamily="49" charset="0"/>
              <a:cs typeface="Courier New" panose="02070309020205020404" pitchFamily="49" charset="0"/>
            </a:endParaRPr>
          </a:p>
        </p:txBody>
      </p:sp>
      <p:pic>
        <p:nvPicPr>
          <p:cNvPr id="29" name="Picture 28">
            <a:extLst>
              <a:ext uri="{FF2B5EF4-FFF2-40B4-BE49-F238E27FC236}">
                <a16:creationId xmlns:a16="http://schemas.microsoft.com/office/drawing/2014/main" id="{8432D4B7-E866-4D40-8327-925CE91DDF6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43200" y="6553950"/>
            <a:ext cx="1676400" cy="1234599"/>
          </a:xfrm>
          <a:prstGeom prst="rect">
            <a:avLst/>
          </a:prstGeom>
        </p:spPr>
      </p:pic>
      <p:cxnSp>
        <p:nvCxnSpPr>
          <p:cNvPr id="30" name="Straight Connector 29">
            <a:extLst>
              <a:ext uri="{FF2B5EF4-FFF2-40B4-BE49-F238E27FC236}">
                <a16:creationId xmlns:a16="http://schemas.microsoft.com/office/drawing/2014/main" id="{FB486FF5-2650-4A93-ADAF-5977BE67F080}"/>
              </a:ext>
            </a:extLst>
          </p:cNvPr>
          <p:cNvCxnSpPr>
            <a:cxnSpLocks/>
          </p:cNvCxnSpPr>
          <p:nvPr/>
        </p:nvCxnSpPr>
        <p:spPr>
          <a:xfrm>
            <a:off x="2181226" y="5562277"/>
            <a:ext cx="277177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AC7D025A-F852-4154-AC58-3070FF0846CF}"/>
              </a:ext>
            </a:extLst>
          </p:cNvPr>
          <p:cNvSpPr/>
          <p:nvPr>
            <p:custDataLst>
              <p:tags r:id="rId12"/>
            </p:custDataLst>
          </p:nvPr>
        </p:nvSpPr>
        <p:spPr>
          <a:xfrm>
            <a:off x="2209800" y="5157103"/>
            <a:ext cx="2743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2000" dirty="0">
                <a:solidFill>
                  <a:prstClr val="white"/>
                </a:solidFill>
                <a:latin typeface="Calibri" panose="020F0502020204030204"/>
              </a:rPr>
              <a:t>STACK SIZE LIMIT</a:t>
            </a:r>
          </a:p>
        </p:txBody>
      </p:sp>
      <p:cxnSp>
        <p:nvCxnSpPr>
          <p:cNvPr id="32" name="Straight Connector 31">
            <a:extLst>
              <a:ext uri="{FF2B5EF4-FFF2-40B4-BE49-F238E27FC236}">
                <a16:creationId xmlns:a16="http://schemas.microsoft.com/office/drawing/2014/main" id="{2D51060C-BB84-453B-9ABD-0DCD572DCB05}"/>
              </a:ext>
            </a:extLst>
          </p:cNvPr>
          <p:cNvCxnSpPr>
            <a:cxnSpLocks/>
          </p:cNvCxnSpPr>
          <p:nvPr/>
        </p:nvCxnSpPr>
        <p:spPr>
          <a:xfrm>
            <a:off x="2209801" y="5562277"/>
            <a:ext cx="2743199" cy="0"/>
          </a:xfrm>
          <a:prstGeom prst="line">
            <a:avLst/>
          </a:prstGeom>
          <a:ln w="7620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3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7E3F-B264-3FD1-D1AA-CCC589E22D17}"/>
              </a:ext>
            </a:extLst>
          </p:cNvPr>
          <p:cNvSpPr>
            <a:spLocks noGrp="1"/>
          </p:cNvSpPr>
          <p:nvPr>
            <p:ph type="title"/>
          </p:nvPr>
        </p:nvSpPr>
        <p:spPr/>
        <p:txBody>
          <a:bodyPr/>
          <a:lstStyle/>
          <a:p>
            <a:r>
              <a:rPr lang="en-US" dirty="0"/>
              <a:t>Sorting </a:t>
            </a:r>
          </a:p>
        </p:txBody>
      </p:sp>
      <p:sp>
        <p:nvSpPr>
          <p:cNvPr id="3" name="Content Placeholder 2">
            <a:extLst>
              <a:ext uri="{FF2B5EF4-FFF2-40B4-BE49-F238E27FC236}">
                <a16:creationId xmlns:a16="http://schemas.microsoft.com/office/drawing/2014/main" id="{62CA7A80-54E9-1F79-33E2-D99AD9834AAC}"/>
              </a:ext>
            </a:extLst>
          </p:cNvPr>
          <p:cNvSpPr>
            <a:spLocks noGrp="1"/>
          </p:cNvSpPr>
          <p:nvPr>
            <p:ph idx="1"/>
          </p:nvPr>
        </p:nvSpPr>
        <p:spPr/>
        <p:txBody>
          <a:bodyPr>
            <a:normAutofit/>
          </a:bodyPr>
          <a:lstStyle/>
          <a:p>
            <a:r>
              <a:rPr lang="en-US" sz="2800" dirty="0"/>
              <a:t>Given an array of numbers, how do we sort if most efficiently?</a:t>
            </a:r>
          </a:p>
          <a:p>
            <a:endParaRPr lang="en-US" sz="2800" dirty="0"/>
          </a:p>
          <a:p>
            <a:r>
              <a:rPr lang="en-US" sz="2800" dirty="0"/>
              <a:t>Compare two approaches.</a:t>
            </a:r>
          </a:p>
          <a:p>
            <a:endParaRPr lang="en-US" sz="2800" dirty="0"/>
          </a:p>
          <a:p>
            <a:r>
              <a:rPr lang="en-US" sz="2800" dirty="0"/>
              <a:t>First up: relatively simple iterative algorithm, “insertion sort”</a:t>
            </a:r>
          </a:p>
        </p:txBody>
      </p:sp>
      <p:sp>
        <p:nvSpPr>
          <p:cNvPr id="4" name="Slide Number Placeholder 3">
            <a:extLst>
              <a:ext uri="{FF2B5EF4-FFF2-40B4-BE49-F238E27FC236}">
                <a16:creationId xmlns:a16="http://schemas.microsoft.com/office/drawing/2014/main" id="{F86FF90D-C443-D5D5-A0E0-50EE5E7A7317}"/>
              </a:ext>
            </a:extLst>
          </p:cNvPr>
          <p:cNvSpPr>
            <a:spLocks noGrp="1"/>
          </p:cNvSpPr>
          <p:nvPr>
            <p:ph type="sldNum" sz="quarter" idx="12"/>
          </p:nvPr>
        </p:nvSpPr>
        <p:spPr/>
        <p:txBody>
          <a:bodyPr/>
          <a:lstStyle/>
          <a:p>
            <a:fld id="{4947042C-0934-4E3B-9FFB-10D5A66E862D}" type="slidenum">
              <a:rPr lang="en-US" smtClean="0"/>
              <a:t>33</a:t>
            </a:fld>
            <a:endParaRPr lang="en-US"/>
          </a:p>
        </p:txBody>
      </p:sp>
    </p:spTree>
    <p:extLst>
      <p:ext uri="{BB962C8B-B14F-4D97-AF65-F5344CB8AC3E}">
        <p14:creationId xmlns:p14="http://schemas.microsoft.com/office/powerpoint/2010/main" val="2590901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60BB-F8B7-62B5-0B34-F56B04A39000}"/>
              </a:ext>
            </a:extLst>
          </p:cNvPr>
          <p:cNvSpPr>
            <a:spLocks noGrp="1"/>
          </p:cNvSpPr>
          <p:nvPr>
            <p:ph type="title"/>
          </p:nvPr>
        </p:nvSpPr>
        <p:spPr/>
        <p:txBody>
          <a:bodyPr/>
          <a:lstStyle/>
          <a:p>
            <a:r>
              <a:rPr lang="en-US" dirty="0"/>
              <a:t>Insertion sort</a:t>
            </a:r>
          </a:p>
        </p:txBody>
      </p:sp>
      <p:sp>
        <p:nvSpPr>
          <p:cNvPr id="3" name="Content Placeholder 2">
            <a:extLst>
              <a:ext uri="{FF2B5EF4-FFF2-40B4-BE49-F238E27FC236}">
                <a16:creationId xmlns:a16="http://schemas.microsoft.com/office/drawing/2014/main" id="{FD36FBDF-DAEE-97ED-334F-30F0C8895599}"/>
              </a:ext>
            </a:extLst>
          </p:cNvPr>
          <p:cNvSpPr>
            <a:spLocks noGrp="1"/>
          </p:cNvSpPr>
          <p:nvPr>
            <p:ph idx="1"/>
          </p:nvPr>
        </p:nvSpPr>
        <p:spPr>
          <a:xfrm>
            <a:off x="7160964" y="1290919"/>
            <a:ext cx="4192836" cy="4886045"/>
          </a:xfrm>
        </p:spPr>
        <p:txBody>
          <a:bodyPr>
            <a:normAutofit/>
          </a:bodyPr>
          <a:lstStyle/>
          <a:p>
            <a:r>
              <a:rPr lang="en-US" sz="2000" dirty="0"/>
              <a:t>Idea: maintain that the list is sorted up to position i-1. Insert element </a:t>
            </a:r>
            <a:r>
              <a:rPr lang="en-US" sz="2000" dirty="0" err="1"/>
              <a:t>i</a:t>
            </a:r>
            <a:r>
              <a:rPr lang="en-US" sz="2000" dirty="0"/>
              <a:t> into the right place.  </a:t>
            </a:r>
          </a:p>
        </p:txBody>
      </p:sp>
      <p:sp>
        <p:nvSpPr>
          <p:cNvPr id="4" name="Slide Number Placeholder 3">
            <a:extLst>
              <a:ext uri="{FF2B5EF4-FFF2-40B4-BE49-F238E27FC236}">
                <a16:creationId xmlns:a16="http://schemas.microsoft.com/office/drawing/2014/main" id="{21CED479-54FF-FB0C-B335-239F41424F87}"/>
              </a:ext>
            </a:extLst>
          </p:cNvPr>
          <p:cNvSpPr>
            <a:spLocks noGrp="1"/>
          </p:cNvSpPr>
          <p:nvPr>
            <p:ph type="sldNum" sz="quarter" idx="12"/>
          </p:nvPr>
        </p:nvSpPr>
        <p:spPr/>
        <p:txBody>
          <a:bodyPr/>
          <a:lstStyle/>
          <a:p>
            <a:fld id="{4947042C-0934-4E3B-9FFB-10D5A66E862D}" type="slidenum">
              <a:rPr lang="en-US" smtClean="0"/>
              <a:t>34</a:t>
            </a:fld>
            <a:endParaRPr lang="en-US"/>
          </a:p>
        </p:txBody>
      </p:sp>
      <p:pic>
        <p:nvPicPr>
          <p:cNvPr id="5" name="Picture 4">
            <a:extLst>
              <a:ext uri="{FF2B5EF4-FFF2-40B4-BE49-F238E27FC236}">
                <a16:creationId xmlns:a16="http://schemas.microsoft.com/office/drawing/2014/main" id="{F7936376-A37C-F62F-4476-C38C931EFA18}"/>
              </a:ext>
            </a:extLst>
          </p:cNvPr>
          <p:cNvPicPr>
            <a:picLocks noChangeAspect="1"/>
          </p:cNvPicPr>
          <p:nvPr/>
        </p:nvPicPr>
        <p:blipFill>
          <a:blip r:embed="rId2"/>
          <a:stretch>
            <a:fillRect/>
          </a:stretch>
        </p:blipFill>
        <p:spPr>
          <a:xfrm>
            <a:off x="838200" y="1290919"/>
            <a:ext cx="6197600" cy="3695700"/>
          </a:xfrm>
          <a:prstGeom prst="rect">
            <a:avLst/>
          </a:prstGeom>
        </p:spPr>
      </p:pic>
    </p:spTree>
    <p:extLst>
      <p:ext uri="{BB962C8B-B14F-4D97-AF65-F5344CB8AC3E}">
        <p14:creationId xmlns:p14="http://schemas.microsoft.com/office/powerpoint/2010/main" val="2291131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60BB-F8B7-62B5-0B34-F56B04A39000}"/>
              </a:ext>
            </a:extLst>
          </p:cNvPr>
          <p:cNvSpPr>
            <a:spLocks noGrp="1"/>
          </p:cNvSpPr>
          <p:nvPr>
            <p:ph type="title"/>
          </p:nvPr>
        </p:nvSpPr>
        <p:spPr/>
        <p:txBody>
          <a:bodyPr/>
          <a:lstStyle/>
          <a:p>
            <a:r>
              <a:rPr lang="en-US" dirty="0"/>
              <a:t>Insertion sort</a:t>
            </a:r>
          </a:p>
        </p:txBody>
      </p:sp>
      <p:sp>
        <p:nvSpPr>
          <p:cNvPr id="3" name="Content Placeholder 2">
            <a:extLst>
              <a:ext uri="{FF2B5EF4-FFF2-40B4-BE49-F238E27FC236}">
                <a16:creationId xmlns:a16="http://schemas.microsoft.com/office/drawing/2014/main" id="{FD36FBDF-DAEE-97ED-334F-30F0C8895599}"/>
              </a:ext>
            </a:extLst>
          </p:cNvPr>
          <p:cNvSpPr>
            <a:spLocks noGrp="1"/>
          </p:cNvSpPr>
          <p:nvPr>
            <p:ph idx="1"/>
          </p:nvPr>
        </p:nvSpPr>
        <p:spPr>
          <a:xfrm>
            <a:off x="7160964" y="1290919"/>
            <a:ext cx="4192836" cy="4886045"/>
          </a:xfrm>
        </p:spPr>
        <p:txBody>
          <a:bodyPr>
            <a:normAutofit/>
          </a:bodyPr>
          <a:lstStyle/>
          <a:p>
            <a:r>
              <a:rPr lang="en-US" sz="2000" dirty="0"/>
              <a:t>Idea: maintain that the list is sorted up to position i-1. Insert element </a:t>
            </a:r>
            <a:r>
              <a:rPr lang="en-US" sz="2000" dirty="0" err="1"/>
              <a:t>i</a:t>
            </a:r>
            <a:r>
              <a:rPr lang="en-US" sz="2000" dirty="0"/>
              <a:t> into the right place.  </a:t>
            </a:r>
          </a:p>
          <a:p>
            <a:endParaRPr lang="en-US" sz="2000" dirty="0"/>
          </a:p>
          <a:p>
            <a:r>
              <a:rPr lang="en-US" sz="2000" dirty="0"/>
              <a:t>Runtime?</a:t>
            </a:r>
          </a:p>
        </p:txBody>
      </p:sp>
      <p:sp>
        <p:nvSpPr>
          <p:cNvPr id="4" name="Slide Number Placeholder 3">
            <a:extLst>
              <a:ext uri="{FF2B5EF4-FFF2-40B4-BE49-F238E27FC236}">
                <a16:creationId xmlns:a16="http://schemas.microsoft.com/office/drawing/2014/main" id="{21CED479-54FF-FB0C-B335-239F41424F87}"/>
              </a:ext>
            </a:extLst>
          </p:cNvPr>
          <p:cNvSpPr>
            <a:spLocks noGrp="1"/>
          </p:cNvSpPr>
          <p:nvPr>
            <p:ph type="sldNum" sz="quarter" idx="12"/>
          </p:nvPr>
        </p:nvSpPr>
        <p:spPr/>
        <p:txBody>
          <a:bodyPr/>
          <a:lstStyle/>
          <a:p>
            <a:fld id="{4947042C-0934-4E3B-9FFB-10D5A66E862D}" type="slidenum">
              <a:rPr lang="en-US" smtClean="0"/>
              <a:t>35</a:t>
            </a:fld>
            <a:endParaRPr lang="en-US"/>
          </a:p>
        </p:txBody>
      </p:sp>
      <p:pic>
        <p:nvPicPr>
          <p:cNvPr id="5" name="Picture 4">
            <a:extLst>
              <a:ext uri="{FF2B5EF4-FFF2-40B4-BE49-F238E27FC236}">
                <a16:creationId xmlns:a16="http://schemas.microsoft.com/office/drawing/2014/main" id="{F7936376-A37C-F62F-4476-C38C931EFA18}"/>
              </a:ext>
            </a:extLst>
          </p:cNvPr>
          <p:cNvPicPr>
            <a:picLocks noChangeAspect="1"/>
          </p:cNvPicPr>
          <p:nvPr/>
        </p:nvPicPr>
        <p:blipFill>
          <a:blip r:embed="rId2"/>
          <a:stretch>
            <a:fillRect/>
          </a:stretch>
        </p:blipFill>
        <p:spPr>
          <a:xfrm>
            <a:off x="838200" y="1290919"/>
            <a:ext cx="6197600" cy="3695700"/>
          </a:xfrm>
          <a:prstGeom prst="rect">
            <a:avLst/>
          </a:prstGeom>
        </p:spPr>
      </p:pic>
    </p:spTree>
    <p:extLst>
      <p:ext uri="{BB962C8B-B14F-4D97-AF65-F5344CB8AC3E}">
        <p14:creationId xmlns:p14="http://schemas.microsoft.com/office/powerpoint/2010/main" val="1388496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60BB-F8B7-62B5-0B34-F56B04A39000}"/>
              </a:ext>
            </a:extLst>
          </p:cNvPr>
          <p:cNvSpPr>
            <a:spLocks noGrp="1"/>
          </p:cNvSpPr>
          <p:nvPr>
            <p:ph type="title"/>
          </p:nvPr>
        </p:nvSpPr>
        <p:spPr/>
        <p:txBody>
          <a:bodyPr/>
          <a:lstStyle/>
          <a:p>
            <a:r>
              <a:rPr lang="en-US" dirty="0"/>
              <a:t>Insertion sort</a:t>
            </a:r>
          </a:p>
        </p:txBody>
      </p:sp>
      <p:sp>
        <p:nvSpPr>
          <p:cNvPr id="3" name="Content Placeholder 2">
            <a:extLst>
              <a:ext uri="{FF2B5EF4-FFF2-40B4-BE49-F238E27FC236}">
                <a16:creationId xmlns:a16="http://schemas.microsoft.com/office/drawing/2014/main" id="{FD36FBDF-DAEE-97ED-334F-30F0C8895599}"/>
              </a:ext>
            </a:extLst>
          </p:cNvPr>
          <p:cNvSpPr>
            <a:spLocks noGrp="1"/>
          </p:cNvSpPr>
          <p:nvPr>
            <p:ph idx="1"/>
          </p:nvPr>
        </p:nvSpPr>
        <p:spPr>
          <a:xfrm>
            <a:off x="7160964" y="1290919"/>
            <a:ext cx="4192836" cy="4886045"/>
          </a:xfrm>
        </p:spPr>
        <p:txBody>
          <a:bodyPr>
            <a:normAutofit/>
          </a:bodyPr>
          <a:lstStyle/>
          <a:p>
            <a:r>
              <a:rPr lang="en-US" sz="2000" dirty="0"/>
              <a:t>Idea: maintain that the list is sorted up to position i-1. Insert element </a:t>
            </a:r>
            <a:r>
              <a:rPr lang="en-US" sz="2000" dirty="0" err="1"/>
              <a:t>i</a:t>
            </a:r>
            <a:r>
              <a:rPr lang="en-US" sz="2000" dirty="0"/>
              <a:t> into the right place.  </a:t>
            </a:r>
          </a:p>
          <a:p>
            <a:endParaRPr lang="en-US" sz="2000" dirty="0"/>
          </a:p>
          <a:p>
            <a:r>
              <a:rPr lang="en-US" sz="2000" dirty="0"/>
              <a:t>Runtime?</a:t>
            </a:r>
          </a:p>
          <a:p>
            <a:endParaRPr lang="en-US" sz="2000" dirty="0"/>
          </a:p>
          <a:p>
            <a:r>
              <a:rPr lang="en-US" sz="2000" dirty="0"/>
              <a:t>Can we do better?</a:t>
            </a:r>
          </a:p>
        </p:txBody>
      </p:sp>
      <p:sp>
        <p:nvSpPr>
          <p:cNvPr id="4" name="Slide Number Placeholder 3">
            <a:extLst>
              <a:ext uri="{FF2B5EF4-FFF2-40B4-BE49-F238E27FC236}">
                <a16:creationId xmlns:a16="http://schemas.microsoft.com/office/drawing/2014/main" id="{21CED479-54FF-FB0C-B335-239F41424F87}"/>
              </a:ext>
            </a:extLst>
          </p:cNvPr>
          <p:cNvSpPr>
            <a:spLocks noGrp="1"/>
          </p:cNvSpPr>
          <p:nvPr>
            <p:ph type="sldNum" sz="quarter" idx="12"/>
          </p:nvPr>
        </p:nvSpPr>
        <p:spPr/>
        <p:txBody>
          <a:bodyPr/>
          <a:lstStyle/>
          <a:p>
            <a:fld id="{4947042C-0934-4E3B-9FFB-10D5A66E862D}" type="slidenum">
              <a:rPr lang="en-US" smtClean="0"/>
              <a:t>36</a:t>
            </a:fld>
            <a:endParaRPr lang="en-US"/>
          </a:p>
        </p:txBody>
      </p:sp>
      <p:pic>
        <p:nvPicPr>
          <p:cNvPr id="5" name="Picture 4">
            <a:extLst>
              <a:ext uri="{FF2B5EF4-FFF2-40B4-BE49-F238E27FC236}">
                <a16:creationId xmlns:a16="http://schemas.microsoft.com/office/drawing/2014/main" id="{F7936376-A37C-F62F-4476-C38C931EFA18}"/>
              </a:ext>
            </a:extLst>
          </p:cNvPr>
          <p:cNvPicPr>
            <a:picLocks noChangeAspect="1"/>
          </p:cNvPicPr>
          <p:nvPr/>
        </p:nvPicPr>
        <p:blipFill>
          <a:blip r:embed="rId2"/>
          <a:stretch>
            <a:fillRect/>
          </a:stretch>
        </p:blipFill>
        <p:spPr>
          <a:xfrm>
            <a:off x="838200" y="1290919"/>
            <a:ext cx="6197600" cy="3695700"/>
          </a:xfrm>
          <a:prstGeom prst="rect">
            <a:avLst/>
          </a:prstGeom>
        </p:spPr>
      </p:pic>
    </p:spTree>
    <p:extLst>
      <p:ext uri="{BB962C8B-B14F-4D97-AF65-F5344CB8AC3E}">
        <p14:creationId xmlns:p14="http://schemas.microsoft.com/office/powerpoint/2010/main" val="2340020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43BE-8F1F-4B8C-87E5-8B70285CF260}"/>
              </a:ext>
            </a:extLst>
          </p:cNvPr>
          <p:cNvSpPr>
            <a:spLocks noGrp="1"/>
          </p:cNvSpPr>
          <p:nvPr>
            <p:ph type="title"/>
          </p:nvPr>
        </p:nvSpPr>
        <p:spPr/>
        <p:txBody>
          <a:bodyPr/>
          <a:lstStyle/>
          <a:p>
            <a:r>
              <a:rPr lang="en-US" dirty="0"/>
              <a:t>Merge sort</a:t>
            </a:r>
          </a:p>
        </p:txBody>
      </p:sp>
      <p:sp>
        <p:nvSpPr>
          <p:cNvPr id="3" name="Content Placeholder 2">
            <a:extLst>
              <a:ext uri="{FF2B5EF4-FFF2-40B4-BE49-F238E27FC236}">
                <a16:creationId xmlns:a16="http://schemas.microsoft.com/office/drawing/2014/main" id="{8FF8DA8B-0F68-4783-9AF4-102E381C35F0}"/>
              </a:ext>
            </a:extLst>
          </p:cNvPr>
          <p:cNvSpPr>
            <a:spLocks noGrp="1"/>
          </p:cNvSpPr>
          <p:nvPr>
            <p:ph idx="1"/>
          </p:nvPr>
        </p:nvSpPr>
        <p:spPr/>
        <p:txBody>
          <a:bodyPr/>
          <a:lstStyle/>
          <a:p>
            <a:endParaRPr lang="en-US" dirty="0"/>
          </a:p>
        </p:txBody>
      </p:sp>
      <p:sp>
        <p:nvSpPr>
          <p:cNvPr id="6" name="TextBox 5">
            <a:extLst>
              <a:ext uri="{FF2B5EF4-FFF2-40B4-BE49-F238E27FC236}">
                <a16:creationId xmlns:a16="http://schemas.microsoft.com/office/drawing/2014/main" id="{FA94E01A-91DB-47EA-8885-035A4A3118A3}"/>
              </a:ext>
            </a:extLst>
          </p:cNvPr>
          <p:cNvSpPr txBox="1"/>
          <p:nvPr/>
        </p:nvSpPr>
        <p:spPr>
          <a:xfrm>
            <a:off x="2881746" y="1843950"/>
            <a:ext cx="5131630" cy="3170099"/>
          </a:xfrm>
          <a:prstGeom prst="rect">
            <a:avLst/>
          </a:prstGeom>
          <a:noFill/>
          <a:ln w="19050">
            <a:solidFill>
              <a:srgbClr val="7030A0"/>
            </a:solidFill>
          </a:ln>
        </p:spPr>
        <p:txBody>
          <a:bodyPr wrap="square">
            <a:spAutoFit/>
          </a:bodyPr>
          <a:lstStyle/>
          <a:p>
            <a:r>
              <a:rPr lang="en-US" sz="2000" dirty="0">
                <a:latin typeface="Courier New" panose="02070309020205020404" pitchFamily="49" charset="0"/>
                <a:cs typeface="Courier New" panose="02070309020205020404" pitchFamily="49" charset="0"/>
              </a:rPr>
              <a:t>def </a:t>
            </a:r>
            <a:r>
              <a:rPr lang="en-US" sz="2000" dirty="0" err="1">
                <a:solidFill>
                  <a:srgbClr val="7030A0"/>
                </a:solidFill>
                <a:latin typeface="Courier New" panose="02070309020205020404" pitchFamily="49" charset="0"/>
                <a:cs typeface="Courier New" panose="02070309020205020404" pitchFamily="49" charset="0"/>
              </a:rPr>
              <a:t>mergesort</a:t>
            </a:r>
            <a:r>
              <a:rPr lang="en-US" sz="2000" dirty="0">
                <a:latin typeface="Courier New" panose="02070309020205020404" pitchFamily="49" charset="0"/>
                <a:cs typeface="Courier New" panose="02070309020205020404" pitchFamily="49" charset="0"/>
              </a:rPr>
              <a:t>(L):        </a:t>
            </a:r>
          </a:p>
          <a:p>
            <a:r>
              <a:rPr lang="en-US" sz="2000" dirty="0">
                <a:latin typeface="Courier New" panose="02070309020205020404" pitchFamily="49" charset="0"/>
                <a:cs typeface="Courier New" panose="02070309020205020404" pitchFamily="49" charset="0"/>
              </a:rPr>
              <a:t>  if (</a:t>
            </a:r>
            <a:r>
              <a:rPr lang="en-US" sz="2000" dirty="0" err="1">
                <a:latin typeface="Courier New" panose="02070309020205020404" pitchFamily="49" charset="0"/>
                <a:cs typeface="Courier New" panose="02070309020205020404" pitchFamily="49" charset="0"/>
              </a:rPr>
              <a:t>len</a:t>
            </a:r>
            <a:r>
              <a:rPr lang="en-US" sz="2000" dirty="0">
                <a:latin typeface="Courier New" panose="02070309020205020404" pitchFamily="49" charset="0"/>
                <a:cs typeface="Courier New" panose="02070309020205020404" pitchFamily="49" charset="0"/>
              </a:rPr>
              <a:t>(L) &lt; 2):</a:t>
            </a:r>
          </a:p>
          <a:p>
            <a:r>
              <a:rPr lang="en-US" sz="2000" dirty="0">
                <a:latin typeface="Courier New" panose="02070309020205020404" pitchFamily="49" charset="0"/>
                <a:cs typeface="Courier New" panose="02070309020205020404" pitchFamily="49" charset="0"/>
              </a:rPr>
              <a:t>    return L</a:t>
            </a:r>
          </a:p>
          <a:p>
            <a:r>
              <a:rPr lang="en-US" sz="2000" dirty="0">
                <a:latin typeface="Courier New" panose="02070309020205020404" pitchFamily="49" charset="0"/>
                <a:cs typeface="Courier New" panose="02070309020205020404" pitchFamily="49" charset="0"/>
              </a:rPr>
              <a:t>  else:</a:t>
            </a:r>
          </a:p>
          <a:p>
            <a:r>
              <a:rPr lang="en-US" sz="2000" dirty="0">
                <a:latin typeface="Courier New" panose="02070309020205020404" pitchFamily="49" charset="0"/>
                <a:cs typeface="Courier New" panose="02070309020205020404" pitchFamily="49" charset="0"/>
              </a:rPr>
              <a:t>    mid = </a:t>
            </a:r>
            <a:r>
              <a:rPr lang="en-US" sz="2000" dirty="0" err="1">
                <a:latin typeface="Courier New" panose="02070309020205020404" pitchFamily="49" charset="0"/>
                <a:cs typeface="Courier New" panose="02070309020205020404" pitchFamily="49" charset="0"/>
              </a:rPr>
              <a:t>len</a:t>
            </a:r>
            <a:r>
              <a:rPr lang="en-US" sz="2000" dirty="0">
                <a:latin typeface="Courier New" panose="02070309020205020404" pitchFamily="49" charset="0"/>
                <a:cs typeface="Courier New" panose="02070309020205020404" pitchFamily="49" charset="0"/>
              </a:rPr>
              <a:t>(L)//2</a:t>
            </a:r>
          </a:p>
          <a:p>
            <a:r>
              <a:rPr lang="en-US" sz="2000" dirty="0">
                <a:latin typeface="Courier New" panose="02070309020205020404" pitchFamily="49" charset="0"/>
                <a:cs typeface="Courier New" panose="02070309020205020404" pitchFamily="49" charset="0"/>
              </a:rPr>
              <a:t>    left = </a:t>
            </a:r>
            <a:r>
              <a:rPr lang="en-US" sz="2000" dirty="0" err="1">
                <a:solidFill>
                  <a:srgbClr val="7030A0"/>
                </a:solidFill>
                <a:latin typeface="Courier New" panose="02070309020205020404" pitchFamily="49" charset="0"/>
                <a:cs typeface="Courier New" panose="02070309020205020404" pitchFamily="49" charset="0"/>
              </a:rPr>
              <a:t>mergesort</a:t>
            </a:r>
            <a:r>
              <a:rPr lang="en-US" sz="2000" dirty="0">
                <a:latin typeface="Courier New" panose="02070309020205020404" pitchFamily="49" charset="0"/>
                <a:cs typeface="Courier New" panose="02070309020205020404" pitchFamily="49" charset="0"/>
              </a:rPr>
              <a:t>(L[:mid])</a:t>
            </a:r>
          </a:p>
          <a:p>
            <a:r>
              <a:rPr lang="en-US" sz="2000" dirty="0">
                <a:latin typeface="Courier New" panose="02070309020205020404" pitchFamily="49" charset="0"/>
                <a:cs typeface="Courier New" panose="02070309020205020404" pitchFamily="49" charset="0"/>
              </a:rPr>
              <a:t>    right = </a:t>
            </a:r>
            <a:r>
              <a:rPr lang="en-US" sz="2000" dirty="0" err="1">
                <a:solidFill>
                  <a:srgbClr val="7030A0"/>
                </a:solidFill>
                <a:latin typeface="Courier New" panose="02070309020205020404" pitchFamily="49" charset="0"/>
                <a:cs typeface="Courier New" panose="02070309020205020404" pitchFamily="49" charset="0"/>
              </a:rPr>
              <a:t>mergesort</a:t>
            </a:r>
            <a:r>
              <a:rPr lang="en-US" sz="2000" dirty="0">
                <a:latin typeface="Courier New" panose="02070309020205020404" pitchFamily="49" charset="0"/>
                <a:cs typeface="Courier New" panose="02070309020205020404" pitchFamily="49" charset="0"/>
              </a:rPr>
              <a:t>(L[mid:])</a:t>
            </a:r>
          </a:p>
          <a:p>
            <a:r>
              <a:rPr lang="en-US" sz="2000" dirty="0">
                <a:latin typeface="Courier New" panose="02070309020205020404" pitchFamily="49" charset="0"/>
                <a:cs typeface="Courier New" panose="02070309020205020404" pitchFamily="49" charset="0"/>
              </a:rPr>
              <a:t>    return </a:t>
            </a:r>
            <a:r>
              <a:rPr lang="en-US" sz="2000" dirty="0">
                <a:solidFill>
                  <a:srgbClr val="7030A0"/>
                </a:solidFill>
                <a:latin typeface="Courier New" panose="02070309020205020404" pitchFamily="49" charset="0"/>
                <a:cs typeface="Courier New" panose="02070309020205020404" pitchFamily="49" charset="0"/>
              </a:rPr>
              <a:t>merge</a:t>
            </a:r>
            <a:r>
              <a:rPr lang="en-US" sz="2000" dirty="0">
                <a:latin typeface="Courier New" panose="02070309020205020404" pitchFamily="49" charset="0"/>
                <a:cs typeface="Courier New" panose="02070309020205020404" pitchFamily="49" charset="0"/>
              </a:rPr>
              <a:t>(left, right)</a:t>
            </a:r>
          </a:p>
          <a:p>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print(</a:t>
            </a:r>
            <a:r>
              <a:rPr lang="en-US" sz="2000" dirty="0" err="1">
                <a:solidFill>
                  <a:srgbClr val="7030A0"/>
                </a:solidFill>
                <a:latin typeface="Courier New" panose="02070309020205020404" pitchFamily="49" charset="0"/>
                <a:cs typeface="Courier New" panose="02070309020205020404" pitchFamily="49" charset="0"/>
              </a:rPr>
              <a:t>mergesort</a:t>
            </a:r>
            <a:r>
              <a:rPr lang="en-US" sz="2000" dirty="0">
                <a:latin typeface="Courier New" panose="02070309020205020404" pitchFamily="49" charset="0"/>
                <a:cs typeface="Courier New" panose="02070309020205020404" pitchFamily="49" charset="0"/>
              </a:rPr>
              <a:t>([1,5,3,4,2,0]))</a:t>
            </a:r>
          </a:p>
        </p:txBody>
      </p:sp>
    </p:spTree>
    <p:extLst>
      <p:ext uri="{BB962C8B-B14F-4D97-AF65-F5344CB8AC3E}">
        <p14:creationId xmlns:p14="http://schemas.microsoft.com/office/powerpoint/2010/main" val="2125608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743BE-8F1F-4B8C-87E5-8B70285CF260}"/>
              </a:ext>
            </a:extLst>
          </p:cNvPr>
          <p:cNvSpPr>
            <a:spLocks noGrp="1"/>
          </p:cNvSpPr>
          <p:nvPr>
            <p:ph type="title"/>
          </p:nvPr>
        </p:nvSpPr>
        <p:spPr/>
        <p:txBody>
          <a:bodyPr/>
          <a:lstStyle/>
          <a:p>
            <a:r>
              <a:rPr lang="en-US" dirty="0"/>
              <a:t>merge operation</a:t>
            </a:r>
          </a:p>
        </p:txBody>
      </p:sp>
      <p:sp>
        <p:nvSpPr>
          <p:cNvPr id="6" name="TextBox 5">
            <a:extLst>
              <a:ext uri="{FF2B5EF4-FFF2-40B4-BE49-F238E27FC236}">
                <a16:creationId xmlns:a16="http://schemas.microsoft.com/office/drawing/2014/main" id="{FA94E01A-91DB-47EA-8885-035A4A3118A3}"/>
              </a:ext>
            </a:extLst>
          </p:cNvPr>
          <p:cNvSpPr txBox="1"/>
          <p:nvPr/>
        </p:nvSpPr>
        <p:spPr>
          <a:xfrm>
            <a:off x="838200" y="1842985"/>
            <a:ext cx="10747872" cy="3724096"/>
          </a:xfrm>
          <a:prstGeom prst="rect">
            <a:avLst/>
          </a:prstGeom>
          <a:noFill/>
          <a:ln w="19050">
            <a:solidFill>
              <a:srgbClr val="7030A0"/>
            </a:solidFill>
          </a:ln>
        </p:spPr>
        <p:txBody>
          <a:bodyPr wrap="square">
            <a:spAutoFit/>
          </a:bodyPr>
          <a:lstStyle/>
          <a:p>
            <a:r>
              <a:rPr lang="en-US" sz="2000" dirty="0">
                <a:latin typeface="Courier New" panose="02070309020205020404" pitchFamily="49" charset="0"/>
                <a:cs typeface="Courier New" panose="02070309020205020404" pitchFamily="49" charset="0"/>
              </a:rPr>
              <a:t>def merge(A, B):</a:t>
            </a:r>
          </a:p>
          <a:p>
            <a:pPr lvl="3"/>
            <a:r>
              <a:rPr lang="en-US" sz="2000" dirty="0">
                <a:latin typeface="Courier New" panose="02070309020205020404" pitchFamily="49" charset="0"/>
                <a:cs typeface="Courier New" panose="02070309020205020404" pitchFamily="49" charset="0"/>
              </a:rPr>
              <a:t>	C = [ ] </a:t>
            </a:r>
          </a:p>
          <a:p>
            <a:pPr lvl="3"/>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j = </a:t>
            </a:r>
            <a:r>
              <a:rPr lang="en-US" sz="2000" dirty="0">
                <a:solidFill>
                  <a:srgbClr val="008080"/>
                </a:solidFill>
                <a:effectLst/>
                <a:latin typeface="Courier New" panose="02070309020205020404" pitchFamily="49" charset="0"/>
                <a:cs typeface="Courier New" panose="02070309020205020404" pitchFamily="49" charset="0"/>
              </a:rPr>
              <a:t>0</a:t>
            </a:r>
            <a:r>
              <a:rPr lang="en-US" sz="2000" dirty="0">
                <a:latin typeface="Courier New" panose="02070309020205020404" pitchFamily="49" charset="0"/>
                <a:cs typeface="Courier New" panose="02070309020205020404" pitchFamily="49" charset="0"/>
              </a:rPr>
              <a:t> </a:t>
            </a:r>
          </a:p>
          <a:p>
            <a:pPr lvl="3"/>
            <a:r>
              <a:rPr lang="en-US" sz="2000" b="1" dirty="0">
                <a:solidFill>
                  <a:srgbClr val="333333"/>
                </a:solidFill>
                <a:effectLst/>
                <a:latin typeface="Courier New" panose="02070309020205020404" pitchFamily="49" charset="0"/>
                <a:cs typeface="Courier New" panose="02070309020205020404" pitchFamily="49" charset="0"/>
              </a:rPr>
              <a:t>	while</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&lt; </a:t>
            </a:r>
            <a:r>
              <a:rPr lang="en-US" sz="2000" dirty="0" err="1">
                <a:latin typeface="Courier New" panose="02070309020205020404" pitchFamily="49" charset="0"/>
                <a:cs typeface="Courier New" panose="02070309020205020404" pitchFamily="49" charset="0"/>
              </a:rPr>
              <a:t>len</a:t>
            </a:r>
            <a:r>
              <a:rPr lang="en-US" sz="2000" dirty="0">
                <a:latin typeface="Courier New" panose="02070309020205020404" pitchFamily="49" charset="0"/>
                <a:cs typeface="Courier New" panose="02070309020205020404" pitchFamily="49" charset="0"/>
              </a:rPr>
              <a:t>(A)) </a:t>
            </a:r>
            <a:r>
              <a:rPr lang="en-US" sz="2000" b="1" dirty="0">
                <a:solidFill>
                  <a:srgbClr val="333333"/>
                </a:solidFill>
                <a:effectLst/>
                <a:latin typeface="Courier New" panose="02070309020205020404" pitchFamily="49" charset="0"/>
                <a:cs typeface="Courier New" panose="02070309020205020404" pitchFamily="49" charset="0"/>
              </a:rPr>
              <a:t>or</a:t>
            </a:r>
            <a:r>
              <a:rPr lang="en-US" sz="2000" dirty="0">
                <a:latin typeface="Courier New" panose="02070309020205020404" pitchFamily="49" charset="0"/>
                <a:cs typeface="Courier New" panose="02070309020205020404" pitchFamily="49" charset="0"/>
              </a:rPr>
              <a:t> (j &lt; </a:t>
            </a:r>
            <a:r>
              <a:rPr lang="en-US" sz="2000" dirty="0" err="1">
                <a:latin typeface="Courier New" panose="02070309020205020404" pitchFamily="49" charset="0"/>
                <a:cs typeface="Courier New" panose="02070309020205020404" pitchFamily="49" charset="0"/>
              </a:rPr>
              <a:t>len</a:t>
            </a:r>
            <a:r>
              <a:rPr lang="en-US" sz="2000" dirty="0">
                <a:latin typeface="Courier New" panose="02070309020205020404" pitchFamily="49" charset="0"/>
                <a:cs typeface="Courier New" panose="02070309020205020404" pitchFamily="49" charset="0"/>
              </a:rPr>
              <a:t>(B))): </a:t>
            </a:r>
          </a:p>
          <a:p>
            <a:pPr lvl="3"/>
            <a:r>
              <a:rPr lang="en-US" sz="2000" b="1" dirty="0">
                <a:solidFill>
                  <a:srgbClr val="333333"/>
                </a:solidFill>
                <a:effectLst/>
                <a:latin typeface="Courier New" panose="02070309020205020404" pitchFamily="49" charset="0"/>
                <a:cs typeface="Courier New" panose="02070309020205020404" pitchFamily="49" charset="0"/>
              </a:rPr>
              <a:t>		if</a:t>
            </a:r>
            <a:r>
              <a:rPr lang="en-US" sz="2000" dirty="0">
                <a:latin typeface="Courier New" panose="02070309020205020404" pitchFamily="49" charset="0"/>
                <a:cs typeface="Courier New" panose="02070309020205020404" pitchFamily="49" charset="0"/>
              </a:rPr>
              <a:t> ((j == </a:t>
            </a:r>
            <a:r>
              <a:rPr lang="en-US" sz="2000" dirty="0" err="1">
                <a:latin typeface="Courier New" panose="02070309020205020404" pitchFamily="49" charset="0"/>
                <a:cs typeface="Courier New" panose="02070309020205020404" pitchFamily="49" charset="0"/>
              </a:rPr>
              <a:t>len</a:t>
            </a:r>
            <a:r>
              <a:rPr lang="en-US" sz="2000" dirty="0">
                <a:latin typeface="Courier New" panose="02070309020205020404" pitchFamily="49" charset="0"/>
                <a:cs typeface="Courier New" panose="02070309020205020404" pitchFamily="49" charset="0"/>
              </a:rPr>
              <a:t>(B)) </a:t>
            </a:r>
            <a:r>
              <a:rPr lang="en-US" sz="2000" b="1" dirty="0">
                <a:solidFill>
                  <a:srgbClr val="333333"/>
                </a:solidFill>
                <a:effectLst/>
                <a:latin typeface="Courier New" panose="02070309020205020404" pitchFamily="49" charset="0"/>
                <a:cs typeface="Courier New" panose="02070309020205020404" pitchFamily="49" charset="0"/>
              </a:rPr>
              <a:t>or</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&lt; </a:t>
            </a:r>
            <a:r>
              <a:rPr lang="en-US" sz="2000" dirty="0" err="1">
                <a:latin typeface="Courier New" panose="02070309020205020404" pitchFamily="49" charset="0"/>
                <a:cs typeface="Courier New" panose="02070309020205020404" pitchFamily="49" charset="0"/>
              </a:rPr>
              <a:t>len</a:t>
            </a:r>
            <a:r>
              <a:rPr lang="en-US" sz="2000" dirty="0">
                <a:latin typeface="Courier New" panose="02070309020205020404" pitchFamily="49" charset="0"/>
                <a:cs typeface="Courier New" panose="02070309020205020404" pitchFamily="49" charset="0"/>
              </a:rPr>
              <a:t>(A)) </a:t>
            </a:r>
            <a:r>
              <a:rPr lang="en-US" sz="2000" b="1" dirty="0">
                <a:solidFill>
                  <a:srgbClr val="333333"/>
                </a:solidFill>
                <a:effectLst/>
                <a:latin typeface="Courier New" panose="02070309020205020404" pitchFamily="49" charset="0"/>
                <a:cs typeface="Courier New" panose="02070309020205020404" pitchFamily="49" charset="0"/>
              </a:rPr>
              <a:t>and</a:t>
            </a:r>
            <a:r>
              <a:rPr lang="en-US" sz="2000" dirty="0">
                <a:latin typeface="Courier New" panose="02070309020205020404" pitchFamily="49" charset="0"/>
                <a:cs typeface="Courier New" panose="02070309020205020404" pitchFamily="49" charset="0"/>
              </a:rPr>
              <a:t> (A[</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&lt;= B[j]))): </a:t>
            </a:r>
          </a:p>
          <a:p>
            <a:pPr lvl="3"/>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C.append</a:t>
            </a:r>
            <a:r>
              <a:rPr lang="en-US" sz="2000" dirty="0">
                <a:latin typeface="Courier New" panose="02070309020205020404" pitchFamily="49" charset="0"/>
                <a:cs typeface="Courier New" panose="02070309020205020404" pitchFamily="49" charset="0"/>
              </a:rPr>
              <a:t>(A[</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a:t>
            </a:r>
          </a:p>
          <a:p>
            <a:pPr lvl="3"/>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 </a:t>
            </a:r>
            <a:r>
              <a:rPr lang="en-US" sz="2000" dirty="0">
                <a:solidFill>
                  <a:srgbClr val="008080"/>
                </a:solidFill>
                <a:effectLst/>
                <a:latin typeface="Courier New" panose="02070309020205020404" pitchFamily="49" charset="0"/>
                <a:cs typeface="Courier New" panose="02070309020205020404" pitchFamily="49" charset="0"/>
              </a:rPr>
              <a:t>1</a:t>
            </a:r>
            <a:r>
              <a:rPr lang="en-US" sz="2000" dirty="0">
                <a:latin typeface="Courier New" panose="02070309020205020404" pitchFamily="49" charset="0"/>
                <a:cs typeface="Courier New" panose="02070309020205020404" pitchFamily="49" charset="0"/>
              </a:rPr>
              <a:t> </a:t>
            </a:r>
          </a:p>
          <a:p>
            <a:pPr lvl="3"/>
            <a:r>
              <a:rPr lang="en-US" sz="2000" b="1" dirty="0">
                <a:solidFill>
                  <a:srgbClr val="333333"/>
                </a:solidFill>
                <a:effectLst/>
                <a:latin typeface="Courier New" panose="02070309020205020404" pitchFamily="49" charset="0"/>
                <a:cs typeface="Courier New" panose="02070309020205020404" pitchFamily="49" charset="0"/>
              </a:rPr>
              <a:t>		else</a:t>
            </a:r>
            <a:r>
              <a:rPr lang="en-US" sz="2000" dirty="0">
                <a:latin typeface="Courier New" panose="02070309020205020404" pitchFamily="49" charset="0"/>
                <a:cs typeface="Courier New" panose="02070309020205020404" pitchFamily="49" charset="0"/>
              </a:rPr>
              <a:t>: </a:t>
            </a:r>
          </a:p>
          <a:p>
            <a:pPr lvl="3"/>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C.append</a:t>
            </a:r>
            <a:r>
              <a:rPr lang="en-US" sz="2000" dirty="0">
                <a:latin typeface="Courier New" panose="02070309020205020404" pitchFamily="49" charset="0"/>
                <a:cs typeface="Courier New" panose="02070309020205020404" pitchFamily="49" charset="0"/>
              </a:rPr>
              <a:t>(B[j]) </a:t>
            </a:r>
          </a:p>
          <a:p>
            <a:pPr lvl="3"/>
            <a:r>
              <a:rPr lang="en-US" sz="2000" dirty="0">
                <a:latin typeface="Courier New" panose="02070309020205020404" pitchFamily="49" charset="0"/>
                <a:cs typeface="Courier New" panose="02070309020205020404" pitchFamily="49" charset="0"/>
              </a:rPr>
              <a:t>			j += </a:t>
            </a:r>
            <a:r>
              <a:rPr lang="en-US" sz="2000" dirty="0">
                <a:solidFill>
                  <a:srgbClr val="008080"/>
                </a:solidFill>
                <a:effectLst/>
                <a:latin typeface="Courier New" panose="02070309020205020404" pitchFamily="49" charset="0"/>
                <a:cs typeface="Courier New" panose="02070309020205020404" pitchFamily="49" charset="0"/>
              </a:rPr>
              <a:t>1</a:t>
            </a:r>
            <a:r>
              <a:rPr lang="en-US" sz="2000" dirty="0">
                <a:latin typeface="Courier New" panose="02070309020205020404" pitchFamily="49" charset="0"/>
                <a:cs typeface="Courier New" panose="02070309020205020404" pitchFamily="49" charset="0"/>
              </a:rPr>
              <a:t> </a:t>
            </a:r>
          </a:p>
          <a:p>
            <a:pPr lvl="3"/>
            <a:r>
              <a:rPr lang="en-US" sz="2000" b="1" dirty="0">
                <a:solidFill>
                  <a:srgbClr val="333333"/>
                </a:solidFill>
                <a:effectLst/>
                <a:latin typeface="Courier New" panose="02070309020205020404" pitchFamily="49" charset="0"/>
                <a:cs typeface="Courier New" panose="02070309020205020404" pitchFamily="49" charset="0"/>
              </a:rPr>
              <a:t>	return</a:t>
            </a:r>
            <a:r>
              <a:rPr lang="en-US" sz="2000" dirty="0">
                <a:latin typeface="Courier New" panose="02070309020205020404" pitchFamily="49" charset="0"/>
                <a:cs typeface="Courier New" panose="02070309020205020404" pitchFamily="49" charset="0"/>
              </a:rPr>
              <a:t> C </a:t>
            </a:r>
            <a:br>
              <a:rPr lang="en-US" sz="2000" dirty="0">
                <a:latin typeface="Courier New" panose="02070309020205020404" pitchFamily="49" charset="0"/>
                <a:cs typeface="Courier New" panose="02070309020205020404" pitchFamily="49" charset="0"/>
              </a:rPr>
            </a:br>
            <a:endParaRPr lang="en-US"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712336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6B5F-5717-39EC-77A2-7DAAAA81D057}"/>
              </a:ext>
            </a:extLst>
          </p:cNvPr>
          <p:cNvSpPr>
            <a:spLocks noGrp="1"/>
          </p:cNvSpPr>
          <p:nvPr>
            <p:ph type="title"/>
          </p:nvPr>
        </p:nvSpPr>
        <p:spPr/>
        <p:txBody>
          <a:bodyPr/>
          <a:lstStyle/>
          <a:p>
            <a:r>
              <a:rPr lang="en-US" dirty="0"/>
              <a:t>Runtime</a:t>
            </a:r>
          </a:p>
        </p:txBody>
      </p:sp>
      <p:sp>
        <p:nvSpPr>
          <p:cNvPr id="3" name="Content Placeholder 2">
            <a:extLst>
              <a:ext uri="{FF2B5EF4-FFF2-40B4-BE49-F238E27FC236}">
                <a16:creationId xmlns:a16="http://schemas.microsoft.com/office/drawing/2014/main" id="{5B551817-8851-9B5E-CFF1-8EC1F36D3F5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62734BF-BA0B-06F7-0B0E-9D8872405C1B}"/>
              </a:ext>
            </a:extLst>
          </p:cNvPr>
          <p:cNvSpPr>
            <a:spLocks noGrp="1"/>
          </p:cNvSpPr>
          <p:nvPr>
            <p:ph type="sldNum" sz="quarter" idx="12"/>
          </p:nvPr>
        </p:nvSpPr>
        <p:spPr/>
        <p:txBody>
          <a:bodyPr/>
          <a:lstStyle/>
          <a:p>
            <a:fld id="{4947042C-0934-4E3B-9FFB-10D5A66E862D}" type="slidenum">
              <a:rPr lang="en-US" smtClean="0"/>
              <a:t>39</a:t>
            </a:fld>
            <a:endParaRPr lang="en-US"/>
          </a:p>
        </p:txBody>
      </p:sp>
      <p:pic>
        <p:nvPicPr>
          <p:cNvPr id="1026" name="Picture 2" descr="A diagram with a tree on the left and merging times on the right. The tree is labeled &quot;Subproblem size&quot; and the right is labeled &quot;Total merging time for all subproblems of this size.&quot;&#10;The first level of the tree shows a single node n and corresponding merging time of c times n. The second level of the tree shows two nodes, each of 1/2 n, and a merging time of 2 times c times 1/2 n, the same as c times n. The third level of the tree shows four nodes, each of 1/4 n, and a merging time of 4 times c times 1/4 n, the same as c times n. The fourth level of the tree shows eight nodes, each of 1/8 n, and a merging time of 8 times c times 1/8 n, the same as c times n. Underneath that level, dots are shown to indicate the tree continues like that. A final level is shown with n nodes of 1, and a merging time of n times c, the same as c times n.">
            <a:extLst>
              <a:ext uri="{FF2B5EF4-FFF2-40B4-BE49-F238E27FC236}">
                <a16:creationId xmlns:a16="http://schemas.microsoft.com/office/drawing/2014/main" id="{FD5C19F0-B6CD-92F7-3FF4-999E5630B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323" y="1290919"/>
            <a:ext cx="6705600" cy="513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519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6B5F-5717-39EC-77A2-7DAAAA81D057}"/>
              </a:ext>
            </a:extLst>
          </p:cNvPr>
          <p:cNvSpPr>
            <a:spLocks noGrp="1"/>
          </p:cNvSpPr>
          <p:nvPr>
            <p:ph type="title"/>
          </p:nvPr>
        </p:nvSpPr>
        <p:spPr/>
        <p:txBody>
          <a:bodyPr/>
          <a:lstStyle/>
          <a:p>
            <a:r>
              <a:rPr lang="en-US" dirty="0"/>
              <a:t>Runtime</a:t>
            </a:r>
          </a:p>
        </p:txBody>
      </p:sp>
      <p:sp>
        <p:nvSpPr>
          <p:cNvPr id="3" name="Content Placeholder 2">
            <a:extLst>
              <a:ext uri="{FF2B5EF4-FFF2-40B4-BE49-F238E27FC236}">
                <a16:creationId xmlns:a16="http://schemas.microsoft.com/office/drawing/2014/main" id="{5B551817-8851-9B5E-CFF1-8EC1F36D3F50}"/>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662734BF-BA0B-06F7-0B0E-9D8872405C1B}"/>
              </a:ext>
            </a:extLst>
          </p:cNvPr>
          <p:cNvSpPr>
            <a:spLocks noGrp="1"/>
          </p:cNvSpPr>
          <p:nvPr>
            <p:ph type="sldNum" sz="quarter" idx="12"/>
          </p:nvPr>
        </p:nvSpPr>
        <p:spPr/>
        <p:txBody>
          <a:bodyPr/>
          <a:lstStyle/>
          <a:p>
            <a:fld id="{4947042C-0934-4E3B-9FFB-10D5A66E862D}" type="slidenum">
              <a:rPr lang="en-US" smtClean="0"/>
              <a:t>40</a:t>
            </a:fld>
            <a:endParaRPr lang="en-US"/>
          </a:p>
        </p:txBody>
      </p:sp>
      <p:pic>
        <p:nvPicPr>
          <p:cNvPr id="1026" name="Picture 2" descr="A diagram with a tree on the left and merging times on the right. The tree is labeled &quot;Subproblem size&quot; and the right is labeled &quot;Total merging time for all subproblems of this size.&quot;&#10;The first level of the tree shows a single node n and corresponding merging time of c times n. The second level of the tree shows two nodes, each of 1/2 n, and a merging time of 2 times c times 1/2 n, the same as c times n. The third level of the tree shows four nodes, each of 1/4 n, and a merging time of 4 times c times 1/4 n, the same as c times n. The fourth level of the tree shows eight nodes, each of 1/8 n, and a merging time of 8 times c times 1/8 n, the same as c times n. Underneath that level, dots are shown to indicate the tree continues like that. A final level is shown with n nodes of 1, and a merging time of n times c, the same as c times n.">
            <a:extLst>
              <a:ext uri="{FF2B5EF4-FFF2-40B4-BE49-F238E27FC236}">
                <a16:creationId xmlns:a16="http://schemas.microsoft.com/office/drawing/2014/main" id="{FD5C19F0-B6CD-92F7-3FF4-999E5630B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323" y="1290919"/>
            <a:ext cx="6705600" cy="5130800"/>
          </a:xfrm>
          <a:prstGeom prst="rect">
            <a:avLst/>
          </a:prstGeom>
          <a:noFill/>
          <a:extLst>
            <a:ext uri="{909E8E84-426E-40DD-AFC4-6F175D3DCCD1}">
              <a14:hiddenFill xmlns:a14="http://schemas.microsoft.com/office/drawing/2010/main">
                <a:solidFill>
                  <a:srgbClr val="FFFFFF"/>
                </a:solidFill>
              </a14:hiddenFill>
            </a:ext>
          </a:extLst>
        </p:spPr>
      </p:pic>
      <p:sp>
        <p:nvSpPr>
          <p:cNvPr id="5" name="Left Bracket 4">
            <a:extLst>
              <a:ext uri="{FF2B5EF4-FFF2-40B4-BE49-F238E27FC236}">
                <a16:creationId xmlns:a16="http://schemas.microsoft.com/office/drawing/2014/main" id="{30A9210B-D9AB-3AFF-98F6-B240682E2415}"/>
              </a:ext>
            </a:extLst>
          </p:cNvPr>
          <p:cNvSpPr/>
          <p:nvPr/>
        </p:nvSpPr>
        <p:spPr>
          <a:xfrm>
            <a:off x="1685581" y="2291507"/>
            <a:ext cx="561860" cy="3789803"/>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EEF5E2-742D-83B3-B4F7-38B0FAAB6115}"/>
                  </a:ext>
                </a:extLst>
              </p:cNvPr>
              <p:cNvSpPr txBox="1"/>
              <p:nvPr/>
            </p:nvSpPr>
            <p:spPr>
              <a:xfrm>
                <a:off x="346446" y="3627412"/>
                <a:ext cx="1415745" cy="553998"/>
              </a:xfrm>
              <a:prstGeom prst="rect">
                <a:avLst/>
              </a:prstGeom>
              <a:noFill/>
            </p:spPr>
            <p:txBody>
              <a:bodyPr wrap="square" lIns="0" tIns="0" rIns="0" bIns="0" rtlCol="0">
                <a:spAutoFit/>
              </a:bodyPr>
              <a:lstStyle/>
              <a:p>
                <a14:m>
                  <m:oMath xmlns:m="http://schemas.openxmlformats.org/officeDocument/2006/math">
                    <m:d>
                      <m:dPr>
                        <m:begChr m:val="⌊"/>
                        <m:endChr m:val="⌋"/>
                        <m:ctrlPr>
                          <a:rPr lang="en-US" sz="1800" i="1">
                            <a:latin typeface="Cambria Math" panose="02040503050406030204" pitchFamily="18" charset="0"/>
                          </a:rPr>
                        </m:ctrlPr>
                      </m:dPr>
                      <m:e>
                        <m:func>
                          <m:funcPr>
                            <m:ctrlPr>
                              <a:rPr lang="en-US" sz="1800" i="1">
                                <a:latin typeface="Cambria Math" panose="02040503050406030204" pitchFamily="18" charset="0"/>
                              </a:rPr>
                            </m:ctrlPr>
                          </m:funcPr>
                          <m:fName>
                            <m:sSub>
                              <m:sSubPr>
                                <m:ctrlPr>
                                  <a:rPr lang="en-US" sz="1800" i="1">
                                    <a:latin typeface="Cambria Math" panose="02040503050406030204" pitchFamily="18" charset="0"/>
                                  </a:rPr>
                                </m:ctrlPr>
                              </m:sSubPr>
                              <m:e>
                                <m:r>
                                  <m:rPr>
                                    <m:sty m:val="p"/>
                                  </m:rPr>
                                  <a:rPr lang="en-US" sz="1800">
                                    <a:latin typeface="Cambria Math" panose="02040503050406030204" pitchFamily="18" charset="0"/>
                                  </a:rPr>
                                  <m:t>log</m:t>
                                </m:r>
                              </m:e>
                              <m:sub>
                                <m:r>
                                  <a:rPr lang="en-US" sz="1800" i="1">
                                    <a:latin typeface="Cambria Math" panose="02040503050406030204" pitchFamily="18" charset="0"/>
                                  </a:rPr>
                                  <m:t>2</m:t>
                                </m:r>
                              </m:sub>
                            </m:sSub>
                          </m:fName>
                          <m:e>
                            <m:r>
                              <a:rPr lang="en-US" sz="1800" i="1">
                                <a:latin typeface="Cambria Math" panose="02040503050406030204" pitchFamily="18" charset="0"/>
                              </a:rPr>
                              <m:t>𝑁</m:t>
                            </m:r>
                          </m:e>
                        </m:func>
                      </m:e>
                    </m:d>
                    <m:r>
                      <a:rPr lang="en-US" sz="1800" i="1">
                        <a:latin typeface="Cambria Math" panose="02040503050406030204" pitchFamily="18" charset="0"/>
                      </a:rPr>
                      <m:t>+1</m:t>
                    </m:r>
                  </m:oMath>
                </a14:m>
                <a:r>
                  <a:rPr lang="en-US" sz="1800" dirty="0"/>
                  <a:t> levels</a:t>
                </a:r>
              </a:p>
            </p:txBody>
          </p:sp>
        </mc:Choice>
        <mc:Fallback xmlns="">
          <p:sp>
            <p:nvSpPr>
              <p:cNvPr id="6" name="TextBox 5">
                <a:extLst>
                  <a:ext uri="{FF2B5EF4-FFF2-40B4-BE49-F238E27FC236}">
                    <a16:creationId xmlns:a16="http://schemas.microsoft.com/office/drawing/2014/main" id="{10EEF5E2-742D-83B3-B4F7-38B0FAAB6115}"/>
                  </a:ext>
                </a:extLst>
              </p:cNvPr>
              <p:cNvSpPr txBox="1">
                <a:spLocks noRot="1" noChangeAspect="1" noMove="1" noResize="1" noEditPoints="1" noAdjustHandles="1" noChangeArrowheads="1" noChangeShapeType="1" noTextEdit="1"/>
              </p:cNvSpPr>
              <p:nvPr/>
            </p:nvSpPr>
            <p:spPr>
              <a:xfrm>
                <a:off x="346446" y="3627412"/>
                <a:ext cx="1415745" cy="553998"/>
              </a:xfrm>
              <a:prstGeom prst="rect">
                <a:avLst/>
              </a:prstGeom>
              <a:blipFill>
                <a:blip r:embed="rId3"/>
                <a:stretch>
                  <a:fillRect l="-10714" b="-22222"/>
                </a:stretch>
              </a:blipFill>
            </p:spPr>
            <p:txBody>
              <a:bodyPr/>
              <a:lstStyle/>
              <a:p>
                <a:r>
                  <a:rPr lang="en-US">
                    <a:noFill/>
                  </a:rPr>
                  <a:t> </a:t>
                </a:r>
              </a:p>
            </p:txBody>
          </p:sp>
        </mc:Fallback>
      </mc:AlternateContent>
    </p:spTree>
    <p:extLst>
      <p:ext uri="{BB962C8B-B14F-4D97-AF65-F5344CB8AC3E}">
        <p14:creationId xmlns:p14="http://schemas.microsoft.com/office/powerpoint/2010/main" val="3070183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6B5F-5717-39EC-77A2-7DAAAA81D057}"/>
              </a:ext>
            </a:extLst>
          </p:cNvPr>
          <p:cNvSpPr>
            <a:spLocks noGrp="1"/>
          </p:cNvSpPr>
          <p:nvPr>
            <p:ph type="title"/>
          </p:nvPr>
        </p:nvSpPr>
        <p:spPr/>
        <p:txBody>
          <a:bodyPr/>
          <a:lstStyle/>
          <a:p>
            <a:r>
              <a:rPr lang="en-US" dirty="0"/>
              <a:t>Runtime</a:t>
            </a:r>
          </a:p>
        </p:txBody>
      </p:sp>
      <p:sp>
        <p:nvSpPr>
          <p:cNvPr id="3" name="Content Placeholder 2">
            <a:extLst>
              <a:ext uri="{FF2B5EF4-FFF2-40B4-BE49-F238E27FC236}">
                <a16:creationId xmlns:a16="http://schemas.microsoft.com/office/drawing/2014/main" id="{5B551817-8851-9B5E-CFF1-8EC1F36D3F50}"/>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662734BF-BA0B-06F7-0B0E-9D8872405C1B}"/>
              </a:ext>
            </a:extLst>
          </p:cNvPr>
          <p:cNvSpPr>
            <a:spLocks noGrp="1"/>
          </p:cNvSpPr>
          <p:nvPr>
            <p:ph type="sldNum" sz="quarter" idx="12"/>
          </p:nvPr>
        </p:nvSpPr>
        <p:spPr/>
        <p:txBody>
          <a:bodyPr/>
          <a:lstStyle/>
          <a:p>
            <a:fld id="{4947042C-0934-4E3B-9FFB-10D5A66E862D}" type="slidenum">
              <a:rPr lang="en-US" smtClean="0"/>
              <a:t>41</a:t>
            </a:fld>
            <a:endParaRPr lang="en-US"/>
          </a:p>
        </p:txBody>
      </p:sp>
      <p:pic>
        <p:nvPicPr>
          <p:cNvPr id="1026" name="Picture 2" descr="A diagram with a tree on the left and merging times on the right. The tree is labeled &quot;Subproblem size&quot; and the right is labeled &quot;Total merging time for all subproblems of this size.&quot;&#10;The first level of the tree shows a single node n and corresponding merging time of c times n. The second level of the tree shows two nodes, each of 1/2 n, and a merging time of 2 times c times 1/2 n, the same as c times n. The third level of the tree shows four nodes, each of 1/4 n, and a merging time of 4 times c times 1/4 n, the same as c times n. The fourth level of the tree shows eight nodes, each of 1/8 n, and a merging time of 8 times c times 1/8 n, the same as c times n. Underneath that level, dots are shown to indicate the tree continues like that. A final level is shown with n nodes of 1, and a merging time of n times c, the same as c times n.">
            <a:extLst>
              <a:ext uri="{FF2B5EF4-FFF2-40B4-BE49-F238E27FC236}">
                <a16:creationId xmlns:a16="http://schemas.microsoft.com/office/drawing/2014/main" id="{FD5C19F0-B6CD-92F7-3FF4-999E5630B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7323" y="1290919"/>
            <a:ext cx="6705600" cy="5130800"/>
          </a:xfrm>
          <a:prstGeom prst="rect">
            <a:avLst/>
          </a:prstGeom>
          <a:noFill/>
          <a:extLst>
            <a:ext uri="{909E8E84-426E-40DD-AFC4-6F175D3DCCD1}">
              <a14:hiddenFill xmlns:a14="http://schemas.microsoft.com/office/drawing/2010/main">
                <a:solidFill>
                  <a:srgbClr val="FFFFFF"/>
                </a:solidFill>
              </a14:hiddenFill>
            </a:ext>
          </a:extLst>
        </p:spPr>
      </p:pic>
      <p:sp>
        <p:nvSpPr>
          <p:cNvPr id="5" name="Left Bracket 4">
            <a:extLst>
              <a:ext uri="{FF2B5EF4-FFF2-40B4-BE49-F238E27FC236}">
                <a16:creationId xmlns:a16="http://schemas.microsoft.com/office/drawing/2014/main" id="{30A9210B-D9AB-3AFF-98F6-B240682E2415}"/>
              </a:ext>
            </a:extLst>
          </p:cNvPr>
          <p:cNvSpPr/>
          <p:nvPr/>
        </p:nvSpPr>
        <p:spPr>
          <a:xfrm>
            <a:off x="1685581" y="2291507"/>
            <a:ext cx="561860" cy="3789803"/>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0EEF5E2-742D-83B3-B4F7-38B0FAAB6115}"/>
                  </a:ext>
                </a:extLst>
              </p:cNvPr>
              <p:cNvSpPr txBox="1"/>
              <p:nvPr/>
            </p:nvSpPr>
            <p:spPr>
              <a:xfrm>
                <a:off x="346446" y="3627412"/>
                <a:ext cx="1415745" cy="553998"/>
              </a:xfrm>
              <a:prstGeom prst="rect">
                <a:avLst/>
              </a:prstGeom>
              <a:noFill/>
            </p:spPr>
            <p:txBody>
              <a:bodyPr wrap="square" lIns="0" tIns="0" rIns="0" bIns="0" rtlCol="0">
                <a:spAutoFit/>
              </a:bodyPr>
              <a:lstStyle/>
              <a:p>
                <a14:m>
                  <m:oMath xmlns:m="http://schemas.openxmlformats.org/officeDocument/2006/math">
                    <m:d>
                      <m:dPr>
                        <m:begChr m:val="⌊"/>
                        <m:endChr m:val="⌋"/>
                        <m:ctrlPr>
                          <a:rPr lang="en-US" sz="1800" i="1">
                            <a:latin typeface="Cambria Math" panose="02040503050406030204" pitchFamily="18" charset="0"/>
                          </a:rPr>
                        </m:ctrlPr>
                      </m:dPr>
                      <m:e>
                        <m:func>
                          <m:funcPr>
                            <m:ctrlPr>
                              <a:rPr lang="en-US" sz="1800" i="1">
                                <a:latin typeface="Cambria Math" panose="02040503050406030204" pitchFamily="18" charset="0"/>
                              </a:rPr>
                            </m:ctrlPr>
                          </m:funcPr>
                          <m:fName>
                            <m:sSub>
                              <m:sSubPr>
                                <m:ctrlPr>
                                  <a:rPr lang="en-US" sz="1800" i="1">
                                    <a:latin typeface="Cambria Math" panose="02040503050406030204" pitchFamily="18" charset="0"/>
                                  </a:rPr>
                                </m:ctrlPr>
                              </m:sSubPr>
                              <m:e>
                                <m:r>
                                  <m:rPr>
                                    <m:sty m:val="p"/>
                                  </m:rPr>
                                  <a:rPr lang="en-US" sz="1800">
                                    <a:latin typeface="Cambria Math" panose="02040503050406030204" pitchFamily="18" charset="0"/>
                                  </a:rPr>
                                  <m:t>log</m:t>
                                </m:r>
                              </m:e>
                              <m:sub>
                                <m:r>
                                  <a:rPr lang="en-US" sz="1800" i="1">
                                    <a:latin typeface="Cambria Math" panose="02040503050406030204" pitchFamily="18" charset="0"/>
                                  </a:rPr>
                                  <m:t>2</m:t>
                                </m:r>
                              </m:sub>
                            </m:sSub>
                          </m:fName>
                          <m:e>
                            <m:r>
                              <a:rPr lang="en-US" sz="1800" i="1">
                                <a:latin typeface="Cambria Math" panose="02040503050406030204" pitchFamily="18" charset="0"/>
                              </a:rPr>
                              <m:t>𝑁</m:t>
                            </m:r>
                          </m:e>
                        </m:func>
                      </m:e>
                    </m:d>
                    <m:r>
                      <a:rPr lang="en-US" sz="1800" i="1">
                        <a:latin typeface="Cambria Math" panose="02040503050406030204" pitchFamily="18" charset="0"/>
                      </a:rPr>
                      <m:t>+1</m:t>
                    </m:r>
                  </m:oMath>
                </a14:m>
                <a:r>
                  <a:rPr lang="en-US" sz="1800" dirty="0"/>
                  <a:t> levels</a:t>
                </a:r>
              </a:p>
            </p:txBody>
          </p:sp>
        </mc:Choice>
        <mc:Fallback xmlns="">
          <p:sp>
            <p:nvSpPr>
              <p:cNvPr id="6" name="TextBox 5">
                <a:extLst>
                  <a:ext uri="{FF2B5EF4-FFF2-40B4-BE49-F238E27FC236}">
                    <a16:creationId xmlns:a16="http://schemas.microsoft.com/office/drawing/2014/main" id="{10EEF5E2-742D-83B3-B4F7-38B0FAAB6115}"/>
                  </a:ext>
                </a:extLst>
              </p:cNvPr>
              <p:cNvSpPr txBox="1">
                <a:spLocks noRot="1" noChangeAspect="1" noMove="1" noResize="1" noEditPoints="1" noAdjustHandles="1" noChangeArrowheads="1" noChangeShapeType="1" noTextEdit="1"/>
              </p:cNvSpPr>
              <p:nvPr/>
            </p:nvSpPr>
            <p:spPr>
              <a:xfrm>
                <a:off x="346446" y="3627412"/>
                <a:ext cx="1415745" cy="553998"/>
              </a:xfrm>
              <a:prstGeom prst="rect">
                <a:avLst/>
              </a:prstGeom>
              <a:blipFill>
                <a:blip r:embed="rId3"/>
                <a:stretch>
                  <a:fillRect l="-10714"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D6AE91-0F2D-2EFB-4244-7D3F1E07F473}"/>
                  </a:ext>
                </a:extLst>
              </p:cNvPr>
              <p:cNvSpPr txBox="1"/>
              <p:nvPr/>
            </p:nvSpPr>
            <p:spPr>
              <a:xfrm>
                <a:off x="346446" y="4371427"/>
                <a:ext cx="1415745" cy="830997"/>
              </a:xfrm>
              <a:prstGeom prst="rect">
                <a:avLst/>
              </a:prstGeom>
              <a:noFill/>
            </p:spPr>
            <p:txBody>
              <a:bodyPr wrap="square" lIns="0" tIns="0" rIns="0" bIns="0" rtlCol="0">
                <a:spAutoFit/>
              </a:bodyPr>
              <a:lstStyle/>
              <a:p>
                <a:r>
                  <a:rPr lang="en-US" sz="1800" dirty="0"/>
                  <a:t>Overall runtime: </a:t>
                </a:r>
                <a14:m>
                  <m:oMath xmlns:m="http://schemas.openxmlformats.org/officeDocument/2006/math">
                    <m:r>
                      <a:rPr lang="en-US" sz="1800" b="0" i="1" smtClean="0">
                        <a:latin typeface="Cambria Math" panose="02040503050406030204" pitchFamily="18" charset="0"/>
                      </a:rPr>
                      <m:t>𝑂</m:t>
                    </m:r>
                    <m:r>
                      <a:rPr lang="en-US" sz="1800" b="0" i="1" smtClean="0">
                        <a:latin typeface="Cambria Math" panose="02040503050406030204" pitchFamily="18" charset="0"/>
                      </a:rPr>
                      <m:t>(</m:t>
                    </m:r>
                    <m:r>
                      <a:rPr lang="en-US" sz="1800" b="0" i="1" smtClean="0">
                        <a:latin typeface="Cambria Math" panose="02040503050406030204" pitchFamily="18" charset="0"/>
                      </a:rPr>
                      <m:t>𝑛</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log</m:t>
                        </m:r>
                      </m:fName>
                      <m:e>
                        <m:r>
                          <a:rPr lang="en-US" sz="1800" b="0" i="1" smtClean="0">
                            <a:latin typeface="Cambria Math" panose="02040503050406030204" pitchFamily="18" charset="0"/>
                          </a:rPr>
                          <m:t>𝑛</m:t>
                        </m:r>
                      </m:e>
                    </m:func>
                    <m:r>
                      <a:rPr lang="en-US" sz="1800" b="0" i="1" smtClean="0">
                        <a:latin typeface="Cambria Math" panose="02040503050406030204" pitchFamily="18" charset="0"/>
                      </a:rPr>
                      <m:t>)</m:t>
                    </m:r>
                  </m:oMath>
                </a14:m>
                <a:endParaRPr lang="en-US" sz="1800" dirty="0"/>
              </a:p>
            </p:txBody>
          </p:sp>
        </mc:Choice>
        <mc:Fallback xmlns="">
          <p:sp>
            <p:nvSpPr>
              <p:cNvPr id="7" name="TextBox 6">
                <a:extLst>
                  <a:ext uri="{FF2B5EF4-FFF2-40B4-BE49-F238E27FC236}">
                    <a16:creationId xmlns:a16="http://schemas.microsoft.com/office/drawing/2014/main" id="{0DD6AE91-0F2D-2EFB-4244-7D3F1E07F473}"/>
                  </a:ext>
                </a:extLst>
              </p:cNvPr>
              <p:cNvSpPr txBox="1">
                <a:spLocks noRot="1" noChangeAspect="1" noMove="1" noResize="1" noEditPoints="1" noAdjustHandles="1" noChangeArrowheads="1" noChangeShapeType="1" noTextEdit="1"/>
              </p:cNvSpPr>
              <p:nvPr/>
            </p:nvSpPr>
            <p:spPr>
              <a:xfrm>
                <a:off x="346446" y="4371427"/>
                <a:ext cx="1415745" cy="830997"/>
              </a:xfrm>
              <a:prstGeom prst="rect">
                <a:avLst/>
              </a:prstGeom>
              <a:blipFill>
                <a:blip r:embed="rId4"/>
                <a:stretch>
                  <a:fillRect l="-10714" t="-9091" b="-13636"/>
                </a:stretch>
              </a:blipFill>
            </p:spPr>
            <p:txBody>
              <a:bodyPr/>
              <a:lstStyle/>
              <a:p>
                <a:r>
                  <a:rPr lang="en-US">
                    <a:noFill/>
                  </a:rPr>
                  <a:t> </a:t>
                </a:r>
              </a:p>
            </p:txBody>
          </p:sp>
        </mc:Fallback>
      </mc:AlternateContent>
    </p:spTree>
    <p:extLst>
      <p:ext uri="{BB962C8B-B14F-4D97-AF65-F5344CB8AC3E}">
        <p14:creationId xmlns:p14="http://schemas.microsoft.com/office/powerpoint/2010/main" val="25085036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7E3F-B264-3FD1-D1AA-CCC589E22D17}"/>
              </a:ext>
            </a:extLst>
          </p:cNvPr>
          <p:cNvSpPr>
            <a:spLocks noGrp="1"/>
          </p:cNvSpPr>
          <p:nvPr>
            <p:ph type="title"/>
          </p:nvPr>
        </p:nvSpPr>
        <p:spPr/>
        <p:txBody>
          <a:bodyPr/>
          <a:lstStyle/>
          <a:p>
            <a:r>
              <a:rPr lang="en-US" dirty="0"/>
              <a:t>“Divide and conquer”</a:t>
            </a:r>
          </a:p>
        </p:txBody>
      </p:sp>
      <p:sp>
        <p:nvSpPr>
          <p:cNvPr id="3" name="Content Placeholder 2">
            <a:extLst>
              <a:ext uri="{FF2B5EF4-FFF2-40B4-BE49-F238E27FC236}">
                <a16:creationId xmlns:a16="http://schemas.microsoft.com/office/drawing/2014/main" id="{62CA7A80-54E9-1F79-33E2-D99AD9834AAC}"/>
              </a:ext>
            </a:extLst>
          </p:cNvPr>
          <p:cNvSpPr>
            <a:spLocks noGrp="1"/>
          </p:cNvSpPr>
          <p:nvPr>
            <p:ph idx="1"/>
          </p:nvPr>
        </p:nvSpPr>
        <p:spPr/>
        <p:txBody>
          <a:bodyPr/>
          <a:lstStyle/>
          <a:p>
            <a:r>
              <a:rPr lang="en-US" dirty="0"/>
              <a:t>Break a problem down into smaller examples of the same problem</a:t>
            </a:r>
          </a:p>
          <a:p>
            <a:endParaRPr lang="en-US" dirty="0"/>
          </a:p>
          <a:p>
            <a:r>
              <a:rPr lang="en-US" dirty="0"/>
              <a:t>Once it’s small enough, “easy” solution</a:t>
            </a:r>
          </a:p>
          <a:p>
            <a:endParaRPr lang="en-US" dirty="0"/>
          </a:p>
          <a:p>
            <a:r>
              <a:rPr lang="en-US" dirty="0"/>
              <a:t>Combined solutions together</a:t>
            </a:r>
          </a:p>
        </p:txBody>
      </p:sp>
      <p:sp>
        <p:nvSpPr>
          <p:cNvPr id="4" name="Slide Number Placeholder 3">
            <a:extLst>
              <a:ext uri="{FF2B5EF4-FFF2-40B4-BE49-F238E27FC236}">
                <a16:creationId xmlns:a16="http://schemas.microsoft.com/office/drawing/2014/main" id="{F86FF90D-C443-D5D5-A0E0-50EE5E7A7317}"/>
              </a:ext>
            </a:extLst>
          </p:cNvPr>
          <p:cNvSpPr>
            <a:spLocks noGrp="1"/>
          </p:cNvSpPr>
          <p:nvPr>
            <p:ph type="sldNum" sz="quarter" idx="12"/>
          </p:nvPr>
        </p:nvSpPr>
        <p:spPr/>
        <p:txBody>
          <a:bodyPr/>
          <a:lstStyle/>
          <a:p>
            <a:fld id="{4947042C-0934-4E3B-9FFB-10D5A66E862D}" type="slidenum">
              <a:rPr lang="en-US" smtClean="0"/>
              <a:t>42</a:t>
            </a:fld>
            <a:endParaRPr lang="en-US"/>
          </a:p>
        </p:txBody>
      </p:sp>
    </p:spTree>
    <p:extLst>
      <p:ext uri="{BB962C8B-B14F-4D97-AF65-F5344CB8AC3E}">
        <p14:creationId xmlns:p14="http://schemas.microsoft.com/office/powerpoint/2010/main" val="3387822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8"/>
          <p:cNvSpPr txBox="1">
            <a:spLocks noGrp="1"/>
          </p:cNvSpPr>
          <p:nvPr>
            <p:ph type="body" idx="1"/>
          </p:nvPr>
        </p:nvSpPr>
        <p:spPr>
          <a:xfrm>
            <a:off x="3154362" y="3105944"/>
            <a:ext cx="5883275" cy="646112"/>
          </a:xfrm>
          <a:prstGeom prst="rect">
            <a:avLst/>
          </a:prstGeom>
          <a:noFill/>
          <a:ln>
            <a:noFill/>
          </a:ln>
        </p:spPr>
        <p:txBody>
          <a:bodyPr spcFirstLastPara="1" wrap="square" lIns="45700" tIns="45700" rIns="45700" bIns="45700" anchor="ctr" anchorCtr="0">
            <a:normAutofit/>
          </a:bodyPr>
          <a:lstStyle/>
          <a:p>
            <a:pPr marL="0" lvl="0" indent="0" algn="ctr" rtl="0">
              <a:lnSpc>
                <a:spcPct val="90000"/>
              </a:lnSpc>
              <a:spcBef>
                <a:spcPts val="0"/>
              </a:spcBef>
              <a:spcAft>
                <a:spcPts val="0"/>
              </a:spcAft>
              <a:buClr>
                <a:schemeClr val="lt1"/>
              </a:buClr>
              <a:buSzPts val="3600"/>
              <a:buNone/>
            </a:pP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CMU">
      <a:dk1>
        <a:srgbClr val="404040"/>
      </a:dk1>
      <a:lt1>
        <a:srgbClr val="FFFFFF"/>
      </a:lt1>
      <a:dk2>
        <a:srgbClr val="898989"/>
      </a:dk2>
      <a:lt2>
        <a:srgbClr val="BABABA"/>
      </a:lt2>
      <a:accent1>
        <a:srgbClr val="BB0000"/>
      </a:accent1>
      <a:accent2>
        <a:srgbClr val="404040"/>
      </a:accent2>
      <a:accent3>
        <a:srgbClr val="BABABA"/>
      </a:accent3>
      <a:accent4>
        <a:srgbClr val="00337F"/>
      </a:accent4>
      <a:accent5>
        <a:srgbClr val="AA6600"/>
      </a:accent5>
      <a:accent6>
        <a:srgbClr val="006677"/>
      </a:accent6>
      <a:hlink>
        <a:srgbClr val="00337F"/>
      </a:hlink>
      <a:folHlink>
        <a:srgbClr val="AA6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4116</TotalTime>
  <Words>2751</Words>
  <Application>Microsoft Macintosh PowerPoint</Application>
  <PresentationFormat>Widescreen</PresentationFormat>
  <Paragraphs>724</Paragraphs>
  <Slides>43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Cambria Math</vt:lpstr>
      <vt:lpstr>Calibri</vt:lpstr>
      <vt:lpstr>Open Sans</vt:lpstr>
      <vt:lpstr>Wingdings</vt:lpstr>
      <vt:lpstr>Courier New</vt:lpstr>
      <vt:lpstr>Consolas</vt:lpstr>
      <vt:lpstr>Open Sans Light</vt:lpstr>
      <vt:lpstr>Arial</vt:lpstr>
      <vt:lpstr>Office Theme</vt:lpstr>
      <vt:lpstr>PowerPoint Presentation</vt:lpstr>
      <vt:lpstr>Warm-up from last time</vt:lpstr>
      <vt:lpstr>Poll 1</vt:lpstr>
      <vt:lpstr>Guess a Number</vt:lpstr>
      <vt:lpstr>Classic CS problem: Searching</vt:lpstr>
      <vt:lpstr>Imagine storing sorted data in an array</vt:lpstr>
      <vt:lpstr>Imagine storing sorted data in an array</vt:lpstr>
      <vt:lpstr>Imagine storing sorted data in an array</vt:lpstr>
      <vt:lpstr>Imagine storing sorted data in an array</vt:lpstr>
      <vt:lpstr>Binary search</vt:lpstr>
      <vt:lpstr>Binary search</vt:lpstr>
      <vt:lpstr>Binary search</vt:lpstr>
      <vt:lpstr>Binary search</vt:lpstr>
      <vt:lpstr>Poll 2</vt:lpstr>
      <vt:lpstr>Recursion Examples</vt:lpstr>
      <vt:lpstr>Recursion Examples</vt:lpstr>
      <vt:lpstr>Recursion Examples</vt:lpstr>
      <vt:lpstr>Recursion in memory</vt:lpstr>
      <vt:lpstr>Iterative vs Recursive</vt:lpstr>
      <vt:lpstr>How does this look in memory?</vt:lpstr>
      <vt:lpstr>How does this look in memory?</vt:lpstr>
      <vt:lpstr>The “stack” part of memory is a stack</vt:lpstr>
      <vt:lpstr>“Stack” part of memory is a stack</vt:lpstr>
      <vt:lpstr>“Stack” part of memory is a stack</vt:lpstr>
      <vt:lpstr>“Stack” part of memory is a stack</vt:lpstr>
      <vt:lpstr>“Stack” part of memory is a stack</vt:lpstr>
      <vt:lpstr>“Stack” part of memory is a stack</vt:lpstr>
      <vt:lpstr>What can go wrong?</vt:lpstr>
      <vt:lpstr>Demo: Stack of elephants</vt:lpstr>
      <vt:lpstr>Demo: Stack of elephants</vt:lpstr>
      <vt:lpstr>Demo: Stack of elephants</vt:lpstr>
      <vt:lpstr>Demo: Stack of elephants</vt:lpstr>
      <vt:lpstr>Sorting </vt:lpstr>
      <vt:lpstr>Insertion sort</vt:lpstr>
      <vt:lpstr>Insertion sort</vt:lpstr>
      <vt:lpstr>Insertion sort</vt:lpstr>
      <vt:lpstr>Merge sort</vt:lpstr>
      <vt:lpstr>merge operation</vt:lpstr>
      <vt:lpstr>Runtime</vt:lpstr>
      <vt:lpstr>Runtime</vt:lpstr>
      <vt:lpstr>Runtime</vt:lpstr>
      <vt:lpstr>“Divide and conquer”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Colin Donovan</dc:creator>
  <cp:lastModifiedBy>Bryan Wilder</cp:lastModifiedBy>
  <cp:revision>28</cp:revision>
  <dcterms:created xsi:type="dcterms:W3CDTF">2023-03-30T16:47:09Z</dcterms:created>
  <dcterms:modified xsi:type="dcterms:W3CDTF">2024-11-10T22:10:18Z</dcterms:modified>
</cp:coreProperties>
</file>