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314" r:id="rId3"/>
    <p:sldId id="336" r:id="rId4"/>
    <p:sldId id="321" r:id="rId5"/>
    <p:sldId id="322" r:id="rId6"/>
    <p:sldId id="342" r:id="rId7"/>
    <p:sldId id="345" r:id="rId8"/>
    <p:sldId id="323" r:id="rId9"/>
    <p:sldId id="324" r:id="rId10"/>
    <p:sldId id="325" r:id="rId11"/>
    <p:sldId id="326" r:id="rId12"/>
    <p:sldId id="327" r:id="rId13"/>
    <p:sldId id="328" r:id="rId14"/>
    <p:sldId id="337" r:id="rId15"/>
    <p:sldId id="329" r:id="rId16"/>
    <p:sldId id="330" r:id="rId17"/>
    <p:sldId id="331" r:id="rId18"/>
    <p:sldId id="338" r:id="rId19"/>
    <p:sldId id="339" r:id="rId20"/>
    <p:sldId id="333" r:id="rId21"/>
    <p:sldId id="332" r:id="rId22"/>
    <p:sldId id="268" r:id="rId23"/>
    <p:sldId id="269" r:id="rId24"/>
    <p:sldId id="270" r:id="rId25"/>
    <p:sldId id="273" r:id="rId26"/>
    <p:sldId id="271" r:id="rId27"/>
    <p:sldId id="335" r:id="rId28"/>
    <p:sldId id="272" r:id="rId29"/>
    <p:sldId id="340" r:id="rId30"/>
    <p:sldId id="341" r:id="rId31"/>
  </p:sldIdLst>
  <p:sldSz cx="12192000" cy="6858000"/>
  <p:notesSz cx="6858000" cy="9144000"/>
  <p:embeddedFontLst>
    <p:embeddedFont>
      <p:font typeface="Cambria Math" panose="02040503050406030204" pitchFamily="18" charset="0"/>
      <p:regular r:id="rId33"/>
    </p:embeddedFont>
    <p:embeddedFont>
      <p:font typeface="Open Sans" panose="020B0606030504020204" pitchFamily="34" charset="0"/>
      <p:regular r:id="rId34"/>
      <p:bold r:id="rId35"/>
      <p:italic r:id="rId36"/>
      <p:boldItalic r:id="rId37"/>
    </p:embeddedFont>
    <p:embeddedFont>
      <p:font typeface="Open Sans Light" panose="020B030603050402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8" roundtripDataSignature="AMtx7mgUUlR7RfLNE3+YwQYEA+haZAZC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58"/>
    <p:restoredTop sz="96301"/>
  </p:normalViewPr>
  <p:slideViewPr>
    <p:cSldViewPr snapToGrid="0">
      <p:cViewPr varScale="1">
        <p:scale>
          <a:sx n="119" d="100"/>
          <a:sy n="119" d="100"/>
        </p:scale>
        <p:origin x="21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68" Type="http://customschemas.google.com/relationships/presentationmetadata" Target="metadata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7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16769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19755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42285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869231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524235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50122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46401" y="1193800"/>
            <a:ext cx="4572001" cy="40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6" t="23991" r="4771" b="1983"/>
          <a:stretch/>
        </p:blipFill>
        <p:spPr>
          <a:xfrm>
            <a:off x="609601" y="1"/>
            <a:ext cx="105409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46401" y="1193800"/>
            <a:ext cx="4572001" cy="40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6" t="23991" r="4771" b="1983"/>
          <a:stretch/>
        </p:blipFill>
        <p:spPr>
          <a:xfrm>
            <a:off x="609601" y="1"/>
            <a:ext cx="1054097" cy="685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63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4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12"/>
          <p:cNvCxnSpPr/>
          <p:nvPr/>
        </p:nvCxnSpPr>
        <p:spPr>
          <a:xfrm>
            <a:off x="1246063" y="1554511"/>
            <a:ext cx="9177403" cy="0"/>
          </a:xfrm>
          <a:prstGeom prst="straightConnector1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body" idx="2"/>
          </p:nvPr>
        </p:nvSpPr>
        <p:spPr>
          <a:xfrm>
            <a:off x="1246063" y="2298984"/>
            <a:ext cx="9177403" cy="300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>
                <a:solidFill>
                  <a:srgbClr val="5D5D5D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3"/>
          </p:nvPr>
        </p:nvSpPr>
        <p:spPr>
          <a:xfrm>
            <a:off x="1246064" y="1752884"/>
            <a:ext cx="9177402" cy="40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 b="1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0" name="Google Shape;30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42000"/>
            <a:ext cx="12192000" cy="101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7868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Font typeface="Open Sans Light"/>
              <a:buNone/>
              <a:defRPr sz="36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colab.research.google.com/drive/1Rn5TbWOO-Oc9PLwE_MigG6M_dQPTWQUu?usp=sharing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imgur.com/a/Hqolp#2dKCQHh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Google Shape;70;p15"/>
          <p:cNvCxnSpPr/>
          <p:nvPr/>
        </p:nvCxnSpPr>
        <p:spPr>
          <a:xfrm>
            <a:off x="2946400" y="4648200"/>
            <a:ext cx="73152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Google Shape;71;p15"/>
          <p:cNvSpPr txBox="1"/>
          <p:nvPr/>
        </p:nvSpPr>
        <p:spPr>
          <a:xfrm>
            <a:off x="2844800" y="2717800"/>
            <a:ext cx="90640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4233" indent="-4233">
              <a:buClr>
                <a:schemeClr val="dk1"/>
              </a:buClr>
            </a:pPr>
            <a:r>
              <a:rPr lang="en-US" sz="2667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Computational Foundations for ML (10-607):</a:t>
            </a:r>
            <a:endParaRPr sz="2667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33" indent="-4233">
              <a:lnSpc>
                <a:spcPct val="115000"/>
              </a:lnSpc>
              <a:spcBef>
                <a:spcPts val="667"/>
              </a:spcBef>
            </a:pPr>
            <a:r>
              <a:rPr lang="en-US" sz="4667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Continuous optimization</a:t>
            </a:r>
            <a:endParaRPr sz="4667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33" indent="-4233"/>
            <a:endParaRPr sz="48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2844800" y="4851400"/>
            <a:ext cx="701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4233" indent="-4233"/>
            <a:r>
              <a:rPr lang="en-US" sz="2133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Bryan Wilder</a:t>
            </a:r>
            <a:endParaRPr sz="1867" dirty="0"/>
          </a:p>
        </p:txBody>
      </p:sp>
      <p:sp>
        <p:nvSpPr>
          <p:cNvPr id="73" name="Google Shape;73;p15"/>
          <p:cNvSpPr txBox="1"/>
          <p:nvPr/>
        </p:nvSpPr>
        <p:spPr>
          <a:xfrm>
            <a:off x="2844800" y="6260433"/>
            <a:ext cx="9204400" cy="471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1467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* Slides borrowed from prior offerings by Professors H. </a:t>
            </a:r>
            <a:r>
              <a:rPr lang="en-US" sz="1467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Heidari</a:t>
            </a:r>
            <a:r>
              <a:rPr lang="en-US" sz="1467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M. Gormley, P. Virtue, &amp; G. Gordon.</a:t>
            </a:r>
            <a:endParaRPr sz="1467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D2F2-6AB5-0255-85A9-727CBEEA8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AECB2-226A-A514-F35E-747F0F95B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n-US" dirty="0"/>
              <a:t>Final quiz: Friday during recitation period</a:t>
            </a:r>
          </a:p>
          <a:p>
            <a:pPr marL="152396" indent="0">
              <a:buNone/>
            </a:pPr>
            <a:r>
              <a:rPr lang="en-US" dirty="0"/>
              <a:t>Covers material since quiz 2 through today</a:t>
            </a:r>
          </a:p>
          <a:p>
            <a:pPr marL="152396" indent="0">
              <a:buNone/>
            </a:pPr>
            <a:endParaRPr lang="en-US" dirty="0"/>
          </a:p>
          <a:p>
            <a:r>
              <a:rPr lang="en-US" dirty="0"/>
              <a:t>Trees: various tree traversals, binary search trees</a:t>
            </a:r>
          </a:p>
          <a:p>
            <a:r>
              <a:rPr lang="en-US" dirty="0"/>
              <a:t>Lists, stacks, queues, and heaps: operations and implementations</a:t>
            </a:r>
          </a:p>
          <a:p>
            <a:r>
              <a:rPr lang="en-US" dirty="0"/>
              <a:t>Graphs: data structures, BFS/DFS, Kruskal’s and Dijkstra’s algorithms</a:t>
            </a:r>
          </a:p>
          <a:p>
            <a:r>
              <a:rPr lang="en-US" dirty="0"/>
              <a:t>Today: (stochastic) gradient descent algorithms</a:t>
            </a:r>
          </a:p>
          <a:p>
            <a:endParaRPr lang="en-US" dirty="0"/>
          </a:p>
          <a:p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A8EB3-B6F3-5C1F-8AA3-949C9F0EE6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772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D2F2-6AB5-0255-85A9-727CBEEA8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AECB2-226A-A514-F35E-747F0F95B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n-US" dirty="0"/>
              <a:t>Last week of the class is devoted to </a:t>
            </a:r>
            <a:r>
              <a:rPr lang="en-US" i="1" dirty="0"/>
              <a:t>optimization</a:t>
            </a:r>
            <a:endParaRPr lang="en-US" dirty="0"/>
          </a:p>
          <a:p>
            <a:pPr marL="152396" indent="0">
              <a:buNone/>
            </a:pPr>
            <a:endParaRPr lang="en-US" i="1" dirty="0"/>
          </a:p>
          <a:p>
            <a:pPr marL="152396" indent="0">
              <a:buNone/>
            </a:pPr>
            <a:r>
              <a:rPr lang="en-US" dirty="0"/>
              <a:t>Seen various examples so far: shortest paths, knapsack problems, minimum spanning trees…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This week, two broad families of approaches:</a:t>
            </a:r>
          </a:p>
          <a:p>
            <a:pPr marL="152396" indent="0">
              <a:buNone/>
            </a:pPr>
            <a:endParaRPr lang="en-US" dirty="0"/>
          </a:p>
          <a:p>
            <a:pPr marL="609596" indent="-457200">
              <a:buAutoNum type="arabicParenBoth"/>
            </a:pPr>
            <a:r>
              <a:rPr lang="en-US" dirty="0"/>
              <a:t>Gradient descent algorithms for continuous optimization</a:t>
            </a:r>
          </a:p>
          <a:p>
            <a:pPr marL="609596" indent="-457200">
              <a:buAutoNum type="arabicParenBoth"/>
            </a:pPr>
            <a:r>
              <a:rPr lang="en-US" dirty="0"/>
              <a:t>Search and discrete optimization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A8EB3-B6F3-5C1F-8AA3-949C9F0EE6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62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EA12B-DA95-1EC4-3B02-5DC7C761D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optimization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BBF10-DA9B-9939-0C04-803CE6DE2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n-US" dirty="0"/>
              <a:t>So far, we’ve dealt primarily with discrete optimization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What do we mean by discrete? Solutions can take only one of a finite set of values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i="1" dirty="0"/>
              <a:t>An item is in the knapsack or not, an edge is in the MST or not, etc. </a:t>
            </a:r>
          </a:p>
          <a:p>
            <a:pPr marL="152396" indent="0">
              <a:buNone/>
            </a:pPr>
            <a:endParaRPr lang="en-US" i="1" dirty="0"/>
          </a:p>
          <a:p>
            <a:pPr marL="152396" indent="0">
              <a:buNone/>
            </a:pPr>
            <a:endParaRPr lang="en-US" i="1" dirty="0"/>
          </a:p>
          <a:p>
            <a:pPr marL="152396" indent="0">
              <a:buNone/>
            </a:pPr>
            <a:r>
              <a:rPr lang="en-US" dirty="0"/>
              <a:t>Most common optimization problem in ML is over the parameters of a model: often continuous</a:t>
            </a:r>
          </a:p>
          <a:p>
            <a:pPr marL="152396" indent="0">
              <a:buNone/>
            </a:pPr>
            <a:endParaRPr lang="en-US" dirty="0"/>
          </a:p>
          <a:p>
            <a:r>
              <a:rPr lang="en-US" dirty="0"/>
              <a:t>Coefficients of a linear or logistic regression model</a:t>
            </a:r>
          </a:p>
          <a:p>
            <a:r>
              <a:rPr lang="en-US" dirty="0"/>
              <a:t>Parameters of a neural network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20CAB-9482-6F48-A9C2-0B25B8B0FA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05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EA12B-DA95-1EC4-3B02-5DC7C761D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risk minimization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E0BBF10-DA9B-9939-0C04-803CE6DE2F7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52396" indent="0">
                  <a:buNone/>
                </a:pPr>
                <a:r>
                  <a:rPr lang="en-US" dirty="0"/>
                  <a:t>Typical ML training problem: minimize the training loss of the model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 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For example, in linear regression: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 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sup>
                                          </m:s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E0BBF10-DA9B-9939-0C04-803CE6DE2F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9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20CAB-9482-6F48-A9C2-0B25B8B0FA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1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0D838-192D-9A26-4C5E-181B96E80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descent: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C01DC5A-8EDE-500A-2E21-B7A96E03764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52396" indent="0">
                  <a:buNone/>
                </a:pPr>
                <a:r>
                  <a:rPr lang="en-US" dirty="0"/>
                  <a:t>For 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solves the problem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by iterating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is called the </a:t>
                </a:r>
                <a:r>
                  <a:rPr lang="en-US" i="1" dirty="0"/>
                  <a:t>learning rate</a:t>
                </a:r>
              </a:p>
              <a:p>
                <a:pPr marL="152396" indent="0">
                  <a:buNone/>
                </a:pPr>
                <a:endParaRPr lang="en-US" i="1" dirty="0"/>
              </a:p>
              <a:p>
                <a:pPr marL="152396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C01DC5A-8EDE-500A-2E21-B7A96E0376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DD6CC-836C-4162-9A9F-ACAE0122D4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7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0D838-192D-9A26-4C5E-181B96E80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descent: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C01DC5A-8EDE-500A-2E21-B7A96E03764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52396" indent="0">
                  <a:buNone/>
                </a:pPr>
                <a:r>
                  <a:rPr lang="en-US" dirty="0"/>
                  <a:t>For example, in linear regression, the gradient is with respect to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is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 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r>
                  <a:rPr lang="en-US" dirty="0"/>
                  <a:t>Points where the current prediction,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is bigger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contribute a gradient the same sign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E.g.,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is positive, making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bigger will make the prediction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bigger as well, which increases the error. </a:t>
                </a:r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smaller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it’s the opposite. </a:t>
                </a:r>
              </a:p>
              <a:p>
                <a:r>
                  <a:rPr lang="en-US" dirty="0"/>
                  <a:t>These contributions in the positive and negative directions are averaged across data points to determine whether we should make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bigger or smaller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C01DC5A-8EDE-500A-2E21-B7A96E0376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DD6CC-836C-4162-9A9F-ACAE0122D4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27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0D838-192D-9A26-4C5E-181B96E80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descent: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C01DC5A-8EDE-500A-2E21-B7A96E03764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52396" indent="0">
                  <a:buNone/>
                </a:pPr>
                <a:r>
                  <a:rPr lang="en-US" dirty="0"/>
                  <a:t>For 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solves the problem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by iterating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is called the </a:t>
                </a:r>
                <a:r>
                  <a:rPr lang="en-US" i="1" dirty="0"/>
                  <a:t>learning rate</a:t>
                </a:r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Provably converges to the minimizer for convex functions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is small enough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For functions with multiple local optima, converges to one of them 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(Notebook illustration: </a:t>
                </a:r>
                <a:r>
                  <a:rPr lang="en-US" dirty="0">
                    <a:hlinkClick r:id="rId2"/>
                  </a:rPr>
                  <a:t>https://colab.research.google.com/drive/1Rn5TbWOO-Oc9PLwE_MigG6M_dQPTWQUu?usp=sharing</a:t>
                </a:r>
                <a:r>
                  <a:rPr lang="en-US" dirty="0"/>
                  <a:t>)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C01DC5A-8EDE-500A-2E21-B7A96E0376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DD6CC-836C-4162-9A9F-ACAE0122D4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19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8D346-5AD1-AC36-2120-4D6F8008F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Algorithmic properties of 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6D6E52B-E377-8673-AE27-55FEE8F8940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52396" indent="0">
                  <a:buNone/>
                </a:pPr>
                <a:r>
                  <a:rPr lang="en-US" dirty="0"/>
                  <a:t>For the loss function</a:t>
                </a:r>
              </a:p>
              <a:p>
                <a:pPr marL="1523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 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what is the runtime of this algorithm?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Depends on </a:t>
                </a:r>
              </a:p>
              <a:p>
                <a:pPr marL="152396" indent="0">
                  <a:buNone/>
                </a:pPr>
                <a:r>
                  <a:rPr lang="en-US" dirty="0"/>
                  <a:t>(1) how many iterations we need to run gradient descent for </a:t>
                </a:r>
              </a:p>
              <a:p>
                <a:pPr marL="152396" indent="0">
                  <a:buNone/>
                </a:pPr>
                <a:r>
                  <a:rPr lang="en-US" dirty="0"/>
                  <a:t>(2) The cost per iteration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6D6E52B-E377-8673-AE27-55FEE8F894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658BC-1088-D8E4-E406-D54B236BD3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741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8D346-5AD1-AC36-2120-4D6F8008F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per iteration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6D6E52B-E377-8673-AE27-55FEE8F8940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523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 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Requires computing first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and then updating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The update takes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What about gradient computation? </a:t>
                </a:r>
              </a:p>
              <a:p>
                <a:pPr marL="152396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6D6E52B-E377-8673-AE27-55FEE8F894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2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658BC-1088-D8E4-E406-D54B236BD3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59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8D346-5AD1-AC36-2120-4D6F8008F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per iteration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6D6E52B-E377-8673-AE27-55FEE8F8940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523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 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Requires computing first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and then updating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The update takes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What about gradient computation? 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 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dirty="0"/>
                  <a:t> cost to differentiate loss at a single example</a:t>
                </a:r>
              </a:p>
              <a:p>
                <a:pPr marL="152396" indent="0">
                  <a:buNone/>
                </a:pPr>
                <a:r>
                  <a:rPr lang="en-US" dirty="0"/>
                  <a:t>Typically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6D6E52B-E377-8673-AE27-55FEE8F894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21667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658BC-1088-D8E4-E406-D54B236BD3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351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3335B-69A6-2739-96B9-28C387E94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per iteration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1A23BEB-0F23-EE58-FB8E-FF0607B9B42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52396" indent="0">
                  <a:buNone/>
                </a:pPr>
                <a:r>
                  <a:rPr lang="en-US" dirty="0"/>
                  <a:t>What can we do to bring down the cost per iteration?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Doing work proportional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seems unavoidable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But what about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? 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1A23BEB-0F23-EE58-FB8E-FF0607B9B4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9B77E-AEDF-C883-7B8F-420FB5D86F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268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3335B-69A6-2739-96B9-28C387E94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Stochastic 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1A23BEB-0F23-EE58-FB8E-FF0607B9B42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Main idea: can view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dirty="0"/>
                  <a:t> as an expectation over a particular distribution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We can approximate expectations by samples – even a single sample is unbiased!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1A23BEB-0F23-EE58-FB8E-FF0607B9B4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9B77E-AEDF-C883-7B8F-420FB5D86F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710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3335B-69A6-2739-96B9-28C387E94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Stochastic 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1A23BEB-0F23-EE58-FB8E-FF0607B9B42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Main idea: can view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dirty="0"/>
                  <a:t> as an expectation over a particular distribution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We can approximate expectations by samples – even a single sample is unbiased!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For intuition: consider a set of numbers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{−5, 3, 2, 10}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The average of the numbers in the set is 2.5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What is the expected value of a uniformly random draw from the set? Also 2.5!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1A23BEB-0F23-EE58-FB8E-FF0607B9B4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9B77E-AEDF-C883-7B8F-420FB5D86F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259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3335B-69A6-2739-96B9-28C387E94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Stochastic 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1A23BEB-0F23-EE58-FB8E-FF0607B9B42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Main idea: can view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dirty="0"/>
                  <a:t> as an expectation over a particular distribution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We can approximate expectations by samples – even a single sample is unbiased!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Approximate gradients obtained by sampling a batch at random: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b="0" dirty="0"/>
                  <a:t>Batch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/>
                  <a:t>uniformly random sample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x,y</a:t>
                </a:r>
                <a:r>
                  <a:rPr lang="en-US" dirty="0"/>
                  <a:t>) pairs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Approximate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𝐵𝑎𝑡𝑐h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1A23BEB-0F23-EE58-FB8E-FF0607B9B4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2500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9B77E-AEDF-C883-7B8F-420FB5D86F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697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3335B-69A6-2739-96B9-28C387E94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Stochastic 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1A23BEB-0F23-EE58-FB8E-FF0607B9B42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Always have that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</m:acc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(unbiased)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Therefore,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∇</m:t>
                                    </m:r>
                                  </m:e>
                                </m:acc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  <m: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Can be shown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Bigger batch: lower variance, better approximate gradients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But, runtime scales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1A23BEB-0F23-EE58-FB8E-FF0607B9B4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9B77E-AEDF-C883-7B8F-420FB5D86F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109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AF4CE-1D0D-A9DF-513E-33A883B8B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iterations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66D48-3798-D54B-946D-56E798AF5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n-US" dirty="0"/>
              <a:t>What can we do to make the number of iterations better?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Where does gradient descent sometimes waste effort?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(Notebook)</a:t>
            </a:r>
          </a:p>
          <a:p>
            <a:pPr marL="152396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097E5-A86A-9685-AF5E-AE68801E0D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710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878B0-2615-BD0C-F77A-674D9AABE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cases for gradient descent: Local minima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AC894-1729-306A-148C-2EAF75C523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18</a:t>
            </a:fld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CB1895EE-CDC6-A384-306F-8E47E4F25D8C}"/>
              </a:ext>
            </a:extLst>
          </p:cNvPr>
          <p:cNvSpPr/>
          <p:nvPr/>
        </p:nvSpPr>
        <p:spPr>
          <a:xfrm>
            <a:off x="2660228" y="1765192"/>
            <a:ext cx="7315200" cy="4382781"/>
          </a:xfrm>
          <a:custGeom>
            <a:avLst/>
            <a:gdLst>
              <a:gd name="connsiteX0" fmla="*/ 0 w 3342807"/>
              <a:gd name="connsiteY0" fmla="*/ 1470286 h 2632964"/>
              <a:gd name="connsiteX1" fmla="*/ 689548 w 3342807"/>
              <a:gd name="connsiteY1" fmla="*/ 510916 h 2632964"/>
              <a:gd name="connsiteX2" fmla="*/ 1394086 w 3342807"/>
              <a:gd name="connsiteY2" fmla="*/ 2234785 h 2632964"/>
              <a:gd name="connsiteX3" fmla="*/ 1708879 w 3342807"/>
              <a:gd name="connsiteY3" fmla="*/ 16240 h 2632964"/>
              <a:gd name="connsiteX4" fmla="*/ 1918741 w 3342807"/>
              <a:gd name="connsiteY4" fmla="*/ 1185473 h 2632964"/>
              <a:gd name="connsiteX5" fmla="*/ 2173574 w 3342807"/>
              <a:gd name="connsiteY5" fmla="*/ 316044 h 2632964"/>
              <a:gd name="connsiteX6" fmla="*/ 2698230 w 3342807"/>
              <a:gd name="connsiteY6" fmla="*/ 2624529 h 2632964"/>
              <a:gd name="connsiteX7" fmla="*/ 3342807 w 3342807"/>
              <a:gd name="connsiteY7" fmla="*/ 945630 h 2632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42807" h="2632964">
                <a:moveTo>
                  <a:pt x="0" y="1470286"/>
                </a:moveTo>
                <a:cubicBezTo>
                  <a:pt x="228600" y="926893"/>
                  <a:pt x="457200" y="383500"/>
                  <a:pt x="689548" y="510916"/>
                </a:cubicBezTo>
                <a:cubicBezTo>
                  <a:pt x="921896" y="638332"/>
                  <a:pt x="1224198" y="2317231"/>
                  <a:pt x="1394086" y="2234785"/>
                </a:cubicBezTo>
                <a:cubicBezTo>
                  <a:pt x="1563974" y="2152339"/>
                  <a:pt x="1621437" y="191125"/>
                  <a:pt x="1708879" y="16240"/>
                </a:cubicBezTo>
                <a:cubicBezTo>
                  <a:pt x="1796322" y="-158645"/>
                  <a:pt x="1841292" y="1135506"/>
                  <a:pt x="1918741" y="1185473"/>
                </a:cubicBezTo>
                <a:cubicBezTo>
                  <a:pt x="1996190" y="1235440"/>
                  <a:pt x="2043659" y="76201"/>
                  <a:pt x="2173574" y="316044"/>
                </a:cubicBezTo>
                <a:cubicBezTo>
                  <a:pt x="2303489" y="555887"/>
                  <a:pt x="2503358" y="2519598"/>
                  <a:pt x="2698230" y="2624529"/>
                </a:cubicBezTo>
                <a:cubicBezTo>
                  <a:pt x="2893102" y="2729460"/>
                  <a:pt x="3117954" y="1837545"/>
                  <a:pt x="3342807" y="945630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48CF8-18D0-3894-BB98-4855A5168E49}"/>
              </a:ext>
            </a:extLst>
          </p:cNvPr>
          <p:cNvSpPr txBox="1"/>
          <p:nvPr/>
        </p:nvSpPr>
        <p:spPr>
          <a:xfrm>
            <a:off x="6423378" y="3793067"/>
            <a:ext cx="1049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Local minimum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67BA81-F16D-8348-547A-9264D43E9F89}"/>
              </a:ext>
            </a:extLst>
          </p:cNvPr>
          <p:cNvSpPr txBox="1"/>
          <p:nvPr/>
        </p:nvSpPr>
        <p:spPr>
          <a:xfrm>
            <a:off x="5373512" y="5492045"/>
            <a:ext cx="1049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Local minimum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3BC514-E748-C99F-6ECA-1775039D5B3D}"/>
              </a:ext>
            </a:extLst>
          </p:cNvPr>
          <p:cNvSpPr txBox="1"/>
          <p:nvPr/>
        </p:nvSpPr>
        <p:spPr>
          <a:xfrm>
            <a:off x="8291689" y="6219203"/>
            <a:ext cx="1049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Global minimum </a:t>
            </a:r>
          </a:p>
        </p:txBody>
      </p:sp>
    </p:spTree>
    <p:extLst>
      <p:ext uri="{BB962C8B-B14F-4D97-AF65-F5344CB8AC3E}">
        <p14:creationId xmlns:p14="http://schemas.microsoft.com/office/powerpoint/2010/main" val="4177871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878B0-2615-BD0C-F77A-674D9AABE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cases for gradient descent: saddle points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AC894-1729-306A-148C-2EAF75C523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19</a:t>
            </a:fld>
            <a:endParaRPr lang="en-US"/>
          </a:p>
        </p:txBody>
      </p:sp>
      <p:pic>
        <p:nvPicPr>
          <p:cNvPr id="2052" name="Picture 4" descr="undefined">
            <a:extLst>
              <a:ext uri="{FF2B5EF4-FFF2-40B4-BE49-F238E27FC236}">
                <a16:creationId xmlns:a16="http://schemas.microsoft.com/office/drawing/2014/main" id="{CD7A2991-9C8F-56FF-1618-29347E84B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470" y="1268245"/>
            <a:ext cx="6424612" cy="501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688042-B23F-D210-5233-2150CF58047E}"/>
              </a:ext>
            </a:extLst>
          </p:cNvPr>
          <p:cNvSpPr txBox="1"/>
          <p:nvPr/>
        </p:nvSpPr>
        <p:spPr>
          <a:xfrm>
            <a:off x="2761776" y="6326134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https://</a:t>
            </a:r>
            <a:r>
              <a:rPr lang="en-US" sz="1050" dirty="0" err="1"/>
              <a:t>en.wikipedia.org</a:t>
            </a:r>
            <a:r>
              <a:rPr lang="en-US" sz="1050" dirty="0"/>
              <a:t>/wiki/</a:t>
            </a:r>
            <a:r>
              <a:rPr lang="en-US" sz="1050" dirty="0" err="1"/>
              <a:t>Saddle_point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840152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4903B-7F50-30BE-C3FB-638EC45B5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Momentum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814F723-29D4-2562-0245-936D2A7420A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52396" indent="0">
                  <a:buNone/>
                </a:pPr>
                <a:r>
                  <a:rPr lang="en-US" dirty="0"/>
                  <a:t>Idea: building in momentum from previous steps helps reduce oscillation caused by sudden changes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Introduce a new quantity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and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dirty="0"/>
                  <a:t>Update as 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And change the main update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814F723-29D4-2562-0245-936D2A7420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FBC77-415D-6530-632A-FD989413FE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6858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86035-2AA8-9AD2-DB9B-DBE92A373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77403-2C75-25E6-CC52-FFC69F1E0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D0971-0914-0F9A-5417-CF05F5E0DC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21</a:t>
            </a:fld>
            <a:endParaRPr lang="en-US"/>
          </a:p>
        </p:txBody>
      </p:sp>
      <p:pic>
        <p:nvPicPr>
          <p:cNvPr id="1026" name="Picture 2" descr="vanilla_gd">
            <a:extLst>
              <a:ext uri="{FF2B5EF4-FFF2-40B4-BE49-F238E27FC236}">
                <a16:creationId xmlns:a16="http://schemas.microsoft.com/office/drawing/2014/main" id="{9BE0952D-05D4-8573-30C4-224FE28124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968"/>
          <a:stretch/>
        </p:blipFill>
        <p:spPr bwMode="auto">
          <a:xfrm>
            <a:off x="822357" y="1397022"/>
            <a:ext cx="9290428" cy="3287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50B861-6414-3049-2572-D07AF372CE18}"/>
              </a:ext>
            </a:extLst>
          </p:cNvPr>
          <p:cNvSpPr txBox="1"/>
          <p:nvPr/>
        </p:nvSpPr>
        <p:spPr>
          <a:xfrm>
            <a:off x="1806222" y="523447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Image source: https://</a:t>
            </a:r>
            <a:r>
              <a:rPr lang="en-US" sz="1200" dirty="0" err="1"/>
              <a:t>www.scaler.com</a:t>
            </a:r>
            <a:r>
              <a:rPr lang="en-US" sz="1200" dirty="0"/>
              <a:t>/topics/momentum-based-gradient-descent/</a:t>
            </a:r>
          </a:p>
        </p:txBody>
      </p:sp>
    </p:spTree>
    <p:extLst>
      <p:ext uri="{BB962C8B-B14F-4D97-AF65-F5344CB8AC3E}">
        <p14:creationId xmlns:p14="http://schemas.microsoft.com/office/powerpoint/2010/main" val="7968182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1850BC5-070A-8440-3DCB-EB8C98987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10582771" cy="646112"/>
          </a:xfrm>
        </p:spPr>
        <p:txBody>
          <a:bodyPr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dirty="0">
                <a:solidFill>
                  <a:schemeClr val="bg1"/>
                </a:solidFill>
              </a:rPr>
              <a:t>Recall: </a:t>
            </a:r>
            <a:r>
              <a:rPr lang="en-US" dirty="0"/>
              <a:t>Stochastic Gradient Descent w/ Momentum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EBCE2C1-3C46-0F3A-8D45-E48FD4E7EF3A}"/>
              </a:ext>
            </a:extLst>
          </p:cNvPr>
          <p:cNvSpPr/>
          <p:nvPr/>
        </p:nvSpPr>
        <p:spPr>
          <a:xfrm>
            <a:off x="6536648" y="1841970"/>
            <a:ext cx="149901" cy="149902"/>
          </a:xfrm>
          <a:prstGeom prst="ellipse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17FB5D4-7D63-F4A2-7471-87328337C3D7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611599" y="1991872"/>
            <a:ext cx="123616" cy="810170"/>
          </a:xfrm>
          <a:prstGeom prst="straightConnector1">
            <a:avLst/>
          </a:prstGeom>
          <a:ln w="22225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>
            <a:extLst>
              <a:ext uri="{FF2B5EF4-FFF2-40B4-BE49-F238E27FC236}">
                <a16:creationId xmlns:a16="http://schemas.microsoft.com/office/drawing/2014/main" id="{9BC78D3D-0FC0-E71F-F91E-838F7389D7C9}"/>
              </a:ext>
            </a:extLst>
          </p:cNvPr>
          <p:cNvSpPr/>
          <p:nvPr/>
        </p:nvSpPr>
        <p:spPr>
          <a:xfrm>
            <a:off x="2660228" y="1765192"/>
            <a:ext cx="7315200" cy="4382781"/>
          </a:xfrm>
          <a:custGeom>
            <a:avLst/>
            <a:gdLst>
              <a:gd name="connsiteX0" fmla="*/ 0 w 3342807"/>
              <a:gd name="connsiteY0" fmla="*/ 1470286 h 2632964"/>
              <a:gd name="connsiteX1" fmla="*/ 689548 w 3342807"/>
              <a:gd name="connsiteY1" fmla="*/ 510916 h 2632964"/>
              <a:gd name="connsiteX2" fmla="*/ 1394086 w 3342807"/>
              <a:gd name="connsiteY2" fmla="*/ 2234785 h 2632964"/>
              <a:gd name="connsiteX3" fmla="*/ 1708879 w 3342807"/>
              <a:gd name="connsiteY3" fmla="*/ 16240 h 2632964"/>
              <a:gd name="connsiteX4" fmla="*/ 1918741 w 3342807"/>
              <a:gd name="connsiteY4" fmla="*/ 1185473 h 2632964"/>
              <a:gd name="connsiteX5" fmla="*/ 2173574 w 3342807"/>
              <a:gd name="connsiteY5" fmla="*/ 316044 h 2632964"/>
              <a:gd name="connsiteX6" fmla="*/ 2698230 w 3342807"/>
              <a:gd name="connsiteY6" fmla="*/ 2624529 h 2632964"/>
              <a:gd name="connsiteX7" fmla="*/ 3342807 w 3342807"/>
              <a:gd name="connsiteY7" fmla="*/ 945630 h 2632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42807" h="2632964">
                <a:moveTo>
                  <a:pt x="0" y="1470286"/>
                </a:moveTo>
                <a:cubicBezTo>
                  <a:pt x="228600" y="926893"/>
                  <a:pt x="457200" y="383500"/>
                  <a:pt x="689548" y="510916"/>
                </a:cubicBezTo>
                <a:cubicBezTo>
                  <a:pt x="921896" y="638332"/>
                  <a:pt x="1224198" y="2317231"/>
                  <a:pt x="1394086" y="2234785"/>
                </a:cubicBezTo>
                <a:cubicBezTo>
                  <a:pt x="1563974" y="2152339"/>
                  <a:pt x="1621437" y="191125"/>
                  <a:pt x="1708879" y="16240"/>
                </a:cubicBezTo>
                <a:cubicBezTo>
                  <a:pt x="1796322" y="-158645"/>
                  <a:pt x="1841292" y="1135506"/>
                  <a:pt x="1918741" y="1185473"/>
                </a:cubicBezTo>
                <a:cubicBezTo>
                  <a:pt x="1996190" y="1235440"/>
                  <a:pt x="2043659" y="76201"/>
                  <a:pt x="2173574" y="316044"/>
                </a:cubicBezTo>
                <a:cubicBezTo>
                  <a:pt x="2303489" y="555887"/>
                  <a:pt x="2503358" y="2519598"/>
                  <a:pt x="2698230" y="2624529"/>
                </a:cubicBezTo>
                <a:cubicBezTo>
                  <a:pt x="2893102" y="2729460"/>
                  <a:pt x="3117954" y="1837545"/>
                  <a:pt x="3342807" y="945630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23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1850BC5-070A-8440-3DCB-EB8C98987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10582771" cy="646112"/>
          </a:xfrm>
        </p:spPr>
        <p:txBody>
          <a:bodyPr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dirty="0">
                <a:solidFill>
                  <a:schemeClr val="bg1"/>
                </a:solidFill>
              </a:rPr>
              <a:t>Recall: </a:t>
            </a:r>
            <a:r>
              <a:rPr lang="en-US" dirty="0"/>
              <a:t>Stochastic Gradient Descent w/ Momentum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755B525-A0FA-3F44-2D8F-5F3A50244AA7}"/>
              </a:ext>
            </a:extLst>
          </p:cNvPr>
          <p:cNvSpPr/>
          <p:nvPr/>
        </p:nvSpPr>
        <p:spPr>
          <a:xfrm>
            <a:off x="6536648" y="1841970"/>
            <a:ext cx="149901" cy="149902"/>
          </a:xfrm>
          <a:prstGeom prst="ellipse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B9ED32-94AF-EAF2-2D76-6FA0A5DBB8C5}"/>
              </a:ext>
            </a:extLst>
          </p:cNvPr>
          <p:cNvCxnSpPr>
            <a:cxnSpLocks/>
            <a:stCxn id="12" idx="4"/>
          </p:cNvCxnSpPr>
          <p:nvPr/>
        </p:nvCxnSpPr>
        <p:spPr>
          <a:xfrm>
            <a:off x="6611599" y="1991872"/>
            <a:ext cx="123616" cy="810170"/>
          </a:xfrm>
          <a:prstGeom prst="straightConnector1">
            <a:avLst/>
          </a:prstGeom>
          <a:ln w="22225">
            <a:solidFill>
              <a:schemeClr val="tx1"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 14">
            <a:extLst>
              <a:ext uri="{FF2B5EF4-FFF2-40B4-BE49-F238E27FC236}">
                <a16:creationId xmlns:a16="http://schemas.microsoft.com/office/drawing/2014/main" id="{449C2AA6-35B5-2B1A-53CC-DE1E6FA2BDC1}"/>
              </a:ext>
            </a:extLst>
          </p:cNvPr>
          <p:cNvSpPr/>
          <p:nvPr/>
        </p:nvSpPr>
        <p:spPr>
          <a:xfrm>
            <a:off x="2660228" y="1765192"/>
            <a:ext cx="7315200" cy="4382781"/>
          </a:xfrm>
          <a:custGeom>
            <a:avLst/>
            <a:gdLst>
              <a:gd name="connsiteX0" fmla="*/ 0 w 3342807"/>
              <a:gd name="connsiteY0" fmla="*/ 1470286 h 2632964"/>
              <a:gd name="connsiteX1" fmla="*/ 689548 w 3342807"/>
              <a:gd name="connsiteY1" fmla="*/ 510916 h 2632964"/>
              <a:gd name="connsiteX2" fmla="*/ 1394086 w 3342807"/>
              <a:gd name="connsiteY2" fmla="*/ 2234785 h 2632964"/>
              <a:gd name="connsiteX3" fmla="*/ 1708879 w 3342807"/>
              <a:gd name="connsiteY3" fmla="*/ 16240 h 2632964"/>
              <a:gd name="connsiteX4" fmla="*/ 1918741 w 3342807"/>
              <a:gd name="connsiteY4" fmla="*/ 1185473 h 2632964"/>
              <a:gd name="connsiteX5" fmla="*/ 2173574 w 3342807"/>
              <a:gd name="connsiteY5" fmla="*/ 316044 h 2632964"/>
              <a:gd name="connsiteX6" fmla="*/ 2698230 w 3342807"/>
              <a:gd name="connsiteY6" fmla="*/ 2624529 h 2632964"/>
              <a:gd name="connsiteX7" fmla="*/ 3342807 w 3342807"/>
              <a:gd name="connsiteY7" fmla="*/ 945630 h 2632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42807" h="2632964">
                <a:moveTo>
                  <a:pt x="0" y="1470286"/>
                </a:moveTo>
                <a:cubicBezTo>
                  <a:pt x="228600" y="926893"/>
                  <a:pt x="457200" y="383500"/>
                  <a:pt x="689548" y="510916"/>
                </a:cubicBezTo>
                <a:cubicBezTo>
                  <a:pt x="921896" y="638332"/>
                  <a:pt x="1224198" y="2317231"/>
                  <a:pt x="1394086" y="2234785"/>
                </a:cubicBezTo>
                <a:cubicBezTo>
                  <a:pt x="1563974" y="2152339"/>
                  <a:pt x="1621437" y="191125"/>
                  <a:pt x="1708879" y="16240"/>
                </a:cubicBezTo>
                <a:cubicBezTo>
                  <a:pt x="1796322" y="-158645"/>
                  <a:pt x="1841292" y="1135506"/>
                  <a:pt x="1918741" y="1185473"/>
                </a:cubicBezTo>
                <a:cubicBezTo>
                  <a:pt x="1996190" y="1235440"/>
                  <a:pt x="2043659" y="76201"/>
                  <a:pt x="2173574" y="316044"/>
                </a:cubicBezTo>
                <a:cubicBezTo>
                  <a:pt x="2303489" y="555887"/>
                  <a:pt x="2503358" y="2519598"/>
                  <a:pt x="2698230" y="2624529"/>
                </a:cubicBezTo>
                <a:cubicBezTo>
                  <a:pt x="2893102" y="2729460"/>
                  <a:pt x="3117954" y="1837545"/>
                  <a:pt x="3342807" y="945630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39E1D06-BC38-3CBB-A33F-00F69F394ECC}"/>
              </a:ext>
            </a:extLst>
          </p:cNvPr>
          <p:cNvSpPr/>
          <p:nvPr/>
        </p:nvSpPr>
        <p:spPr>
          <a:xfrm>
            <a:off x="7019788" y="2435358"/>
            <a:ext cx="149901" cy="149902"/>
          </a:xfrm>
          <a:prstGeom prst="ellipse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6A35096-4CC4-6D21-3558-90FB426CBE75}"/>
              </a:ext>
            </a:extLst>
          </p:cNvPr>
          <p:cNvCxnSpPr>
            <a:cxnSpLocks/>
            <a:stCxn id="16" idx="7"/>
          </p:cNvCxnSpPr>
          <p:nvPr/>
        </p:nvCxnSpPr>
        <p:spPr>
          <a:xfrm flipV="1">
            <a:off x="7147737" y="2201216"/>
            <a:ext cx="114870" cy="256095"/>
          </a:xfrm>
          <a:prstGeom prst="straightConnector1">
            <a:avLst/>
          </a:prstGeom>
          <a:ln w="22225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234380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1850BC5-070A-8440-3DCB-EB8C98987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10582771" cy="646112"/>
          </a:xfrm>
        </p:spPr>
        <p:txBody>
          <a:bodyPr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dirty="0">
                <a:solidFill>
                  <a:schemeClr val="bg1"/>
                </a:solidFill>
              </a:rPr>
              <a:t>Recall: </a:t>
            </a:r>
            <a:r>
              <a:rPr lang="en-US" dirty="0"/>
              <a:t>Stochastic Gradient Descent w/ Momentum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E7ABA5D-488E-57A4-5BFB-EE9D13FA5270}"/>
              </a:ext>
            </a:extLst>
          </p:cNvPr>
          <p:cNvSpPr/>
          <p:nvPr/>
        </p:nvSpPr>
        <p:spPr>
          <a:xfrm>
            <a:off x="6536648" y="1849818"/>
            <a:ext cx="149901" cy="149902"/>
          </a:xfrm>
          <a:prstGeom prst="ellipse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42164B3-935B-9F26-B562-51D7C759CBD5}"/>
              </a:ext>
            </a:extLst>
          </p:cNvPr>
          <p:cNvCxnSpPr>
            <a:cxnSpLocks/>
            <a:stCxn id="11" idx="4"/>
          </p:cNvCxnSpPr>
          <p:nvPr/>
        </p:nvCxnSpPr>
        <p:spPr>
          <a:xfrm>
            <a:off x="6611599" y="1999720"/>
            <a:ext cx="123616" cy="810170"/>
          </a:xfrm>
          <a:prstGeom prst="straightConnector1">
            <a:avLst/>
          </a:prstGeom>
          <a:ln w="22225">
            <a:solidFill>
              <a:schemeClr val="tx1"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 19">
            <a:extLst>
              <a:ext uri="{FF2B5EF4-FFF2-40B4-BE49-F238E27FC236}">
                <a16:creationId xmlns:a16="http://schemas.microsoft.com/office/drawing/2014/main" id="{870341F8-66CB-18B2-47BC-A4D571F8720E}"/>
              </a:ext>
            </a:extLst>
          </p:cNvPr>
          <p:cNvSpPr/>
          <p:nvPr/>
        </p:nvSpPr>
        <p:spPr>
          <a:xfrm>
            <a:off x="2660228" y="1773040"/>
            <a:ext cx="7315200" cy="4382781"/>
          </a:xfrm>
          <a:custGeom>
            <a:avLst/>
            <a:gdLst>
              <a:gd name="connsiteX0" fmla="*/ 0 w 3342807"/>
              <a:gd name="connsiteY0" fmla="*/ 1470286 h 2632964"/>
              <a:gd name="connsiteX1" fmla="*/ 689548 w 3342807"/>
              <a:gd name="connsiteY1" fmla="*/ 510916 h 2632964"/>
              <a:gd name="connsiteX2" fmla="*/ 1394086 w 3342807"/>
              <a:gd name="connsiteY2" fmla="*/ 2234785 h 2632964"/>
              <a:gd name="connsiteX3" fmla="*/ 1708879 w 3342807"/>
              <a:gd name="connsiteY3" fmla="*/ 16240 h 2632964"/>
              <a:gd name="connsiteX4" fmla="*/ 1918741 w 3342807"/>
              <a:gd name="connsiteY4" fmla="*/ 1185473 h 2632964"/>
              <a:gd name="connsiteX5" fmla="*/ 2173574 w 3342807"/>
              <a:gd name="connsiteY5" fmla="*/ 316044 h 2632964"/>
              <a:gd name="connsiteX6" fmla="*/ 2698230 w 3342807"/>
              <a:gd name="connsiteY6" fmla="*/ 2624529 h 2632964"/>
              <a:gd name="connsiteX7" fmla="*/ 3342807 w 3342807"/>
              <a:gd name="connsiteY7" fmla="*/ 945630 h 2632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42807" h="2632964">
                <a:moveTo>
                  <a:pt x="0" y="1470286"/>
                </a:moveTo>
                <a:cubicBezTo>
                  <a:pt x="228600" y="926893"/>
                  <a:pt x="457200" y="383500"/>
                  <a:pt x="689548" y="510916"/>
                </a:cubicBezTo>
                <a:cubicBezTo>
                  <a:pt x="921896" y="638332"/>
                  <a:pt x="1224198" y="2317231"/>
                  <a:pt x="1394086" y="2234785"/>
                </a:cubicBezTo>
                <a:cubicBezTo>
                  <a:pt x="1563974" y="2152339"/>
                  <a:pt x="1621437" y="191125"/>
                  <a:pt x="1708879" y="16240"/>
                </a:cubicBezTo>
                <a:cubicBezTo>
                  <a:pt x="1796322" y="-158645"/>
                  <a:pt x="1841292" y="1135506"/>
                  <a:pt x="1918741" y="1185473"/>
                </a:cubicBezTo>
                <a:cubicBezTo>
                  <a:pt x="1996190" y="1235440"/>
                  <a:pt x="2043659" y="76201"/>
                  <a:pt x="2173574" y="316044"/>
                </a:cubicBezTo>
                <a:cubicBezTo>
                  <a:pt x="2303489" y="555887"/>
                  <a:pt x="2503358" y="2519598"/>
                  <a:pt x="2698230" y="2624529"/>
                </a:cubicBezTo>
                <a:cubicBezTo>
                  <a:pt x="2893102" y="2729460"/>
                  <a:pt x="3117954" y="1837545"/>
                  <a:pt x="3342807" y="945630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D6C0D70-D214-CE13-67E3-E0B1999006EA}"/>
              </a:ext>
            </a:extLst>
          </p:cNvPr>
          <p:cNvSpPr/>
          <p:nvPr/>
        </p:nvSpPr>
        <p:spPr>
          <a:xfrm>
            <a:off x="7507260" y="2329400"/>
            <a:ext cx="149901" cy="149902"/>
          </a:xfrm>
          <a:prstGeom prst="ellipse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7A9EE3E-7556-6046-C9D9-52A5D4527B47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7582211" y="2479302"/>
            <a:ext cx="256345" cy="1040026"/>
          </a:xfrm>
          <a:prstGeom prst="straightConnector1">
            <a:avLst/>
          </a:prstGeom>
          <a:ln w="22225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F15A2AB2-5F46-C800-3543-8491F52D7F20}"/>
              </a:ext>
            </a:extLst>
          </p:cNvPr>
          <p:cNvSpPr/>
          <p:nvPr/>
        </p:nvSpPr>
        <p:spPr>
          <a:xfrm>
            <a:off x="7019788" y="2443206"/>
            <a:ext cx="149901" cy="149902"/>
          </a:xfrm>
          <a:prstGeom prst="ellipse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AC47584-2109-2601-8374-58D734A67700}"/>
              </a:ext>
            </a:extLst>
          </p:cNvPr>
          <p:cNvCxnSpPr>
            <a:cxnSpLocks/>
            <a:stCxn id="23" idx="7"/>
          </p:cNvCxnSpPr>
          <p:nvPr/>
        </p:nvCxnSpPr>
        <p:spPr>
          <a:xfrm flipV="1">
            <a:off x="7147737" y="2209064"/>
            <a:ext cx="114870" cy="256095"/>
          </a:xfrm>
          <a:prstGeom prst="straightConnector1">
            <a:avLst/>
          </a:prstGeom>
          <a:ln w="22225">
            <a:solidFill>
              <a:schemeClr val="tx1"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970756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3EF8099-9B7B-FCCB-8BE9-F16D39E21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Adaptive learning rates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403F7-2FD8-A581-3E83-A314B537CE7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Oftentimes, different parameters are “differently scaled”, making it hard to use a single learning rate/step size across all of them</a:t>
            </a:r>
          </a:p>
          <a:p>
            <a:endParaRPr lang="en-US" dirty="0"/>
          </a:p>
          <a:p>
            <a:r>
              <a:rPr lang="en-US" dirty="0"/>
              <a:t>We’d like to move fast in parameters with gentle but consistent gradients. When gradients are large and rapidly changing, move more slowly</a:t>
            </a:r>
          </a:p>
          <a:p>
            <a:endParaRPr lang="en-US" dirty="0"/>
          </a:p>
          <a:p>
            <a:r>
              <a:rPr lang="en-US" dirty="0"/>
              <a:t>Modern neural networks are usually trained with adaptive learning rate methods which change the learning rate for each parameter individually based on how large the gradients are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8E7CF6-9AF6-4589-2F14-AF5D14C6F9D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1754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96;p7">
                <a:extLst>
                  <a:ext uri="{FF2B5EF4-FFF2-40B4-BE49-F238E27FC236}">
                    <a16:creationId xmlns:a16="http://schemas.microsoft.com/office/drawing/2014/main" id="{C6805551-7DD8-5B0E-01EE-B17CA1C8F783}"/>
                  </a:ext>
                </a:extLst>
              </p:cNvPr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1246063" y="1451672"/>
                <a:ext cx="9987994" cy="4449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523875" indent="-52387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Input: training dataset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r>
                  <a:rPr lang="en-US" dirty="0"/>
                  <a:t>, step size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, decay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/>
              </a:p>
              <a:p>
                <a:pPr marL="514350" indent="-514350">
                  <a:lnSpc>
                    <a:spcPct val="130000"/>
                  </a:lnSpc>
                  <a:buFont typeface="+mj-lt"/>
                  <a:buAutoNum type="arabicPeriod"/>
                </a:pPr>
                <a:r>
                  <a:rPr lang="en-US" dirty="0"/>
                  <a:t>Initialize</a:t>
                </a:r>
                <a:r>
                  <a:rPr lang="en-US" i="1" dirty="0"/>
                  <a:t> </a:t>
                </a:r>
                <a:r>
                  <a:rPr lang="en-US" dirty="0"/>
                  <a:t>the parameters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dirty="0"/>
                  <a:t> and set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i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⊙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endParaRPr lang="en-US" i="1" dirty="0"/>
              </a:p>
              <a:p>
                <a:pPr marL="514350" indent="-514350">
                  <a:lnSpc>
                    <a:spcPct val="130000"/>
                  </a:lnSpc>
                  <a:buFont typeface="+mj-lt"/>
                  <a:buAutoNum type="arabicPeriod"/>
                </a:pPr>
                <a:r>
                  <a:rPr lang="en-US" dirty="0"/>
                  <a:t>While TERMINATION CRITERION is not satisfied</a:t>
                </a:r>
              </a:p>
              <a:p>
                <a:pPr marL="960120" lvl="1" indent="-457200">
                  <a:lnSpc>
                    <a:spcPct val="130000"/>
                  </a:lnSpc>
                  <a:buFont typeface="+mj-lt"/>
                  <a:buAutoNum type="alphaLcPeriod"/>
                </a:pPr>
                <a:r>
                  <a:rPr lang="en-US" dirty="0"/>
                  <a:t>Randomly sample a data point/batch from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</m:oMath>
                </a14:m>
                <a:endParaRPr lang="en-US" dirty="0"/>
              </a:p>
              <a:p>
                <a:pPr marL="960120" lvl="1" indent="-457200">
                  <a:lnSpc>
                    <a:spcPct val="130000"/>
                  </a:lnSpc>
                  <a:buFont typeface="+mj-lt"/>
                  <a:buAutoNum type="alphaLcPeriod"/>
                </a:pPr>
                <a:r>
                  <a:rPr lang="en-US" dirty="0"/>
                  <a:t>Compute the gradient of the loss with respect to the sampled point/batch</a:t>
                </a:r>
              </a:p>
              <a:p>
                <a:pPr marL="165100" lvl="1" indent="-16510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dirty="0"/>
              </a:p>
              <a:p>
                <a:pPr marL="960120" lvl="1" indent="-457200">
                  <a:lnSpc>
                    <a:spcPct val="80000"/>
                  </a:lnSpc>
                  <a:buFont typeface="+mj-lt"/>
                  <a:buAutoNum type="alphaLcPeriod" startAt="3"/>
                </a:pPr>
                <a:r>
                  <a:rPr lang="en-US" sz="2000" dirty="0"/>
                  <a:t>Update the </a:t>
                </a:r>
                <a:r>
                  <a:rPr lang="en-US" sz="2000" i="1" dirty="0"/>
                  <a:t>scaling factor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d>
                          <m:d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⊙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marL="960120" lvl="1" indent="-457200">
                  <a:lnSpc>
                    <a:spcPct val="80000"/>
                  </a:lnSpc>
                  <a:buFont typeface="+mj-lt"/>
                  <a:buAutoNum type="alphaLcPeriod" startAt="3"/>
                </a:pPr>
                <a:r>
                  <a:rPr lang="en-US" dirty="0"/>
                  <a:t>Update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⊙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marL="960120" lvl="1" indent="-457200">
                  <a:lnSpc>
                    <a:spcPct val="80000"/>
                  </a:lnSpc>
                  <a:buFont typeface="+mj-lt"/>
                  <a:buAutoNum type="alphaLcPeriod" startAt="3"/>
                </a:pPr>
                <a:r>
                  <a:rPr lang="en-US" dirty="0"/>
                  <a:t>Increment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: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" name="Google Shape;96;p7">
                <a:extLst>
                  <a:ext uri="{FF2B5EF4-FFF2-40B4-BE49-F238E27FC236}">
                    <a16:creationId xmlns:a16="http://schemas.microsoft.com/office/drawing/2014/main" id="{C6805551-7DD8-5B0E-01EE-B17CA1C8F783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451672"/>
                <a:ext cx="9987994" cy="4449802"/>
              </a:xfrm>
              <a:prstGeom prst="rect">
                <a:avLst/>
              </a:prstGeom>
              <a:blipFill>
                <a:blip r:embed="rId3"/>
                <a:stretch>
                  <a:fillRect l="-1269" b="-940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1850BC5-070A-8440-3DCB-EB8C98987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10582771" cy="646112"/>
          </a:xfrm>
        </p:spPr>
        <p:txBody>
          <a:bodyPr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dirty="0" err="1">
                <a:solidFill>
                  <a:schemeClr val="tx1"/>
                </a:solidFill>
              </a:rPr>
              <a:t>Adagrad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D826A8-9A71-CFBB-C869-A7154AC503BD}"/>
                  </a:ext>
                </a:extLst>
              </p:cNvPr>
              <p:cNvSpPr txBox="1"/>
              <p:nvPr/>
            </p:nvSpPr>
            <p:spPr>
              <a:xfrm>
                <a:off x="6240060" y="5267017"/>
                <a:ext cx="34995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in denominator: if squared gradients have been large, scale update down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D826A8-9A71-CFBB-C869-A7154AC50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060" y="5267017"/>
                <a:ext cx="3499555" cy="523220"/>
              </a:xfrm>
              <a:prstGeom prst="rect">
                <a:avLst/>
              </a:prstGeom>
              <a:blipFill>
                <a:blip r:embed="rId4"/>
                <a:stretch>
                  <a:fillRect l="-722" t="-2326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94CD96-F3C2-F54E-BD28-80F92F095860}"/>
                  </a:ext>
                </a:extLst>
              </p:cNvPr>
              <p:cNvSpPr txBox="1"/>
              <p:nvPr/>
            </p:nvSpPr>
            <p:spPr>
              <a:xfrm>
                <a:off x="7329438" y="4607367"/>
                <a:ext cx="39046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⊙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= elementwise product between two vectors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94CD96-F3C2-F54E-BD28-80F92F095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438" y="4607367"/>
                <a:ext cx="3904619" cy="307777"/>
              </a:xfrm>
              <a:prstGeom prst="rect">
                <a:avLst/>
              </a:prstGeom>
              <a:blipFill>
                <a:blip r:embed="rId5"/>
                <a:stretch>
                  <a:fillRect t="-400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2908055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96;p7">
                <a:extLst>
                  <a:ext uri="{FF2B5EF4-FFF2-40B4-BE49-F238E27FC236}">
                    <a16:creationId xmlns:a16="http://schemas.microsoft.com/office/drawing/2014/main" id="{C6805551-7DD8-5B0E-01EE-B17CA1C8F783}"/>
                  </a:ext>
                </a:extLst>
              </p:cNvPr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1246063" y="1451672"/>
                <a:ext cx="9933566" cy="4449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523875" indent="-52387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Input: training dataset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r>
                  <a:rPr lang="en-US" dirty="0"/>
                  <a:t>, step size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, decay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/>
              </a:p>
              <a:p>
                <a:pPr marL="514350" indent="-514350">
                  <a:lnSpc>
                    <a:spcPct val="130000"/>
                  </a:lnSpc>
                  <a:buFont typeface="+mj-lt"/>
                  <a:buAutoNum type="arabicPeriod"/>
                </a:pPr>
                <a:r>
                  <a:rPr lang="en-US" dirty="0"/>
                  <a:t>Initialize</a:t>
                </a:r>
                <a:r>
                  <a:rPr lang="en-US" i="1" dirty="0"/>
                  <a:t> </a:t>
                </a:r>
                <a:r>
                  <a:rPr lang="en-US" dirty="0"/>
                  <a:t>the parameters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dirty="0"/>
                  <a:t> and set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i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⊙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endParaRPr lang="en-US" i="1" dirty="0"/>
              </a:p>
              <a:p>
                <a:pPr marL="514350" indent="-514350">
                  <a:lnSpc>
                    <a:spcPct val="130000"/>
                  </a:lnSpc>
                  <a:buFont typeface="+mj-lt"/>
                  <a:buAutoNum type="arabicPeriod"/>
                </a:pPr>
                <a:r>
                  <a:rPr lang="en-US" dirty="0"/>
                  <a:t>While TERMINATION CRITERION is not satisfied</a:t>
                </a:r>
              </a:p>
              <a:p>
                <a:pPr marL="960120" lvl="1" indent="-457200">
                  <a:lnSpc>
                    <a:spcPct val="130000"/>
                  </a:lnSpc>
                  <a:buFont typeface="+mj-lt"/>
                  <a:buAutoNum type="alphaLcPeriod"/>
                </a:pPr>
                <a:r>
                  <a:rPr lang="en-US" dirty="0"/>
                  <a:t>Randomly sample a data point/batch from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</m:oMath>
                </a14:m>
                <a:endParaRPr lang="en-US" dirty="0"/>
              </a:p>
              <a:p>
                <a:pPr marL="960120" lvl="1" indent="-457200">
                  <a:lnSpc>
                    <a:spcPct val="130000"/>
                  </a:lnSpc>
                  <a:buFont typeface="+mj-lt"/>
                  <a:buAutoNum type="alphaLcPeriod"/>
                </a:pPr>
                <a:r>
                  <a:rPr lang="en-US" dirty="0"/>
                  <a:t>Compute the gradient of the loss with respect to the sampled point/batch</a:t>
                </a:r>
              </a:p>
              <a:p>
                <a:pPr marL="165100" lvl="1" indent="-16510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</m:acc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dirty="0"/>
              </a:p>
              <a:p>
                <a:pPr marL="960120" lvl="1" indent="-457200">
                  <a:lnSpc>
                    <a:spcPct val="80000"/>
                  </a:lnSpc>
                  <a:buFont typeface="+mj-lt"/>
                  <a:buAutoNum type="alphaLcPeriod" startAt="3"/>
                </a:pPr>
                <a:r>
                  <a:rPr lang="en-US" sz="2000" dirty="0"/>
                  <a:t>Update the </a:t>
                </a:r>
                <a:r>
                  <a:rPr lang="en-US" sz="2000" i="1" dirty="0"/>
                  <a:t>scaling factor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d>
                      <m:dPr>
                        <m:ctrlP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⊙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960120" lvl="1" indent="-457200">
                  <a:lnSpc>
                    <a:spcPct val="80000"/>
                  </a:lnSpc>
                  <a:buFont typeface="+mj-lt"/>
                  <a:buAutoNum type="alphaLcPeriod" startAt="3"/>
                </a:pPr>
                <a:r>
                  <a:rPr lang="en-US" dirty="0"/>
                  <a:t>Update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⊙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marL="960120" lvl="1" indent="-457200">
                  <a:lnSpc>
                    <a:spcPct val="80000"/>
                  </a:lnSpc>
                  <a:buFont typeface="+mj-lt"/>
                  <a:buAutoNum type="alphaLcPeriod" startAt="3"/>
                </a:pPr>
                <a:r>
                  <a:rPr lang="en-US" dirty="0"/>
                  <a:t>Increment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: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" name="Google Shape;96;p7">
                <a:extLst>
                  <a:ext uri="{FF2B5EF4-FFF2-40B4-BE49-F238E27FC236}">
                    <a16:creationId xmlns:a16="http://schemas.microsoft.com/office/drawing/2014/main" id="{C6805551-7DD8-5B0E-01EE-B17CA1C8F783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451672"/>
                <a:ext cx="9933566" cy="4449802"/>
              </a:xfrm>
              <a:prstGeom prst="rect">
                <a:avLst/>
              </a:prstGeom>
              <a:blipFill>
                <a:blip r:embed="rId3"/>
                <a:stretch>
                  <a:fillRect l="-1276" b="-91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1850BC5-070A-8440-3DCB-EB8C98987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10582771" cy="646112"/>
          </a:xfrm>
        </p:spPr>
        <p:txBody>
          <a:bodyPr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dirty="0">
                <a:solidFill>
                  <a:schemeClr val="tx1"/>
                </a:solidFill>
              </a:rPr>
              <a:t>Root Mean Square Propagation (</a:t>
            </a:r>
            <a:r>
              <a:rPr lang="en-US" dirty="0" err="1">
                <a:solidFill>
                  <a:schemeClr val="tx1"/>
                </a:solidFill>
              </a:rPr>
              <a:t>RMSProp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B24449-77A9-87FA-3249-8509014020D1}"/>
              </a:ext>
            </a:extLst>
          </p:cNvPr>
          <p:cNvSpPr/>
          <p:nvPr/>
        </p:nvSpPr>
        <p:spPr>
          <a:xfrm>
            <a:off x="5057422" y="4617156"/>
            <a:ext cx="3759200" cy="4515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2DD5E6-5E01-DA38-5165-D78BBA53538D}"/>
              </a:ext>
            </a:extLst>
          </p:cNvPr>
          <p:cNvSpPr txBox="1"/>
          <p:nvPr/>
        </p:nvSpPr>
        <p:spPr>
          <a:xfrm>
            <a:off x="6920089" y="5215467"/>
            <a:ext cx="34995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Moving average of squared gradients, instead of the sum: sum only gets bigger so the updates become small</a:t>
            </a:r>
          </a:p>
        </p:txBody>
      </p:sp>
    </p:spTree>
    <p:extLst>
      <p:ext uri="{BB962C8B-B14F-4D97-AF65-F5344CB8AC3E}">
        <p14:creationId xmlns:p14="http://schemas.microsoft.com/office/powerpoint/2010/main" val="3879895707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1850BC5-070A-8440-3DCB-EB8C98987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10582771" cy="646112"/>
          </a:xfrm>
        </p:spPr>
        <p:txBody>
          <a:bodyPr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dirty="0">
                <a:solidFill>
                  <a:schemeClr val="tx1"/>
                </a:solidFill>
              </a:rPr>
              <a:t>Visualization</a:t>
            </a:r>
          </a:p>
        </p:txBody>
      </p:sp>
      <p:pic>
        <p:nvPicPr>
          <p:cNvPr id="12" name="Picture 11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0D30E478-B9FF-93D6-61D1-E9D358442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930" y="1666355"/>
            <a:ext cx="6154139" cy="4764494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551B393D-7C52-A59B-25D5-2F2ED250A890}"/>
              </a:ext>
            </a:extLst>
          </p:cNvPr>
          <p:cNvSpPr txBox="1">
            <a:spLocks/>
          </p:cNvSpPr>
          <p:nvPr/>
        </p:nvSpPr>
        <p:spPr>
          <a:xfrm>
            <a:off x="1246063" y="6279925"/>
            <a:ext cx="5059670" cy="3018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Source: </a:t>
            </a:r>
            <a:r>
              <a:rPr lang="en-US" sz="1100" dirty="0">
                <a:hlinkClick r:id="rId4"/>
              </a:rPr>
              <a:t>https://imgur.com/a/Hqolp#2dKCQHh</a:t>
            </a:r>
            <a:r>
              <a:rPr lang="en-US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68031113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0AB2C4-6E8C-592E-040A-F824B17AA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Why not both?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5B49D-2E16-9A74-48B3-FB812554F92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Two techniques to improve performance: adaptive learning rates and momentum</a:t>
            </a:r>
          </a:p>
          <a:p>
            <a:endParaRPr lang="en-US" dirty="0"/>
          </a:p>
          <a:p>
            <a:r>
              <a:rPr lang="en-US" dirty="0"/>
              <a:t>Are these mutually exclusive? No!</a:t>
            </a:r>
          </a:p>
          <a:p>
            <a:endParaRPr lang="en-US" dirty="0"/>
          </a:p>
          <a:p>
            <a:r>
              <a:rPr lang="en-US" dirty="0"/>
              <a:t>The Adam optimizer combines </a:t>
            </a:r>
            <a:r>
              <a:rPr lang="en-US" dirty="0" err="1"/>
              <a:t>RMSProp</a:t>
            </a:r>
            <a:r>
              <a:rPr lang="en-US" dirty="0"/>
              <a:t> with momentum and is probably the most commonly used in practice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11CB07-6B2C-18E8-5BE0-8E4DF61EFC1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8952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848CE1-25D0-3FF1-A201-7C2C90D05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Adam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DBDD8-1A2D-CC9E-D785-E4B4B9C2A4C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0AE79D-B6D6-42B4-2F07-7A9196FA4B3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9502DA-485E-69CB-A12C-98F6007EA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2298984"/>
            <a:ext cx="7772400" cy="429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903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MU">
      <a:dk1>
        <a:srgbClr val="404040"/>
      </a:dk1>
      <a:lt1>
        <a:srgbClr val="FFFFFF"/>
      </a:lt1>
      <a:dk2>
        <a:srgbClr val="898989"/>
      </a:dk2>
      <a:lt2>
        <a:srgbClr val="BABABA"/>
      </a:lt2>
      <a:accent1>
        <a:srgbClr val="BB0000"/>
      </a:accent1>
      <a:accent2>
        <a:srgbClr val="404040"/>
      </a:accent2>
      <a:accent3>
        <a:srgbClr val="BABABA"/>
      </a:accent3>
      <a:accent4>
        <a:srgbClr val="00337F"/>
      </a:accent4>
      <a:accent5>
        <a:srgbClr val="AA6600"/>
      </a:accent5>
      <a:accent6>
        <a:srgbClr val="006677"/>
      </a:accent6>
      <a:hlink>
        <a:srgbClr val="00337F"/>
      </a:hlink>
      <a:folHlink>
        <a:srgbClr val="AA66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14064</TotalTime>
  <Words>1402</Words>
  <Application>Microsoft Macintosh PowerPoint</Application>
  <PresentationFormat>Widescreen</PresentationFormat>
  <Paragraphs>236</Paragraphs>
  <Slides>30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Open Sans Light</vt:lpstr>
      <vt:lpstr>Arial</vt:lpstr>
      <vt:lpstr>Open Sans</vt:lpstr>
      <vt:lpstr>Cambria Math</vt:lpstr>
      <vt:lpstr>Office Theme</vt:lpstr>
      <vt:lpstr>PowerPoint Presentation</vt:lpstr>
      <vt:lpstr>Announcements </vt:lpstr>
      <vt:lpstr>Today</vt:lpstr>
      <vt:lpstr>Continuous optimization</vt:lpstr>
      <vt:lpstr>Empirical risk minimization</vt:lpstr>
      <vt:lpstr>Gradient descent: review</vt:lpstr>
      <vt:lpstr>Gradient descent: review</vt:lpstr>
      <vt:lpstr>Gradient descent: review</vt:lpstr>
      <vt:lpstr>Algorithmic properties of gradient descent</vt:lpstr>
      <vt:lpstr>Cost per iteration</vt:lpstr>
      <vt:lpstr>Cost per iteration</vt:lpstr>
      <vt:lpstr>Cost per iteration</vt:lpstr>
      <vt:lpstr>Stochastic gradient descent</vt:lpstr>
      <vt:lpstr>Stochastic gradient descent</vt:lpstr>
      <vt:lpstr>Stochastic gradient descent</vt:lpstr>
      <vt:lpstr>Stochastic gradient descent</vt:lpstr>
      <vt:lpstr>Number of iterations</vt:lpstr>
      <vt:lpstr>Hard cases for gradient descent: Local minima</vt:lpstr>
      <vt:lpstr>Hard cases for gradient descent: saddle points</vt:lpstr>
      <vt:lpstr>Momentum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Colin Donovan</dc:creator>
  <cp:lastModifiedBy>Bryan Wilder</cp:lastModifiedBy>
  <cp:revision>98</cp:revision>
  <dcterms:created xsi:type="dcterms:W3CDTF">2023-03-30T16:47:09Z</dcterms:created>
  <dcterms:modified xsi:type="dcterms:W3CDTF">2025-11-30T20:11:35Z</dcterms:modified>
</cp:coreProperties>
</file>