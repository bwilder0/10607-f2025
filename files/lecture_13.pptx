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314" r:id="rId3"/>
    <p:sldId id="343" r:id="rId4"/>
    <p:sldId id="292" r:id="rId5"/>
    <p:sldId id="293" r:id="rId6"/>
    <p:sldId id="344" r:id="rId7"/>
    <p:sldId id="297" r:id="rId8"/>
    <p:sldId id="294" r:id="rId9"/>
    <p:sldId id="295" r:id="rId10"/>
    <p:sldId id="296" r:id="rId11"/>
    <p:sldId id="315" r:id="rId12"/>
    <p:sldId id="318" r:id="rId13"/>
    <p:sldId id="317" r:id="rId14"/>
    <p:sldId id="319" r:id="rId15"/>
    <p:sldId id="316" r:id="rId16"/>
    <p:sldId id="320" r:id="rId17"/>
    <p:sldId id="346" r:id="rId18"/>
    <p:sldId id="347" r:id="rId19"/>
    <p:sldId id="348" r:id="rId20"/>
    <p:sldId id="350" r:id="rId21"/>
    <p:sldId id="349" r:id="rId22"/>
    <p:sldId id="351" r:id="rId23"/>
    <p:sldId id="354" r:id="rId24"/>
    <p:sldId id="356" r:id="rId25"/>
    <p:sldId id="355" r:id="rId26"/>
    <p:sldId id="357" r:id="rId27"/>
    <p:sldId id="353" r:id="rId28"/>
    <p:sldId id="352" r:id="rId29"/>
  </p:sldIdLst>
  <p:sldSz cx="12192000" cy="6858000"/>
  <p:notesSz cx="6858000" cy="9144000"/>
  <p:embeddedFontLst>
    <p:embeddedFont>
      <p:font typeface="Cambria Math" panose="02040503050406030204" pitchFamily="18" charset="0"/>
      <p:regular r:id="rId31"/>
    </p:embeddedFont>
    <p:embeddedFont>
      <p:font typeface="Open Sans" panose="020B0606030504020204" pitchFamily="34" charset="0"/>
      <p:regular r:id="rId32"/>
      <p:bold r:id="rId33"/>
      <p:italic r:id="rId34"/>
      <p:boldItalic r:id="rId35"/>
    </p:embeddedFont>
    <p:embeddedFont>
      <p:font typeface="Open Sans Light" panose="020B030603050402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6" roundtripDataSignature="AMtx7mgUUlR7RfLNE3+YwQYEA+haZAZC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58"/>
    <p:restoredTop sz="96301"/>
  </p:normalViewPr>
  <p:slideViewPr>
    <p:cSldViewPr snapToGrid="0">
      <p:cViewPr varScale="1">
        <p:scale>
          <a:sx n="119" d="100"/>
          <a:sy n="119" d="100"/>
        </p:scale>
        <p:origin x="21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6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67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8f25eec13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8f25eec133_0_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def factorial(int n):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if ___________: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return ___________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return ___________________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18f25eec133_0_28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6401" y="1193800"/>
            <a:ext cx="4572001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6" t="23991" r="4771" b="1983"/>
          <a:stretch/>
        </p:blipFill>
        <p:spPr>
          <a:xfrm>
            <a:off x="609601" y="1"/>
            <a:ext cx="105409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6401" y="1193800"/>
            <a:ext cx="4572001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6" t="23991" r="4771" b="1983"/>
          <a:stretch/>
        </p:blipFill>
        <p:spPr>
          <a:xfrm>
            <a:off x="609601" y="1"/>
            <a:ext cx="1054097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63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4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Font typeface="Open Sans Light"/>
              <a:buNone/>
              <a:defRPr sz="36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hopsworks.ai/dictionary/llm-temperature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Google Shape;70;p15"/>
          <p:cNvCxnSpPr/>
          <p:nvPr/>
        </p:nvCxnSpPr>
        <p:spPr>
          <a:xfrm>
            <a:off x="2946400" y="4648200"/>
            <a:ext cx="73152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71;p15"/>
          <p:cNvSpPr txBox="1"/>
          <p:nvPr/>
        </p:nvSpPr>
        <p:spPr>
          <a:xfrm>
            <a:off x="2844800" y="2717800"/>
            <a:ext cx="9064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233" indent="-4233">
              <a:buClr>
                <a:schemeClr val="dk1"/>
              </a:buClr>
            </a:pPr>
            <a:r>
              <a:rPr lang="en-US" sz="2667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Computational Foundations for ML (10-607):</a:t>
            </a:r>
            <a:endParaRPr sz="2667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33" indent="-4233">
              <a:lnSpc>
                <a:spcPct val="115000"/>
              </a:lnSpc>
              <a:spcBef>
                <a:spcPts val="667"/>
              </a:spcBef>
            </a:pPr>
            <a:r>
              <a:rPr lang="en-US" sz="4667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Search and decoding</a:t>
            </a:r>
            <a:endParaRPr sz="4667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33" indent="-4233"/>
            <a:endParaRPr sz="48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844800" y="4851400"/>
            <a:ext cx="701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233" indent="-4233"/>
            <a:r>
              <a:rPr lang="en-US" sz="213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Bryan Wilder</a:t>
            </a:r>
            <a:endParaRPr sz="18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D2F2-6AB5-0255-85A9-727CBEEA8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AECB2-226A-A514-F35E-747F0F95B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dirty="0"/>
              <a:t>Final quiz: Friday during recitation period</a:t>
            </a:r>
          </a:p>
          <a:p>
            <a:pPr marL="152396" indent="0">
              <a:buNone/>
            </a:pPr>
            <a:r>
              <a:rPr lang="en-US" dirty="0"/>
              <a:t>Covers material since quiz 2 </a:t>
            </a:r>
            <a:r>
              <a:rPr lang="en-US"/>
              <a:t>through Mon</a:t>
            </a:r>
            <a:endParaRPr lang="en-US" dirty="0"/>
          </a:p>
          <a:p>
            <a:pPr marL="152396" indent="0">
              <a:buNone/>
            </a:pPr>
            <a:endParaRPr lang="en-US" dirty="0"/>
          </a:p>
          <a:p>
            <a:r>
              <a:rPr lang="en-US" dirty="0"/>
              <a:t>Trees: various tree traversals, binary search trees</a:t>
            </a:r>
          </a:p>
          <a:p>
            <a:r>
              <a:rPr lang="en-US" dirty="0"/>
              <a:t>Lists, stacks, queues, and heaps: operations and implementations</a:t>
            </a:r>
          </a:p>
          <a:p>
            <a:r>
              <a:rPr lang="en-US" dirty="0"/>
              <a:t>Graphs: data structures, BFS/DFS, Kruskal’s and Dijkstra’s algorithms</a:t>
            </a:r>
          </a:p>
          <a:p>
            <a:r>
              <a:rPr lang="en-US" dirty="0"/>
              <a:t>Today: (stochastic) gradient descent algorithms</a:t>
            </a:r>
          </a:p>
          <a:p>
            <a:endParaRPr lang="en-US" dirty="0"/>
          </a:p>
          <a:p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A8EB3-B6F3-5C1F-8AA3-949C9F0EE6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772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EA12B-DA95-1EC4-3B02-5DC7C761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continued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BBF10-DA9B-9939-0C04-803CE6DE2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dirty="0"/>
              <a:t>So far, we’ve seen BFS/DFS, and then Dijkstra’s for computing shortest paths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Algorithms that we have are guaranteed to find the shortest path between two points eventually (BFS for unweighted graphs, Dijkstra’s for weighted)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20CAB-9482-6F48-A9C2-0B25B8B0FA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144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r>
              <a:rPr lang="en-US" dirty="0"/>
              <a:t>Example of Dijkstra’s algorithm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98A7F4-58F3-1A2D-17B9-A0CD235A4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87" y="2608273"/>
            <a:ext cx="10489824" cy="2358043"/>
          </a:xfrm>
          <a:prstGeom prst="rect">
            <a:avLst/>
          </a:prstGeom>
        </p:spPr>
      </p:pic>
      <p:sp>
        <p:nvSpPr>
          <p:cNvPr id="194" name="Google Shape;194;p3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algn="r"/>
            <a:fld id="{00000000-1234-1234-1234-123412341234}" type="slidenum">
              <a:rPr lang="en-US"/>
              <a:pPr algn="r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76B84-8836-23CD-45DD-0739C20BE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can we do better?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F9598-B10A-491C-C857-185E6D6AE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Dijkstra’s is </a:t>
            </a:r>
            <a:r>
              <a:rPr lang="en-US"/>
              <a:t>an </a:t>
            </a:r>
            <a:r>
              <a:rPr lang="en-US" i="1"/>
              <a:t>uninformed</a:t>
            </a:r>
            <a:r>
              <a:rPr lang="en-US"/>
              <a:t> </a:t>
            </a:r>
            <a:r>
              <a:rPr lang="en-US" dirty="0"/>
              <a:t>search algorithm: it makes no assumptions about the structure of the graph</a:t>
            </a:r>
          </a:p>
          <a:p>
            <a:r>
              <a:rPr lang="en-US" dirty="0"/>
              <a:t>An informed algorithm makes more assumptions, and does better if those assumptions are correct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053CA-1E1F-75EF-580C-0F1103CE6A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389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79744-6282-A059-39E3-0F95B2B91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Informed search with heuristics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6D8DB-0FD2-2C15-06B8-A77B91B90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Dijkstra’s explores nodes in order of their minimum distance so far</a:t>
            </a:r>
          </a:p>
          <a:p>
            <a:r>
              <a:rPr lang="en-US" sz="2400" dirty="0"/>
              <a:t>What if we add a </a:t>
            </a:r>
            <a:r>
              <a:rPr lang="en-US" sz="2400" i="1" dirty="0"/>
              <a:t>heuristic</a:t>
            </a:r>
            <a:r>
              <a:rPr lang="en-US" sz="2400" dirty="0"/>
              <a:t> which provides an estimate of the distance to the destination:</a:t>
            </a:r>
          </a:p>
          <a:p>
            <a:r>
              <a:rPr lang="en-US" sz="2400" dirty="0"/>
              <a:t>Common example of a heuristic on graphs representing locations: the straight-line distance</a:t>
            </a:r>
          </a:p>
          <a:p>
            <a:endParaRPr lang="en-US" sz="2400" dirty="0"/>
          </a:p>
          <a:p>
            <a:pPr marL="152396" indent="0">
              <a:buNone/>
            </a:pPr>
            <a:r>
              <a:rPr lang="en-US" sz="2400" dirty="0"/>
              <a:t>What could we do with a heuristic?</a:t>
            </a:r>
          </a:p>
          <a:p>
            <a:pPr marL="152396" indent="0">
              <a:buNone/>
            </a:pPr>
            <a:endParaRPr lang="en-US" sz="2400" dirty="0"/>
          </a:p>
          <a:p>
            <a:pPr marL="152396" indent="0"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FED58-70A1-CE36-9281-7CE3F8334F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596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5733D-1996-F0B0-E043-42B71F234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9A1DE-031C-1855-9B38-B483D80B2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dirty="0"/>
              <a:t>What if we just took the “best” node in every step?</a:t>
            </a:r>
          </a:p>
          <a:p>
            <a:pPr marL="152396" indent="0">
              <a:buNone/>
            </a:pPr>
            <a:r>
              <a:rPr lang="en-US" dirty="0"/>
              <a:t>Simply expanding the node with the best value of the heuristic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Doesn’t seem to work very well…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CB5CD-1403-3A0E-D682-B83B1A16C4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D1C714-44D0-FCC7-DC57-F04223CAC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47" y="2373086"/>
            <a:ext cx="10225497" cy="243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146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79744-6282-A059-39E3-0F95B2B91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6D8DB-0FD2-2C15-06B8-A77B91B90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 Dijkstra’s algorithm with a heuristic</a:t>
            </a:r>
          </a:p>
          <a:p>
            <a:r>
              <a:rPr lang="en-US" dirty="0"/>
              <a:t>Track distances-so-far as in Dijkstra’s algorithm</a:t>
            </a:r>
          </a:p>
          <a:p>
            <a:r>
              <a:rPr lang="en-US" dirty="0"/>
              <a:t>Estimate distance to destination for a path going through node v:</a:t>
            </a:r>
          </a:p>
          <a:p>
            <a:pPr lvl="1"/>
            <a:r>
              <a:rPr lang="en-US" dirty="0"/>
              <a:t>Distance to get from source to v: </a:t>
            </a:r>
            <a:r>
              <a:rPr lang="en-US" dirty="0" err="1"/>
              <a:t>dist</a:t>
            </a:r>
            <a:r>
              <a:rPr lang="en-US" dirty="0"/>
              <a:t>[v]</a:t>
            </a:r>
          </a:p>
          <a:p>
            <a:pPr lvl="1"/>
            <a:r>
              <a:rPr lang="en-US" dirty="0"/>
              <a:t>Distance to get from v to destination: heuristic(v)</a:t>
            </a:r>
          </a:p>
          <a:p>
            <a:r>
              <a:rPr lang="en-US" dirty="0"/>
              <a:t>Final rule: explore the node with the minimum combined value of </a:t>
            </a:r>
          </a:p>
          <a:p>
            <a:endParaRPr lang="en-US" dirty="0"/>
          </a:p>
          <a:p>
            <a:pPr marL="152396" indent="0" algn="ctr">
              <a:buNone/>
            </a:pPr>
            <a:r>
              <a:rPr lang="en-US" dirty="0" err="1"/>
              <a:t>dist</a:t>
            </a:r>
            <a:r>
              <a:rPr lang="en-US" dirty="0"/>
              <a:t>[v] + heuristic(v)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FED58-70A1-CE36-9281-7CE3F8334F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853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6105A-58A0-1CD7-F4D4-1659D2CB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Top: Dijkstra. Bottom: A*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0D4D1-8297-8E57-1A75-1C6DBB2E4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B98E6-665C-D0A4-308F-ADD251E219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C4FF12-0CA2-C841-DB01-9C4DC9BC1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576" y="3657600"/>
            <a:ext cx="10225497" cy="24342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552193-9095-DAB4-037F-C1A31F77D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576" y="1410843"/>
            <a:ext cx="10489824" cy="235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997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49A38-F6AA-EF6D-FB58-5E8288B49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does A* find an optimal solution?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EDA8923-CAFC-099C-2B4C-B2679AC34CE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52396" indent="0">
                  <a:buNone/>
                </a:pPr>
                <a:r>
                  <a:rPr lang="en-US" dirty="0"/>
                  <a:t>Two cases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r>
                  <a:rPr lang="en-US" dirty="0"/>
                  <a:t>The graph is a tree: A* finds an optimal solution if the heuristic is </a:t>
                </a:r>
                <a:r>
                  <a:rPr lang="en-US" i="1" dirty="0"/>
                  <a:t>admissible</a:t>
                </a: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Let q(v) be the actual distance from source to a node. Then, h is admissible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all v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r>
                  <a:rPr lang="en-US" dirty="0"/>
                  <a:t>General graphs: A* finds an optimal solution if the heuristic is </a:t>
                </a:r>
                <a:r>
                  <a:rPr lang="en-US" i="1" dirty="0"/>
                  <a:t>consistent</a:t>
                </a:r>
              </a:p>
              <a:p>
                <a:pPr marL="152396" indent="0">
                  <a:buNone/>
                </a:pPr>
                <a:r>
                  <a:rPr lang="en-US" dirty="0"/>
                  <a:t>Consistency is similar to the triangle inequality. Specifically, for every node v and its neighbor u: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(Can check that Euclidean distance is an admissible heuristic on a planar graph)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EDA8923-CAFC-099C-2B4C-B2679AC34C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78" r="-2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6B7F6-D4F0-4056-E048-2BB6149C81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542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D2F2-6AB5-0255-85A9-727CBEEA8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AECB2-226A-A514-F35E-747F0F95B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dirty="0"/>
              <a:t>So far: many search strategies (BFS, DFS, Dijkstra’s algorithm, A*)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In weighted graphs, Dijkstra’s will always find shortest paths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A* will do so with an admissible/consistent heuristic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Now: controllable tradeoff between computation and optimality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A8EB3-B6F3-5C1F-8AA3-949C9F0EE6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97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8CB2-0396-2B68-E1CC-14A736DEE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91BC7-73FA-12DE-82F2-54B903627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52396" indent="0">
              <a:buNone/>
            </a:pPr>
            <a:r>
              <a:rPr lang="en-US" dirty="0"/>
              <a:t>Key idea: only process the most promising </a:t>
            </a:r>
            <a:r>
              <a:rPr lang="en-US" i="1" dirty="0"/>
              <a:t>k</a:t>
            </a:r>
            <a:r>
              <a:rPr lang="en-US" dirty="0"/>
              <a:t> nodes in each step; discard the others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“Promising” defined via a heuristic as in A*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52396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Q = [source]</a:t>
            </a:r>
          </a:p>
          <a:p>
            <a:pPr marL="152396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while Q is not empty:</a:t>
            </a:r>
          </a:p>
          <a:p>
            <a:pPr marL="152396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pPr marL="152396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for node v in Q:</a:t>
            </a:r>
          </a:p>
          <a:p>
            <a:pPr marL="152396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for u in neighbors(v):</a:t>
            </a:r>
          </a:p>
          <a:p>
            <a:pPr marL="152396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if u == goal:</a:t>
            </a:r>
          </a:p>
          <a:p>
            <a:pPr marL="152396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</a:t>
            </a:r>
          </a:p>
          <a:p>
            <a:pPr marL="152396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if not visited[u]:</a:t>
            </a:r>
          </a:p>
          <a:p>
            <a:pPr marL="152396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visited[u] = True</a:t>
            </a:r>
          </a:p>
          <a:p>
            <a:pPr marL="152396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new_Q.append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(u)</a:t>
            </a:r>
          </a:p>
          <a:p>
            <a:pPr marL="152396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Q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select_top_k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heuristic)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C9788-7B1A-B109-093D-C9D3917E93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78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7203D-91E5-9843-7DAD-BB8A044E1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17A94-E20F-B71B-0A5B-B191A156C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35F62-5257-1433-E612-5300AC3DEE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5AC28-A517-B565-9D00-FDF16AF96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41678"/>
            <a:ext cx="7772400" cy="517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177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580C9-1D40-4807-68C5-F9AC64F7B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30F4C-834E-0DA4-38C4-E0891151C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dirty="0"/>
              <a:t>Sacrifices worst-case optimality: the nodes on the optimal path might get pruned away due to the beam width limit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Improves memory usage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Works well if the heuristic is well-aligned with nodes that will actually appear on the optimal path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761B2-F0F0-2C68-7887-E521D5161F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58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FDD08-EE9A-DAEF-61D9-EA1E5AB60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search: applications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378DE-B513-5D56-F898-B07660104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dirty="0"/>
              <a:t>Motivated as a decoding step for language models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Model has a next-word probability distribution given previous words: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p(word 3 = ”</a:t>
            </a:r>
            <a:r>
              <a:rPr lang="en-US" dirty="0" err="1"/>
              <a:t>chased”|word</a:t>
            </a:r>
            <a:r>
              <a:rPr lang="en-US" dirty="0"/>
              <a:t> 1 = “the”, word 2 = “dog”)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In generation, the goal is to find the sequence with the largest overall probability</a:t>
            </a:r>
          </a:p>
          <a:p>
            <a:pPr marL="152396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2FD8F-BDED-6E9A-ECF8-7D440B8E7A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87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7D640-0E8A-9A14-D69F-ED61D7C4A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search in language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B8E42-BE36-939A-F1B6-EE1FD3B37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2926314" cy="4555200"/>
          </a:xfrm>
        </p:spPr>
        <p:txBody>
          <a:bodyPr/>
          <a:lstStyle/>
          <a:p>
            <a:pPr marL="152396" indent="0">
              <a:buNone/>
            </a:pPr>
            <a:r>
              <a:rPr lang="en-US" dirty="0"/>
              <a:t>Heuristic = joint probability of sequence so far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Greedy search: choose the highest-probability token one at a time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Beam search: select the </a:t>
            </a:r>
            <a:r>
              <a:rPr lang="en-US" i="1" dirty="0"/>
              <a:t>k</a:t>
            </a:r>
            <a:r>
              <a:rPr lang="en-US" dirty="0"/>
              <a:t> best sequences to continue at each step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79AB2-5F19-1F6B-56AD-449C4CAA38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16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F2A019-0C58-EE39-856A-8473A7C26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471" y="1586084"/>
            <a:ext cx="7458529" cy="4358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1018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B60BD-0C6B-891F-D8B6-4501D5B0F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problems with beam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366E5-5A06-17E1-98CF-323762529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200" y="4976232"/>
            <a:ext cx="11360800" cy="524800"/>
          </a:xfrm>
        </p:spPr>
        <p:txBody>
          <a:bodyPr>
            <a:normAutofit/>
          </a:bodyPr>
          <a:lstStyle/>
          <a:p>
            <a:pPr marL="152396" indent="0">
              <a:buNone/>
            </a:pPr>
            <a:r>
              <a:rPr lang="en-US" sz="1400" dirty="0"/>
              <a:t>Holtzman et al. The curious case of neural text degeneration. ICLR 2020.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836FA-6AD4-C217-8826-30CA9AAC99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6CF590-5CF2-84C9-7B18-9586D61DB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449" y="2085974"/>
            <a:ext cx="10008300" cy="268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918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E48A9-CEAD-5F13-0124-1C7BB7D59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BBEA8-B0CD-5C69-551F-CC97E1CA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happened?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05AC5-74AE-9D01-20CA-ACE9A2D31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55329" y="6388100"/>
            <a:ext cx="11360800" cy="524800"/>
          </a:xfrm>
        </p:spPr>
        <p:txBody>
          <a:bodyPr>
            <a:normAutofit/>
          </a:bodyPr>
          <a:lstStyle/>
          <a:p>
            <a:pPr marL="152396" indent="0">
              <a:buNone/>
            </a:pPr>
            <a:r>
              <a:rPr lang="en-US" sz="1400" dirty="0"/>
              <a:t>Holtzman et al. The curious case of neural text degeneration. ICLR 2020.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03D09-1C9F-1A68-7D6D-F6333449E0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843682-906D-A075-CD12-C954F637E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995" y="346433"/>
            <a:ext cx="4940300" cy="591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59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802FB-5CBD-F304-0882-9FC89E8DA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42FEF-6CFF-E701-FAAF-BB34E63CD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in decoding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48ABE-1628-FF07-CF1F-87C600899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09596" indent="-457200">
              <a:buAutoNum type="arabicParenBoth"/>
            </a:pPr>
            <a:r>
              <a:rPr lang="en-US" dirty="0"/>
              <a:t>LLMs seem to assign high probability to well-formed text but the </a:t>
            </a:r>
            <a:r>
              <a:rPr lang="en-US" i="1" dirty="0"/>
              <a:t>highest</a:t>
            </a:r>
            <a:r>
              <a:rPr lang="en-US" dirty="0"/>
              <a:t> probability to repetitive/uninteresting sequences</a:t>
            </a:r>
          </a:p>
          <a:p>
            <a:pPr marL="609596" indent="-457200">
              <a:buAutoNum type="arabicParenBoth"/>
            </a:pPr>
            <a:r>
              <a:rPr lang="en-US" dirty="0"/>
              <a:t>Human text uses more low-probability next words</a:t>
            </a:r>
          </a:p>
          <a:p>
            <a:pPr marL="609596" indent="-457200">
              <a:buAutoNum type="arabicParenBoth"/>
            </a:pPr>
            <a:r>
              <a:rPr lang="en-US" dirty="0"/>
              <a:t>But, pure sampling from the model doesn’t work well either: there are lots of possible words and rare ones are cumulatively overweighted.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5EE97-1003-698D-09E5-372B295B07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56F096-8703-3A3E-C10D-F8738C56A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42" y="3045220"/>
            <a:ext cx="7772400" cy="322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29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3D425-C5DE-018B-0418-348737BFC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E25A-1332-6A43-438C-1B491892A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fix: top-k decoding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C202E-51D3-C908-FDD9-D6BA9DF74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09596" indent="-457200">
              <a:buAutoNum type="arabicParenBoth"/>
            </a:pPr>
            <a:r>
              <a:rPr lang="en-US" dirty="0"/>
              <a:t>Restrict possible next tokens to top k most-probable </a:t>
            </a:r>
          </a:p>
          <a:p>
            <a:pPr marL="609596" indent="-457200">
              <a:buAutoNum type="arabicParenBoth"/>
            </a:pPr>
            <a:r>
              <a:rPr lang="en-US" dirty="0"/>
              <a:t>Renormalize probability distribution over those tokens</a:t>
            </a:r>
          </a:p>
          <a:p>
            <a:pPr marL="609596" indent="-457200">
              <a:buAutoNum type="arabicParenBoth"/>
            </a:pPr>
            <a:r>
              <a:rPr lang="en-US" dirty="0"/>
              <a:t>Sample</a:t>
            </a:r>
          </a:p>
          <a:p>
            <a:pPr marL="609596" indent="-457200">
              <a:buAutoNum type="arabicParenBoth"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Introduces randomness, removes overly rare next tokens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But what value of k to use?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40BC9-FC2C-35C9-3B95-646DFEE60E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65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B5781-EDF2-8AAE-35E0-60DCED64C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E470-1C58-E831-D574-49C2196FC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fix: top-k decoding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13E02-74C2-6653-0AA8-C5B9441CA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09596" indent="-457200">
              <a:buAutoNum type="arabicParenBoth"/>
            </a:pPr>
            <a:r>
              <a:rPr lang="en-US" dirty="0"/>
              <a:t>Restrict possible next tokens to top k most-probable </a:t>
            </a:r>
          </a:p>
          <a:p>
            <a:pPr marL="609596" indent="-457200">
              <a:buAutoNum type="arabicParenBoth"/>
            </a:pPr>
            <a:r>
              <a:rPr lang="en-US" dirty="0"/>
              <a:t>Renormalize probability distribution over those tokens</a:t>
            </a:r>
          </a:p>
          <a:p>
            <a:pPr marL="609596" indent="-457200">
              <a:buAutoNum type="arabicParenBoth"/>
            </a:pPr>
            <a:r>
              <a:rPr lang="en-US" dirty="0"/>
              <a:t>Sample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14A6D-E759-0766-9F45-310566FB34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8FEFE3-BBFB-A9D8-078D-526004132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" y="3021724"/>
            <a:ext cx="8605837" cy="291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43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B88D1-2FD3-D817-1311-1D59CC8BB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17CEE-9D80-82D5-9D4C-D6BA0518A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Nucleus sampling/top-p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71137-A2A8-93A9-FFBD-C07BADCBF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09596" indent="-457200">
              <a:buAutoNum type="arabicParenBoth"/>
            </a:pPr>
            <a:r>
              <a:rPr lang="en-US" dirty="0"/>
              <a:t>Sort tokens by predicted probability</a:t>
            </a:r>
          </a:p>
          <a:p>
            <a:pPr marL="609596" indent="-457200">
              <a:buAutoNum type="arabicParenBoth"/>
            </a:pPr>
            <a:r>
              <a:rPr lang="en-US" dirty="0"/>
              <a:t>Include tokens in the set until cumulative probability exceeds p</a:t>
            </a:r>
          </a:p>
          <a:p>
            <a:pPr marL="609596" indent="-457200">
              <a:buAutoNum type="arabicParenBoth"/>
            </a:pPr>
            <a:r>
              <a:rPr lang="en-US" dirty="0"/>
              <a:t>Renormalize and sample from that set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Size of set adapts to model confidence!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4972B-AF9B-BC1C-CA9A-2E1882FC59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22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E9BD52-2FF2-19DA-CA42-4FD4B2218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" y="3021724"/>
            <a:ext cx="8605837" cy="291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102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2E4D7-703B-F849-A86C-73A0A9968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437E0-4832-A088-CA29-03F9A0955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683BF6D-8209-8317-87D1-AF1B7C327FD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52396" indent="0">
                  <a:buNone/>
                </a:pPr>
                <a:r>
                  <a:rPr lang="en-US" dirty="0"/>
                  <a:t>Another parameter that can be added on to most other methods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Background: what the LLM outputs is actually the </a:t>
                </a:r>
                <a:r>
                  <a:rPr lang="en-US" i="1" dirty="0"/>
                  <a:t>logits</a:t>
                </a:r>
                <a:r>
                  <a:rPr lang="en-US" dirty="0"/>
                  <a:t> of the distribution: 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LLM produces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152396" indent="0">
                  <a:buNone/>
                </a:pPr>
                <a:r>
                  <a:rPr lang="en-US" dirty="0"/>
                  <a:t>Probability is </a:t>
                </a:r>
                <a:r>
                  <a:rPr lang="en-US" dirty="0" err="1"/>
                  <a:t>softmax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ie</a:t>
                </a:r>
                <a:r>
                  <a:rPr lang="en-US" dirty="0"/>
                  <a:t> </a:t>
                </a: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token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683BF6D-8209-8317-87D1-AF1B7C327F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78CED-ED1E-D644-FA6F-812B4312AA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05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3A47D-8E14-0472-5BC3-CC5438569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21F83-B72D-917A-92A6-A5CD33647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A39442B-C4F9-0FDE-3777-55075BB873A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52396" indent="0">
                  <a:buNone/>
                </a:pPr>
                <a:r>
                  <a:rPr lang="en-US" dirty="0"/>
                  <a:t>Another parameter that can be added on to most other methods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Background: what the LLM outputs is actually the </a:t>
                </a:r>
                <a:r>
                  <a:rPr lang="en-US" i="1" dirty="0"/>
                  <a:t>logits</a:t>
                </a:r>
                <a:r>
                  <a:rPr lang="en-US" dirty="0"/>
                  <a:t> of the distribution: 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LLM produces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152396" indent="0">
                  <a:buNone/>
                </a:pPr>
                <a:r>
                  <a:rPr lang="en-US" dirty="0"/>
                  <a:t>Probability is </a:t>
                </a:r>
                <a:r>
                  <a:rPr lang="en-US" dirty="0" err="1"/>
                  <a:t>softmax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ie</a:t>
                </a:r>
                <a:r>
                  <a:rPr lang="en-US" dirty="0"/>
                  <a:t> </a:t>
                </a: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token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:r>
                  <a:rPr lang="en-US" dirty="0"/>
                  <a:t>With temperature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 </a:t>
                </a:r>
              </a:p>
              <a:p>
                <a:pPr marL="152396" indent="0">
                  <a:buNone/>
                </a:pPr>
                <a:endParaRPr lang="en-US" dirty="0"/>
              </a:p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token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152396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A39442B-C4F9-0FDE-3777-55075BB87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78" b="-3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D9C58-32FE-71C8-4F7C-4639184B9C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61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26D40-A2DC-537B-2932-F875F591B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E0EE0-2220-AE96-0802-A8649D2EF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F7ACB-EFDD-80B5-B21E-0869EF399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Image credit:</a:t>
            </a:r>
          </a:p>
          <a:p>
            <a:pPr marL="152396" indent="0">
              <a:buNone/>
            </a:pPr>
            <a:r>
              <a:rPr lang="en-US" sz="1400" dirty="0">
                <a:hlinkClick r:id="rId2"/>
              </a:rPr>
              <a:t>https://www.hopsworks.ai/dictionary/llm-temperature</a:t>
            </a:r>
            <a:r>
              <a:rPr lang="en-US" sz="14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D58A3-0E8B-CFC0-3951-9887458F06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52D15C-536A-830B-E19E-3586E5E8E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74" y="1728258"/>
            <a:ext cx="7772400" cy="285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7080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2F88C-07D2-C7AA-C208-2F80838D0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A9584-6A47-E08F-65B6-6E73F03BD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F5645-2FCB-33FB-4AD2-21F7604AB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dirty="0"/>
              <a:t>Lower temperature: more coherence…but also less diversity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3235C-91C1-237F-1E1A-5AEE1E1763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272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48F44-F418-A461-7184-6941967F5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19F6B-B303-91E1-56D4-D20720895F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E83C13-B625-32B4-A381-F02976220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135" y="484368"/>
            <a:ext cx="6388100" cy="55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836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6ACB3-987F-913A-9445-9A9B6B547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1465D-2B89-0B90-9C7A-E0F4F1F24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objective?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EE6CD-3D4C-70E5-BD7B-10D9E3120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dirty="0"/>
              <a:t>Max probability turned out to be a bad </a:t>
            </a:r>
            <a:r>
              <a:rPr lang="en-US" i="1" dirty="0"/>
              <a:t>goal</a:t>
            </a:r>
            <a:r>
              <a:rPr lang="en-US" dirty="0"/>
              <a:t> for open-ended generation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Beam search is more likely to be used for machine translation or other close-ended domains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/>
              <a:t>In generation, our goal is closer to sampling (but naïve sampling still exposes problems with the language model)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EE8F5-FB52-6C61-6FCB-547B4DAE44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04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MU">
      <a:dk1>
        <a:srgbClr val="404040"/>
      </a:dk1>
      <a:lt1>
        <a:srgbClr val="FFFFFF"/>
      </a:lt1>
      <a:dk2>
        <a:srgbClr val="898989"/>
      </a:dk2>
      <a:lt2>
        <a:srgbClr val="BABABA"/>
      </a:lt2>
      <a:accent1>
        <a:srgbClr val="BB0000"/>
      </a:accent1>
      <a:accent2>
        <a:srgbClr val="404040"/>
      </a:accent2>
      <a:accent3>
        <a:srgbClr val="BABABA"/>
      </a:accent3>
      <a:accent4>
        <a:srgbClr val="00337F"/>
      </a:accent4>
      <a:accent5>
        <a:srgbClr val="AA6600"/>
      </a:accent5>
      <a:accent6>
        <a:srgbClr val="006677"/>
      </a:accent6>
      <a:hlink>
        <a:srgbClr val="00337F"/>
      </a:hlink>
      <a:folHlink>
        <a:srgbClr val="AA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14064</TotalTime>
  <Words>1125</Words>
  <Application>Microsoft Macintosh PowerPoint</Application>
  <PresentationFormat>Widescreen</PresentationFormat>
  <Paragraphs>214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Courier New</vt:lpstr>
      <vt:lpstr>Open Sans Light</vt:lpstr>
      <vt:lpstr>Arial</vt:lpstr>
      <vt:lpstr>Open Sans</vt:lpstr>
      <vt:lpstr>Cambria Math</vt:lpstr>
      <vt:lpstr>Office Theme</vt:lpstr>
      <vt:lpstr>PowerPoint Presentation</vt:lpstr>
      <vt:lpstr>Announcements </vt:lpstr>
      <vt:lpstr>Search continued</vt:lpstr>
      <vt:lpstr>Example of Dijkstra’s algorithm</vt:lpstr>
      <vt:lpstr>When can we do better?</vt:lpstr>
      <vt:lpstr>Informed search with heuristics</vt:lpstr>
      <vt:lpstr>Greedy search</vt:lpstr>
      <vt:lpstr>A* search</vt:lpstr>
      <vt:lpstr>Top: Dijkstra. Bottom: A*</vt:lpstr>
      <vt:lpstr>When does A* find an optimal solution?</vt:lpstr>
      <vt:lpstr>Search</vt:lpstr>
      <vt:lpstr>Beam search</vt:lpstr>
      <vt:lpstr>PowerPoint Presentation</vt:lpstr>
      <vt:lpstr>Beam search</vt:lpstr>
      <vt:lpstr>Beam search: applications</vt:lpstr>
      <vt:lpstr>Beam search in language models</vt:lpstr>
      <vt:lpstr>Practical problems with beam search</vt:lpstr>
      <vt:lpstr>What happened?</vt:lpstr>
      <vt:lpstr>Issues in decoding</vt:lpstr>
      <vt:lpstr>Potential fix: top-k decoding</vt:lpstr>
      <vt:lpstr>Potential fix: top-k decoding</vt:lpstr>
      <vt:lpstr>Nucleus sampling/top-p</vt:lpstr>
      <vt:lpstr>Temperature</vt:lpstr>
      <vt:lpstr>Temperature</vt:lpstr>
      <vt:lpstr>Temperature</vt:lpstr>
      <vt:lpstr>Temperature</vt:lpstr>
      <vt:lpstr>PowerPoint Presentation</vt:lpstr>
      <vt:lpstr>What is the objective?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Colin Donovan</dc:creator>
  <cp:lastModifiedBy>Bryan Wilder</cp:lastModifiedBy>
  <cp:revision>99</cp:revision>
  <dcterms:created xsi:type="dcterms:W3CDTF">2023-03-30T16:47:09Z</dcterms:created>
  <dcterms:modified xsi:type="dcterms:W3CDTF">2025-11-30T20:11:43Z</dcterms:modified>
</cp:coreProperties>
</file>