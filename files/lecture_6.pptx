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9" r:id="rId3"/>
    <p:sldId id="269" r:id="rId4"/>
    <p:sldId id="261" r:id="rId5"/>
    <p:sldId id="275" r:id="rId6"/>
    <p:sldId id="281" r:id="rId7"/>
    <p:sldId id="293" r:id="rId8"/>
    <p:sldId id="291" r:id="rId9"/>
    <p:sldId id="270" r:id="rId10"/>
    <p:sldId id="258" r:id="rId11"/>
    <p:sldId id="264" r:id="rId12"/>
    <p:sldId id="266" r:id="rId13"/>
    <p:sldId id="267" r:id="rId14"/>
    <p:sldId id="271" r:id="rId15"/>
    <p:sldId id="280" r:id="rId16"/>
    <p:sldId id="279" r:id="rId17"/>
    <p:sldId id="273" r:id="rId18"/>
    <p:sldId id="277" r:id="rId19"/>
    <p:sldId id="292" r:id="rId20"/>
    <p:sldId id="272" r:id="rId21"/>
    <p:sldId id="263" r:id="rId22"/>
  </p:sldIdLst>
  <p:sldSz cx="12192000" cy="6858000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Candara" panose="020E0502030303020204" pitchFamily="34" charset="0"/>
      <p:regular r:id="rId25"/>
      <p:bold r:id="rId26"/>
      <p:italic r:id="rId27"/>
      <p:boldItalic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Open Sans Light" panose="020B0306030504020204" pitchFamily="34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gUUlR7RfLNE3+YwQYEA+haZAZC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4"/>
    <p:restoredTop sz="94726"/>
  </p:normalViewPr>
  <p:slideViewPr>
    <p:cSldViewPr snapToGrid="0">
      <p:cViewPr varScale="1">
        <p:scale>
          <a:sx n="116" d="100"/>
          <a:sy n="116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6bc5a26b57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6bc5a26b57_0_10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Candara"/>
              <a:buNone/>
            </a:pPr>
            <a:r>
              <a:rPr lang="en-US">
                <a:solidFill>
                  <a:srgbClr val="7F7F7F"/>
                </a:solidFill>
                <a:latin typeface="Candara"/>
                <a:ea typeface="Candara"/>
                <a:cs typeface="Candara"/>
                <a:sym typeface="Candara"/>
              </a:rPr>
              <a:t>Slide credit: CMU 15-122</a:t>
            </a:r>
            <a:endParaRPr/>
          </a:p>
        </p:txBody>
      </p:sp>
      <p:sp>
        <p:nvSpPr>
          <p:cNvPr id="109" name="Google Shape;109;g16bc5a26b57_0_10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6bc5a26b57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6bc5a26b57_0_29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16bc5a26b57_0_29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10568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00028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8f25eec13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8f25eec133_0_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def factorial(int n):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if ___________: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return ___________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return ___________________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18f25eec133_0_2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8f25eec133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8f25eec133_0_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18f25eec133_0_3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2"/>
          <p:cNvCxnSpPr/>
          <p:nvPr/>
        </p:nvCxnSpPr>
        <p:spPr>
          <a:xfrm>
            <a:off x="1246063" y="1554511"/>
            <a:ext cx="9177403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1246063" y="2298984"/>
            <a:ext cx="9177403" cy="300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3"/>
          </p:nvPr>
        </p:nvSpPr>
        <p:spPr>
          <a:xfrm>
            <a:off x="1246064" y="1752884"/>
            <a:ext cx="9177402" cy="4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42000"/>
            <a:ext cx="12192000" cy="10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7" descr="Picture 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7"/>
          <p:cNvSpPr txBox="1">
            <a:spLocks noGrp="1"/>
          </p:cNvSpPr>
          <p:nvPr>
            <p:ph type="body" idx="1"/>
          </p:nvPr>
        </p:nvSpPr>
        <p:spPr>
          <a:xfrm>
            <a:off x="3154362" y="3105944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1" y="1193800"/>
            <a:ext cx="4572001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6" t="23991" r="4771" b="1983"/>
          <a:stretch/>
        </p:blipFill>
        <p:spPr>
          <a:xfrm>
            <a:off x="609601" y="1"/>
            <a:ext cx="105409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1" y="1193800"/>
            <a:ext cx="4572001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6" t="23991" r="4771" b="1983"/>
          <a:stretch/>
        </p:blipFill>
        <p:spPr>
          <a:xfrm>
            <a:off x="609601" y="1"/>
            <a:ext cx="105409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633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  <a:defRPr sz="36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6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5"/>
          <p:cNvCxnSpPr/>
          <p:nvPr/>
        </p:nvCxnSpPr>
        <p:spPr>
          <a:xfrm>
            <a:off x="2946400" y="4648200"/>
            <a:ext cx="73152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15"/>
          <p:cNvSpPr txBox="1"/>
          <p:nvPr/>
        </p:nvSpPr>
        <p:spPr>
          <a:xfrm>
            <a:off x="2844800" y="2717800"/>
            <a:ext cx="9064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>
              <a:buClr>
                <a:schemeClr val="dk1"/>
              </a:buClr>
            </a:pPr>
            <a:r>
              <a:rPr lang="en-US" sz="2667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Computational Foundations for ML (10-607):</a:t>
            </a:r>
            <a:endParaRPr sz="2667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>
              <a:lnSpc>
                <a:spcPct val="115000"/>
              </a:lnSpc>
              <a:spcBef>
                <a:spcPts val="667"/>
              </a:spcBef>
            </a:pPr>
            <a:r>
              <a:rPr lang="en-US" sz="4667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Computationational</a:t>
            </a:r>
            <a:r>
              <a:rPr lang="en-US" sz="4667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Complexity</a:t>
            </a:r>
            <a:endParaRPr sz="4667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/>
            <a:endParaRPr sz="48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844800" y="4851400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/>
            <a:r>
              <a:rPr lang="en-US" sz="213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sz="1867" dirty="0"/>
          </a:p>
        </p:txBody>
      </p:sp>
      <p:sp>
        <p:nvSpPr>
          <p:cNvPr id="73" name="Google Shape;73;p15"/>
          <p:cNvSpPr txBox="1"/>
          <p:nvPr/>
        </p:nvSpPr>
        <p:spPr>
          <a:xfrm>
            <a:off x="2844800" y="6260433"/>
            <a:ext cx="92044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by Professors H. </a:t>
            </a:r>
            <a:r>
              <a:rPr lang="en-US" sz="1467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Heidari</a:t>
            </a:r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M. Gormley, P. Virtue, &amp; G. Gordon.</a:t>
            </a:r>
            <a:endParaRPr sz="1467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87F6-111B-396B-AAC8-E9F4965EB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Warmup/review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4CA7D0-8240-AA4E-0CAB-190DB318AAE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?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r>
                  <a:rPr lang="en-US" sz="1800" b="0" i="0" u="none" strike="noStrike" dirty="0">
                    <a:solidFill>
                      <a:srgbClr val="595959"/>
                    </a:solidFill>
                    <a:effectLst/>
                    <a:latin typeface="Arial" panose="020B0604020202020204" pitchFamily="34" charset="0"/>
                  </a:rPr>
                  <a:t>(n+1)</a:t>
                </a:r>
                <a:r>
                  <a:rPr lang="en-US" sz="1800" b="0" i="0" u="none" strike="noStrike" baseline="30000" dirty="0">
                    <a:solidFill>
                      <a:srgbClr val="595959"/>
                    </a:solidFill>
                    <a:effectLst/>
                    <a:latin typeface="Arial" panose="020B0604020202020204" pitchFamily="34" charset="0"/>
                  </a:rPr>
                  <a:t>2 </a:t>
                </a:r>
                <a:r>
                  <a:rPr lang="en-US" sz="1800" b="0" i="0" u="none" strike="noStrike" dirty="0">
                    <a:solidFill>
                      <a:srgbClr val="595959"/>
                    </a:solidFill>
                    <a:effectLst/>
                    <a:latin typeface="Arial" panose="020B0604020202020204" pitchFamily="34" charset="0"/>
                  </a:rPr>
                  <a:t>∈ O(0.001n</a:t>
                </a:r>
                <a:r>
                  <a:rPr lang="en-US" sz="1800" b="0" i="0" u="none" strike="noStrike" baseline="30000" dirty="0">
                    <a:solidFill>
                      <a:srgbClr val="595959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r>
                  <a:rPr lang="en-US" sz="1800" b="0" i="0" u="none" strike="noStrike" dirty="0">
                    <a:solidFill>
                      <a:srgbClr val="595959"/>
                    </a:solidFill>
                    <a:effectLst/>
                    <a:latin typeface="Arial" panose="020B0604020202020204" pitchFamily="34" charset="0"/>
                  </a:rPr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4CA7D0-8240-AA4E-0CAB-190DB318AA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008BF-E235-C7CC-8AD6-79F69B71E7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134500-5CC8-BB15-59DA-3F6A6AC47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Likelihood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9600" dirty="0"/>
              <a:t>Computational complexity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1D26B-829B-2E54-AF4A-39F205547F8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46063" y="1668780"/>
            <a:ext cx="10366817" cy="48006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dirty="0"/>
              <a:t>Last time: defined computational complexity notions</a:t>
            </a:r>
            <a:r>
              <a:rPr lang="en-US" dirty="0">
                <a:solidFill>
                  <a:schemeClr val="tx1"/>
                </a:solidFill>
              </a:rPr>
              <a:t>, tools to establish big-O relationships</a:t>
            </a: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</a:rPr>
              <a:t>Today: analyzing the runtime of specific 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58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-US"/>
              <a:t>How fast is this code?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-US" sz="1333">
                <a:solidFill>
                  <a:schemeClr val="dk2"/>
                </a:solidFill>
              </a:rPr>
              <a:pPr algn="r"/>
              <a:t>4</a:t>
            </a:fld>
            <a:endParaRPr sz="1333">
              <a:solidFill>
                <a:schemeClr val="dk2"/>
              </a:solidFill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934477" y="2694412"/>
            <a:ext cx="72824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rgbClr val="ED7D31"/>
              </a:buClr>
              <a:buSzPts val="1800"/>
            </a:pPr>
            <a:r>
              <a:rPr lang="en-US" sz="2400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15  </a:t>
            </a:r>
            <a:r>
              <a:rPr lang="en-US" sz="2400" b="1" dirty="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search(</a:t>
            </a:r>
            <a:r>
              <a:rPr lang="en-US" sz="2400" b="1" dirty="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x, </a:t>
            </a:r>
            <a:r>
              <a:rPr lang="en-US" sz="2400" b="1" dirty="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[] A, </a:t>
            </a:r>
            <a:r>
              <a:rPr lang="en-US" sz="2400" b="1" dirty="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n)</a:t>
            </a:r>
            <a:endParaRPr sz="1467" dirty="0"/>
          </a:p>
          <a:p>
            <a:pPr>
              <a:buClr>
                <a:srgbClr val="ED7D31"/>
              </a:buClr>
              <a:buSzPts val="1800"/>
            </a:pPr>
            <a:r>
              <a:rPr lang="en-US" sz="2400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467" dirty="0"/>
          </a:p>
          <a:p>
            <a:pPr>
              <a:buClr>
                <a:srgbClr val="ED7D31"/>
              </a:buClr>
              <a:buSzPts val="1800"/>
            </a:pPr>
            <a:r>
              <a:rPr lang="en-US" sz="2400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2400" b="1" dirty="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&lt; n;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++)</a:t>
            </a:r>
            <a:endParaRPr sz="1467" dirty="0"/>
          </a:p>
          <a:p>
            <a:pPr>
              <a:buClr>
                <a:srgbClr val="ED7D31"/>
              </a:buClr>
              <a:buSzPts val="1800"/>
            </a:pPr>
            <a:r>
              <a:rPr lang="en-US" sz="2400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1467" dirty="0"/>
          </a:p>
          <a:p>
            <a:pPr>
              <a:buClr>
                <a:srgbClr val="ED7D31"/>
              </a:buClr>
              <a:buSzPts val="1800"/>
            </a:pPr>
            <a:r>
              <a:rPr lang="en-US" sz="2400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400" b="1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(A[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] == x) {</a:t>
            </a:r>
            <a:endParaRPr sz="1467" dirty="0"/>
          </a:p>
          <a:p>
            <a:pPr>
              <a:buClr>
                <a:srgbClr val="ED7D31"/>
              </a:buClr>
              <a:buSzPts val="1800"/>
            </a:pPr>
            <a:r>
              <a:rPr lang="en-US" sz="2400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20        </a:t>
            </a:r>
            <a:r>
              <a:rPr lang="en-US" sz="2400" b="1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67" dirty="0"/>
          </a:p>
          <a:p>
            <a:pPr>
              <a:buClr>
                <a:srgbClr val="ED7D31"/>
              </a:buClr>
              <a:buSzPts val="1800"/>
            </a:pPr>
            <a:r>
              <a:rPr lang="en-US" sz="2400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21  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467" dirty="0"/>
          </a:p>
          <a:p>
            <a:pPr>
              <a:buClr>
                <a:srgbClr val="ED7D31"/>
              </a:buClr>
              <a:buSzPts val="1800"/>
            </a:pPr>
            <a:r>
              <a:rPr lang="en-US" sz="2400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467" dirty="0"/>
          </a:p>
          <a:p>
            <a:pPr>
              <a:buClr>
                <a:srgbClr val="ED7D31"/>
              </a:buClr>
              <a:buSzPts val="1800"/>
            </a:pPr>
            <a:r>
              <a:rPr lang="en-US" sz="2400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67" dirty="0"/>
          </a:p>
          <a:p>
            <a:pPr>
              <a:buClr>
                <a:srgbClr val="ED7D31"/>
              </a:buClr>
              <a:buSzPts val="1800"/>
            </a:pPr>
            <a:r>
              <a:rPr lang="en-US" sz="2400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4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02335-2F87-73EF-9104-69CD8238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B3E5A-6542-1B24-9566-8AF7BEC75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8648E-B98A-90D5-0F4F-61CA17288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BB6513-201D-074B-7051-BC1D4084B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0" y="3006253"/>
            <a:ext cx="46609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936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43284-4B0D-3A5F-BB37-DD23A7E1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96548-3DFB-B7E8-1669-98059F85D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200" y="0"/>
            <a:ext cx="11360800" cy="4555200"/>
          </a:xfrm>
        </p:spPr>
        <p:txBody>
          <a:bodyPr>
            <a:noAutofit/>
          </a:bodyPr>
          <a:lstStyle/>
          <a:p>
            <a:pPr marL="152396" indent="0">
              <a:buNone/>
            </a:pPr>
            <a:endParaRPr lang="en-US" sz="3200" dirty="0"/>
          </a:p>
          <a:p>
            <a:pPr marL="152396" indent="0">
              <a:buNone/>
            </a:pPr>
            <a:endParaRPr lang="en-US" sz="3200" dirty="0"/>
          </a:p>
          <a:p>
            <a:pPr marL="152396" indent="0">
              <a:buNone/>
            </a:pPr>
            <a:endParaRPr lang="en-US" sz="3200" dirty="0"/>
          </a:p>
          <a:p>
            <a:pPr marL="152396" indent="0">
              <a:buNone/>
            </a:pPr>
            <a:endParaRPr lang="en-US" sz="3200" dirty="0"/>
          </a:p>
          <a:p>
            <a:pPr marL="152396" indent="0">
              <a:buNone/>
            </a:pPr>
            <a:endParaRPr lang="en-US" sz="3200" dirty="0"/>
          </a:p>
          <a:p>
            <a:pPr marL="152396" indent="0">
              <a:buNone/>
            </a:pPr>
            <a:r>
              <a:rPr lang="en-US" sz="3200" dirty="0"/>
              <a:t>total = 0</a:t>
            </a:r>
          </a:p>
          <a:p>
            <a:pPr marL="152396" indent="0">
              <a:buNone/>
            </a:pPr>
            <a:r>
              <a:rPr lang="en-US" sz="3200" dirty="0"/>
              <a:t>for </a:t>
            </a:r>
            <a:r>
              <a:rPr lang="en-US" sz="3200" dirty="0" err="1"/>
              <a:t>i</a:t>
            </a:r>
            <a:r>
              <a:rPr lang="en-US" sz="3200" dirty="0"/>
              <a:t> in range(n):</a:t>
            </a:r>
          </a:p>
          <a:p>
            <a:pPr marL="152396" indent="0">
              <a:buNone/>
            </a:pPr>
            <a:r>
              <a:rPr lang="en-US" sz="3200" dirty="0"/>
              <a:t>    for j in range(n):</a:t>
            </a:r>
          </a:p>
          <a:p>
            <a:pPr marL="152396" indent="0">
              <a:buNone/>
            </a:pPr>
            <a:r>
              <a:rPr lang="en-US" sz="3200" dirty="0"/>
              <a:t>        for k in range(10):</a:t>
            </a:r>
          </a:p>
          <a:p>
            <a:pPr marL="152396" indent="0">
              <a:buNone/>
            </a:pPr>
            <a:r>
              <a:rPr lang="en-US" sz="3200" dirty="0"/>
              <a:t>            if </a:t>
            </a:r>
            <a:r>
              <a:rPr lang="en-US" sz="3200" dirty="0" err="1"/>
              <a:t>i</a:t>
            </a:r>
            <a:r>
              <a:rPr lang="en-US" sz="3200" dirty="0"/>
              <a:t> % 2 == 0 and j % 3 == 0:</a:t>
            </a:r>
          </a:p>
          <a:p>
            <a:pPr marL="152396" indent="0">
              <a:buNone/>
            </a:pPr>
            <a:r>
              <a:rPr lang="en-US" sz="3200" dirty="0"/>
              <a:t>                total += 1</a:t>
            </a:r>
          </a:p>
          <a:p>
            <a:pPr marL="152396" indent="0">
              <a:buNone/>
            </a:pPr>
            <a:r>
              <a:rPr lang="en-US" sz="3200" dirty="0"/>
              <a:t>            else:</a:t>
            </a:r>
          </a:p>
          <a:p>
            <a:pPr marL="152396" indent="0">
              <a:buNone/>
            </a:pPr>
            <a:r>
              <a:rPr lang="en-US" sz="3200" dirty="0"/>
              <a:t>                total /=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7D967-113A-AA3C-1725-F3E1B313CD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79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43284-4B0D-3A5F-BB37-DD23A7E1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96548-3DFB-B7E8-1669-98059F85D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200" y="0"/>
            <a:ext cx="11360800" cy="4555200"/>
          </a:xfrm>
        </p:spPr>
        <p:txBody>
          <a:bodyPr>
            <a:noAutofit/>
          </a:bodyPr>
          <a:lstStyle/>
          <a:p>
            <a:pPr marL="152396" indent="0">
              <a:buNone/>
            </a:pPr>
            <a:endParaRPr lang="en-US" sz="3200" dirty="0"/>
          </a:p>
          <a:p>
            <a:pPr marL="152396" indent="0">
              <a:buNone/>
            </a:pPr>
            <a:endParaRPr lang="en-US" sz="3200" dirty="0"/>
          </a:p>
          <a:p>
            <a:pPr marL="152396" indent="0">
              <a:buNone/>
            </a:pPr>
            <a:endParaRPr lang="en-US" sz="3200" dirty="0"/>
          </a:p>
          <a:p>
            <a:pPr marL="152396" indent="0">
              <a:buNone/>
            </a:pPr>
            <a:endParaRPr lang="en-US" sz="3200" dirty="0"/>
          </a:p>
          <a:p>
            <a:pPr marL="152396" indent="0">
              <a:buNone/>
            </a:pPr>
            <a:endParaRPr lang="en-US" sz="3200" dirty="0"/>
          </a:p>
          <a:p>
            <a:pPr marL="152396" indent="0">
              <a:buNone/>
            </a:pPr>
            <a:r>
              <a:rPr lang="en-US" sz="3200" dirty="0"/>
              <a:t>total = 0</a:t>
            </a:r>
          </a:p>
          <a:p>
            <a:pPr marL="152396" indent="0">
              <a:buNone/>
            </a:pPr>
            <a:r>
              <a:rPr lang="en-US" sz="3200" dirty="0"/>
              <a:t>for </a:t>
            </a:r>
            <a:r>
              <a:rPr lang="en-US" sz="3200" dirty="0" err="1"/>
              <a:t>i</a:t>
            </a:r>
            <a:r>
              <a:rPr lang="en-US" sz="3200" dirty="0"/>
              <a:t> in range(n):</a:t>
            </a:r>
          </a:p>
          <a:p>
            <a:pPr marL="152396" indent="0">
              <a:buNone/>
            </a:pPr>
            <a:r>
              <a:rPr lang="en-US" sz="3200" dirty="0"/>
              <a:t>    for j in range(</a:t>
            </a:r>
            <a:r>
              <a:rPr lang="en-US" sz="3200" dirty="0" err="1">
                <a:highlight>
                  <a:srgbClr val="FFFF00"/>
                </a:highlight>
              </a:rPr>
              <a:t>i</a:t>
            </a:r>
            <a:r>
              <a:rPr lang="en-US" sz="3200" dirty="0"/>
              <a:t>):</a:t>
            </a:r>
          </a:p>
          <a:p>
            <a:pPr marL="152396" indent="0">
              <a:buNone/>
            </a:pPr>
            <a:r>
              <a:rPr lang="en-US" sz="3200" dirty="0"/>
              <a:t>        for k in range(10):</a:t>
            </a:r>
          </a:p>
          <a:p>
            <a:pPr marL="152396" indent="0">
              <a:buNone/>
            </a:pPr>
            <a:r>
              <a:rPr lang="en-US" sz="3200" dirty="0"/>
              <a:t>            if </a:t>
            </a:r>
            <a:r>
              <a:rPr lang="en-US" sz="3200" dirty="0" err="1"/>
              <a:t>i</a:t>
            </a:r>
            <a:r>
              <a:rPr lang="en-US" sz="3200" dirty="0"/>
              <a:t> % 2 == 0 and j % 3 == 0:</a:t>
            </a:r>
          </a:p>
          <a:p>
            <a:pPr marL="152396" indent="0">
              <a:buNone/>
            </a:pPr>
            <a:r>
              <a:rPr lang="en-US" sz="3200" dirty="0"/>
              <a:t>                total += 1</a:t>
            </a:r>
          </a:p>
          <a:p>
            <a:pPr marL="152396" indent="0">
              <a:buNone/>
            </a:pPr>
            <a:r>
              <a:rPr lang="en-US" sz="3200" dirty="0"/>
              <a:t>            else:</a:t>
            </a:r>
          </a:p>
          <a:p>
            <a:pPr marL="152396" indent="0">
              <a:buNone/>
            </a:pPr>
            <a:r>
              <a:rPr lang="en-US" sz="3200" dirty="0"/>
              <a:t>                total /=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7D967-113A-AA3C-1725-F3E1B313CD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26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6BF7C-DCC2-2AAD-321B-D2135114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D52CCC-D9BC-7F4A-2593-B7EA2CB49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18" y="2717200"/>
            <a:ext cx="7772400" cy="26022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8D7AA-3EF7-C4CA-8505-F1FBFD2C7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10892B-9655-9F2E-67C0-CE306B1F027F}"/>
              </a:ext>
            </a:extLst>
          </p:cNvPr>
          <p:cNvSpPr txBox="1"/>
          <p:nvPr/>
        </p:nvSpPr>
        <p:spPr>
          <a:xfrm>
            <a:off x="707918" y="1516230"/>
            <a:ext cx="88411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000" b="0" i="0" dirty="0">
                <a:solidFill>
                  <a:srgbClr val="2A2A2A"/>
                </a:solidFill>
                <a:effectLst/>
                <a:latin typeface="Roboto" panose="020F0502020204030204" pitchFamily="34" charset="0"/>
              </a:rPr>
              <a:t>The input is a </a:t>
            </a:r>
            <a:r>
              <a:rPr lang="en-US" sz="2000" b="1" i="0" dirty="0">
                <a:solidFill>
                  <a:srgbClr val="2A2A2A"/>
                </a:solidFill>
                <a:effectLst/>
                <a:latin typeface="Roboto" panose="020F0502020204030204" pitchFamily="34" charset="0"/>
              </a:rPr>
              <a:t>sorted</a:t>
            </a:r>
            <a:r>
              <a:rPr lang="en-US" sz="2000" b="0" i="0" dirty="0">
                <a:solidFill>
                  <a:srgbClr val="2A2A2A"/>
                </a:solidFill>
                <a:effectLst/>
                <a:latin typeface="Roboto" panose="020F0502020204030204" pitchFamily="34" charset="0"/>
              </a:rPr>
              <a:t> array A. Determine whether it contains two elements with the difference D. Consider the following code solving this problem:</a:t>
            </a:r>
            <a:br>
              <a:rPr lang="en-US" sz="2000" b="0" i="0" dirty="0">
                <a:solidFill>
                  <a:srgbClr val="2A2A2A"/>
                </a:solidFill>
                <a:effectLst/>
                <a:latin typeface="Roboto" panose="020F0502020204030204" pitchFamily="34" charset="0"/>
              </a:rPr>
            </a:br>
            <a:br>
              <a:rPr lang="en-US" sz="2000" b="0" i="0" dirty="0">
                <a:solidFill>
                  <a:srgbClr val="2A2A2A"/>
                </a:solidFill>
                <a:effectLst/>
                <a:latin typeface="Roboto" panose="020F0502020204030204" pitchFamily="34" charset="0"/>
              </a:rPr>
            </a:br>
            <a:endParaRPr lang="en-US" sz="2000" b="0" i="0" dirty="0">
              <a:solidFill>
                <a:srgbClr val="2A2A2A"/>
              </a:solidFill>
              <a:effectLst/>
              <a:latin typeface="Robo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797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endParaRPr dirty="0"/>
          </a:p>
        </p:txBody>
      </p:sp>
      <p:sp>
        <p:nvSpPr>
          <p:cNvPr id="162" name="Google Shape;162;p2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dirty="0"/>
              <a:t>How many operations are required to compute the L2 norm of a vector?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63" name="Google Shape;163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-US"/>
              <a:pPr algn="r"/>
              <a:t>9</a:t>
            </a:fld>
            <a:endParaRPr/>
          </a:p>
        </p:txBody>
      </p:sp>
      <p:sp>
        <p:nvSpPr>
          <p:cNvPr id="164" name="Google Shape;164;p26"/>
          <p:cNvSpPr txBox="1"/>
          <p:nvPr/>
        </p:nvSpPr>
        <p:spPr>
          <a:xfrm>
            <a:off x="546136" y="2712581"/>
            <a:ext cx="5161600" cy="193895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norm(a):</a:t>
            </a:r>
            <a:endParaRPr sz="1467" dirty="0"/>
          </a:p>
          <a:p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ss=0</a:t>
            </a:r>
            <a:endParaRPr sz="1467" dirty="0"/>
          </a:p>
          <a:p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 range(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(a)):</a:t>
            </a:r>
            <a:endParaRPr sz="1467" dirty="0"/>
          </a:p>
          <a:p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ss = ss + a[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]*a[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467" dirty="0"/>
          </a:p>
          <a:p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norm = 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np.sqrt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(ss)</a:t>
            </a:r>
            <a:endParaRPr sz="1467" dirty="0"/>
          </a:p>
          <a:p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norm</a:t>
            </a:r>
            <a:endParaRPr sz="146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fontScale="2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Likelihood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4400" dirty="0"/>
              <a:t>Matrix Multiplication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96;p7">
                <a:extLst>
                  <a:ext uri="{FF2B5EF4-FFF2-40B4-BE49-F238E27FC236}">
                    <a16:creationId xmlns:a16="http://schemas.microsoft.com/office/drawing/2014/main" id="{C6805551-7DD8-5B0E-01EE-B17CA1C8F783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98171"/>
                <a:ext cx="9177402" cy="400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D5D5D"/>
                  </a:buClr>
                  <a:buSzPts val="2000"/>
                  <a:buNone/>
                </a:pPr>
                <a:r>
                  <a:rPr lang="en-US" dirty="0"/>
                  <a:t>Recall: Given two matrices </a:t>
                </a:r>
              </a:p>
              <a:p>
                <a:pPr marL="0" lvl="0" indent="0" algn="ctr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 and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</a:p>
              <a:p>
                <a:pPr marL="0" lvl="0" indent="0">
                  <a:lnSpc>
                    <a:spcPct val="130000"/>
                  </a:lnSpc>
                </a:pPr>
                <a:r>
                  <a:rPr lang="en-US" dirty="0"/>
                  <a:t>their product is given by </a:t>
                </a:r>
              </a:p>
              <a:p>
                <a:pPr marL="0" lvl="0" indent="0" algn="ctr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  where            </a:t>
                </a:r>
              </a:p>
              <a:p>
                <a:pPr marL="0" lvl="0" indent="0">
                  <a:lnSpc>
                    <a:spcPct val="130000"/>
                  </a:lnSpc>
                </a:pPr>
                <a:endParaRPr dirty="0"/>
              </a:p>
            </p:txBody>
          </p:sp>
        </mc:Choice>
        <mc:Fallback xmlns="">
          <p:sp>
            <p:nvSpPr>
              <p:cNvPr id="2" name="Google Shape;96;p7">
                <a:extLst>
                  <a:ext uri="{FF2B5EF4-FFF2-40B4-BE49-F238E27FC236}">
                    <a16:creationId xmlns:a16="http://schemas.microsoft.com/office/drawing/2014/main" id="{C6805551-7DD8-5B0E-01EE-B17CA1C8F78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98171"/>
                <a:ext cx="9177402" cy="4005400"/>
              </a:xfrm>
              <a:prstGeom prst="rect">
                <a:avLst/>
              </a:prstGeom>
              <a:blipFill>
                <a:blip r:embed="rId3"/>
                <a:stretch>
                  <a:fillRect l="-1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63DAC3-9E7D-DDB0-DAE5-DF51B471A276}"/>
                  </a:ext>
                </a:extLst>
              </p:cNvPr>
              <p:cNvSpPr txBox="1"/>
              <p:nvPr/>
            </p:nvSpPr>
            <p:spPr>
              <a:xfrm>
                <a:off x="8064519" y="4125984"/>
                <a:ext cx="2528887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63DAC3-9E7D-DDB0-DAE5-DF51B471A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519" y="4125984"/>
                <a:ext cx="2528887" cy="932628"/>
              </a:xfrm>
              <a:prstGeom prst="rect">
                <a:avLst/>
              </a:prstGeom>
              <a:blipFill>
                <a:blip r:embed="rId4"/>
                <a:stretch>
                  <a:fillRect t="-101333" b="-15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96;p7">
                <a:extLst>
                  <a:ext uri="{FF2B5EF4-FFF2-40B4-BE49-F238E27FC236}">
                    <a16:creationId xmlns:a16="http://schemas.microsoft.com/office/drawing/2014/main" id="{C6805551-7DD8-5B0E-01EE-B17CA1C8F783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98171"/>
                <a:ext cx="9177402" cy="400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D5D5D"/>
                  </a:buClr>
                  <a:buSzPts val="2000"/>
                  <a:buNone/>
                </a:pPr>
                <a:r>
                  <a:rPr lang="en-US" dirty="0"/>
                  <a:t>Recall: Given two matrices </a:t>
                </a:r>
              </a:p>
              <a:p>
                <a:pPr marL="0" lvl="0" indent="0" algn="ctr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 and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</a:p>
              <a:p>
                <a:pPr marL="0" lvl="0" indent="0">
                  <a:lnSpc>
                    <a:spcPct val="130000"/>
                  </a:lnSpc>
                </a:pPr>
                <a:r>
                  <a:rPr lang="en-US" dirty="0"/>
                  <a:t>their product is given by </a:t>
                </a:r>
              </a:p>
              <a:p>
                <a:pPr marL="0" lvl="0" indent="0" algn="ctr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  where            </a:t>
                </a:r>
              </a:p>
              <a:p>
                <a:pPr marL="0" lvl="0" indent="0">
                  <a:lnSpc>
                    <a:spcPct val="130000"/>
                  </a:lnSpc>
                </a:pPr>
                <a:endParaRPr dirty="0"/>
              </a:p>
            </p:txBody>
          </p:sp>
        </mc:Choice>
        <mc:Fallback xmlns="">
          <p:sp>
            <p:nvSpPr>
              <p:cNvPr id="2" name="Google Shape;96;p7">
                <a:extLst>
                  <a:ext uri="{FF2B5EF4-FFF2-40B4-BE49-F238E27FC236}">
                    <a16:creationId xmlns:a16="http://schemas.microsoft.com/office/drawing/2014/main" id="{C6805551-7DD8-5B0E-01EE-B17CA1C8F78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98171"/>
                <a:ext cx="9177402" cy="4005400"/>
              </a:xfrm>
              <a:prstGeom prst="rect">
                <a:avLst/>
              </a:prstGeom>
              <a:blipFill>
                <a:blip r:embed="rId3"/>
                <a:stretch>
                  <a:fillRect l="-1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63DAC3-9E7D-DDB0-DAE5-DF51B471A276}"/>
                  </a:ext>
                </a:extLst>
              </p:cNvPr>
              <p:cNvSpPr txBox="1"/>
              <p:nvPr/>
            </p:nvSpPr>
            <p:spPr>
              <a:xfrm>
                <a:off x="8229773" y="4148017"/>
                <a:ext cx="2528887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63DAC3-9E7D-DDB0-DAE5-DF51B471A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773" y="4148017"/>
                <a:ext cx="2528887" cy="932628"/>
              </a:xfrm>
              <a:prstGeom prst="rect">
                <a:avLst/>
              </a:prstGeom>
              <a:blipFill>
                <a:blip r:embed="rId4"/>
                <a:stretch>
                  <a:fillRect t="-102703" b="-15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B1850BC5-070A-8440-3DCB-EB8C9898754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46063" y="710027"/>
                <a:ext cx="10401107" cy="646112"/>
              </a:xfrm>
            </p:spPr>
            <p:txBody>
              <a:bodyPr>
                <a:noAutofit/>
              </a:bodyPr>
              <a:lstStyle/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None/>
                </a:pPr>
                <a:r>
                  <a:rPr lang="en-US" dirty="0"/>
                  <a:t>What is the computational cost of computing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B1850BC5-070A-8440-3DCB-EB8C98987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46063" y="710027"/>
                <a:ext cx="10401107" cy="646112"/>
              </a:xfrm>
              <a:blipFill>
                <a:blip r:embed="rId5"/>
                <a:stretch>
                  <a:fillRect l="-2071" t="-15385" r="-244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5995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96;p7">
                <a:extLst>
                  <a:ext uri="{FF2B5EF4-FFF2-40B4-BE49-F238E27FC236}">
                    <a16:creationId xmlns:a16="http://schemas.microsoft.com/office/drawing/2014/main" id="{C6805551-7DD8-5B0E-01EE-B17CA1C8F783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98171"/>
                <a:ext cx="9177402" cy="4449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D5D5D"/>
                  </a:buClr>
                  <a:buSzPts val="2000"/>
                  <a:buNone/>
                </a:pPr>
                <a:r>
                  <a:rPr lang="en-US" dirty="0"/>
                  <a:t>Recall: Given two matrices </a:t>
                </a:r>
              </a:p>
              <a:p>
                <a:pPr marL="0" lvl="0" indent="0" algn="ctr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 and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</a:p>
              <a:p>
                <a:pPr marL="0" lvl="0" indent="0">
                  <a:lnSpc>
                    <a:spcPct val="130000"/>
                  </a:lnSpc>
                </a:pPr>
                <a:r>
                  <a:rPr lang="en-US" dirty="0"/>
                  <a:t>their product,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marL="800100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has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𝑚𝑝</m:t>
                    </m:r>
                  </m:oMath>
                </a14:m>
                <a:r>
                  <a:rPr lang="en-US" dirty="0"/>
                  <a:t> elements and</a:t>
                </a:r>
              </a:p>
              <a:p>
                <a:pPr marL="800100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computing each element,                             , involves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multiplications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additions so</a:t>
                </a:r>
              </a:p>
              <a:p>
                <a:pPr marL="800100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requires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𝑚𝑛𝑝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operations</a:t>
                </a:r>
              </a:p>
              <a:p>
                <a:pPr marL="0" lvl="0" indent="0">
                  <a:lnSpc>
                    <a:spcPct val="130000"/>
                  </a:lnSpc>
                </a:pPr>
                <a:endParaRPr dirty="0"/>
              </a:p>
            </p:txBody>
          </p:sp>
        </mc:Choice>
        <mc:Fallback xmlns="">
          <p:sp>
            <p:nvSpPr>
              <p:cNvPr id="2" name="Google Shape;96;p7">
                <a:extLst>
                  <a:ext uri="{FF2B5EF4-FFF2-40B4-BE49-F238E27FC236}">
                    <a16:creationId xmlns:a16="http://schemas.microsoft.com/office/drawing/2014/main" id="{C6805551-7DD8-5B0E-01EE-B17CA1C8F78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98171"/>
                <a:ext cx="9177402" cy="4449802"/>
              </a:xfrm>
              <a:prstGeom prst="rect">
                <a:avLst/>
              </a:prstGeom>
              <a:blipFill>
                <a:blip r:embed="rId3"/>
                <a:stretch>
                  <a:fillRect l="-1105" r="-1934" b="-56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63DAC3-9E7D-DDB0-DAE5-DF51B471A276}"/>
                  </a:ext>
                </a:extLst>
              </p:cNvPr>
              <p:cNvSpPr txBox="1"/>
              <p:nvPr/>
            </p:nvSpPr>
            <p:spPr>
              <a:xfrm>
                <a:off x="4903470" y="4567785"/>
                <a:ext cx="2068353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63DAC3-9E7D-DDB0-DAE5-DF51B471A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470" y="4567785"/>
                <a:ext cx="2068353" cy="932628"/>
              </a:xfrm>
              <a:prstGeom prst="rect">
                <a:avLst/>
              </a:prstGeom>
              <a:blipFill>
                <a:blip r:embed="rId4"/>
                <a:stretch>
                  <a:fillRect l="-7879" t="-102703" b="-15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B1850BC5-070A-8440-3DCB-EB8C9898754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46063" y="710027"/>
                <a:ext cx="10401107" cy="646112"/>
              </a:xfrm>
            </p:spPr>
            <p:txBody>
              <a:bodyPr>
                <a:noAutofit/>
              </a:bodyPr>
              <a:lstStyle/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None/>
                </a:pPr>
                <a:r>
                  <a:rPr lang="en-US" dirty="0"/>
                  <a:t>What is the computational cost of computing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B1850BC5-070A-8440-3DCB-EB8C98987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46063" y="710027"/>
                <a:ext cx="10401107" cy="646112"/>
              </a:xfrm>
              <a:blipFill>
                <a:blip r:embed="rId5"/>
                <a:stretch>
                  <a:fillRect l="-2071" t="-15385" r="-244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24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134500-5CC8-BB15-59DA-3F6A6AC47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Likelihood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9600" dirty="0"/>
              <a:t>Multiple Matrix Multiplications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Now consider three matrices,</a:t>
                </a:r>
              </a:p>
              <a:p>
                <a:pPr algn="ctr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endParaRPr lang="en-US" dirty="0"/>
              </a:p>
              <a:p>
                <a:pPr marL="236538" indent="-7938">
                  <a:lnSpc>
                    <a:spcPct val="130000"/>
                  </a:lnSpc>
                </a:pPr>
                <a:r>
                  <a:rPr lang="en-US" dirty="0"/>
                  <a:t>If we want to compute the product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𝑋𝑌𝑍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dirty="0"/>
                  <a:t>, because matrix multiplication is </a:t>
                </a:r>
                <a:r>
                  <a:rPr lang="en-US" i="1" dirty="0"/>
                  <a:t>associative,</a:t>
                </a:r>
                <a:r>
                  <a:rPr lang="en-US" dirty="0"/>
                  <a:t> we can either</a:t>
                </a:r>
              </a:p>
              <a:p>
                <a:pPr marL="1143000" lvl="1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dirty="0"/>
                  <a:t>first multiply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then multiply the result by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or</a:t>
                </a:r>
              </a:p>
              <a:p>
                <a:pPr marL="1143000" lvl="1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dirty="0"/>
                  <a:t>first multiply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, then multiply the result by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236538" lvl="1" indent="0">
                  <a:lnSpc>
                    <a:spcPct val="10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However, these do not have the same computational cost!</a:t>
                </a:r>
              </a:p>
              <a:p>
                <a:pPr marL="1150938" lvl="2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Doing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first requires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𝑚𝑛𝑝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operations, then multiplying by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takes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𝑚𝑝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50938" lvl="2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Doing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𝑌𝑍</m:t>
                    </m:r>
                  </m:oMath>
                </a14:m>
                <a:r>
                  <a:rPr lang="en-US" dirty="0"/>
                  <a:t> first </a:t>
                </a:r>
                <a:r>
                  <a:rPr lang="en-US" dirty="0">
                    <a:solidFill>
                      <a:schemeClr val="tx1"/>
                    </a:solidFill>
                  </a:rPr>
                  <a:t>requires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𝑛𝑝𝑞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operations, then multiplying by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takes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𝑚𝑛𝑞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966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134500-5CC8-BB15-59DA-3F6A6AC47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dirty="0"/>
              <a:t>Nearest neighbors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Given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find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nearest neighbors (in Euclidean norm)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Typical use case: k-nearest neighbor (</a:t>
                </a:r>
                <a:r>
                  <a:rPr lang="en-US" dirty="0" err="1">
                    <a:solidFill>
                      <a:schemeClr val="tx1"/>
                    </a:solidFill>
                  </a:rPr>
                  <a:t>knn</a:t>
                </a:r>
                <a:r>
                  <a:rPr lang="en-US" dirty="0">
                    <a:solidFill>
                      <a:schemeClr val="tx1"/>
                    </a:solidFill>
                  </a:rPr>
                  <a:t>) classifier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ML model which predicts the majority among the k closest examples in the training data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  <a:blipFill>
                <a:blip r:embed="rId2"/>
                <a:stretch>
                  <a:fillRect r="-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KNN Algorithm | Latest Guide to K-Nearest Neighbors">
            <a:extLst>
              <a:ext uri="{FF2B5EF4-FFF2-40B4-BE49-F238E27FC236}">
                <a16:creationId xmlns:a16="http://schemas.microsoft.com/office/drawing/2014/main" id="{CBC8CB0F-A3DF-364A-E3B4-7800BDE74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700" y="3563727"/>
            <a:ext cx="29972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C89C1B-E4AB-34AA-C2D6-952B149C01AF}"/>
              </a:ext>
            </a:extLst>
          </p:cNvPr>
          <p:cNvSpPr txBox="1"/>
          <p:nvPr/>
        </p:nvSpPr>
        <p:spPr>
          <a:xfrm>
            <a:off x="3225188" y="6338575"/>
            <a:ext cx="609783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https://</a:t>
            </a:r>
            <a:r>
              <a:rPr lang="en-US" sz="600" dirty="0" err="1"/>
              <a:t>www.analyticsvidhya.com</a:t>
            </a:r>
            <a:r>
              <a:rPr lang="en-US" sz="600" dirty="0"/>
              <a:t>/blog/2018/03/introduction-k-</a:t>
            </a:r>
            <a:r>
              <a:rPr lang="en-US" sz="600" dirty="0" err="1"/>
              <a:t>neighbours</a:t>
            </a:r>
            <a:r>
              <a:rPr lang="en-US" sz="600" dirty="0"/>
              <a:t>-algorithm-clustering/</a:t>
            </a:r>
          </a:p>
        </p:txBody>
      </p:sp>
    </p:spTree>
    <p:extLst>
      <p:ext uri="{BB962C8B-B14F-4D97-AF65-F5344CB8AC3E}">
        <p14:creationId xmlns:p14="http://schemas.microsoft.com/office/powerpoint/2010/main" val="1083129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134500-5CC8-BB15-59DA-3F6A6AC47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dirty="0"/>
              <a:t>Basic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Given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find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nearest neighbors (in Euclidean norm)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distance = [0]*n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nearest = [-1]*k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 = 2…n: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for j = 1…d: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    distance[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] += (x[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][j] – x[1][j])**2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for j = 1…k: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    if nearest[j] == -1 or distance[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] &lt; nearest[j]: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        nearest[j] = distance[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]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        break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return nearest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  <a:blipFill>
                <a:blip r:embed="rId2"/>
                <a:stretch>
                  <a:fillRect t="-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7008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134500-5CC8-BB15-59DA-3F6A6AC47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dirty="0"/>
              <a:t>Basic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Given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find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nearest neighbors (in Euclidean norm)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distance = [0]*n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nearest = [-1]*k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 = 2…n: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for j = 1…d: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    distance[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] += (x[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][j] – x[1][j])**2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for j = 1…k: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    if nearest[j] == -1 or distance[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] &lt; nearest[j]: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        nearest[j] = distance[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]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        break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return nearest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  <a:blipFill>
                <a:blip r:embed="rId2"/>
                <a:stretch>
                  <a:fillRect t="-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A6B6CA0-6F5D-5FD2-2642-3A562A11DF71}"/>
              </a:ext>
            </a:extLst>
          </p:cNvPr>
          <p:cNvSpPr txBox="1"/>
          <p:nvPr/>
        </p:nvSpPr>
        <p:spPr>
          <a:xfrm>
            <a:off x="7279812" y="2669421"/>
            <a:ext cx="46160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is the runtime of this algorithm?</a:t>
            </a:r>
          </a:p>
          <a:p>
            <a:endParaRPr lang="en-US" sz="2000" dirty="0"/>
          </a:p>
          <a:p>
            <a:r>
              <a:rPr lang="en-US" sz="2000" dirty="0"/>
              <a:t>What are the parameters describing input size?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67062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134500-5CC8-BB15-59DA-3F6A6AC47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dirty="0"/>
              <a:t>Alternate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Given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find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nearest neighbors (in Euclidean norm)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distance = [0]*n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 = 2…n: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for j = 1…d: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    distance[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] += (x[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][j] – x[1][j])**2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 err="1">
                    <a:solidFill>
                      <a:schemeClr val="tx1"/>
                    </a:solidFill>
                  </a:rPr>
                  <a:t>distance.sort</a:t>
                </a:r>
                <a:r>
                  <a:rPr lang="en-US" dirty="0">
                    <a:solidFill>
                      <a:schemeClr val="tx1"/>
                    </a:solidFill>
                  </a:rPr>
                  <a:t>()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return distance[1:k+1]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675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134500-5CC8-BB15-59DA-3F6A6AC47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dirty="0"/>
              <a:t>Refinement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Given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find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nearest neighbors (in Euclidean norm)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distance = [0]*n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 = 2…n: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for j = 1…d: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    distance[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] += (x[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][j] – x[1][j])**2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return smallest(distance, k)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   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788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-US" dirty="0"/>
              <a:t>Recursive functions</a:t>
            </a:r>
            <a:endParaRPr dirty="0"/>
          </a:p>
        </p:txBody>
      </p:sp>
      <p:sp>
        <p:nvSpPr>
          <p:cNvPr id="193" name="Google Shape;193;p3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recursive</a:t>
            </a:r>
            <a:r>
              <a:rPr lang="en-US" dirty="0"/>
              <a:t> function calls itself.</a:t>
            </a:r>
            <a:endParaRPr sz="2267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recursiveFunction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(this is the base case):</a:t>
            </a: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do something non-recursive</a:t>
            </a: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else:</a:t>
            </a: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do something recursive</a:t>
            </a: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0000"/>
              </a:lnSpc>
              <a:spcBef>
                <a:spcPts val="1333"/>
              </a:spcBef>
              <a:buClr>
                <a:schemeClr val="dk1"/>
              </a:buClr>
              <a:buSzPts val="1100"/>
              <a:buNone/>
            </a:pP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en-US" b="1" dirty="0"/>
              <a:t>Example: </a:t>
            </a:r>
            <a:r>
              <a:rPr lang="en-US" dirty="0"/>
              <a:t>complete the recursive function for the factorial.</a:t>
            </a:r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en-US" b="1" dirty="0"/>
              <a:t>Example</a:t>
            </a:r>
            <a:r>
              <a:rPr lang="en-US" dirty="0"/>
              <a:t>: Fibonacci sequence</a:t>
            </a:r>
            <a:endParaRPr dirty="0"/>
          </a:p>
        </p:txBody>
      </p:sp>
      <p:sp>
        <p:nvSpPr>
          <p:cNvPr id="194" name="Google Shape;194;p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-US"/>
              <a:pPr algn="r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-US"/>
              <a:t>Warm-up for Next Lecture</a:t>
            </a:r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sz="1867" b="1"/>
              <a:t>Example: </a:t>
            </a:r>
            <a:r>
              <a:rPr lang="en-US" sz="1867"/>
              <a:t>a recursive implementation of binary search.</a:t>
            </a:r>
            <a:endParaRPr sz="1867"/>
          </a:p>
          <a:p>
            <a:pPr marL="0" indent="0">
              <a:lnSpc>
                <a:spcPct val="115000"/>
              </a:lnSpc>
              <a:spcBef>
                <a:spcPts val="1600"/>
              </a:spcBef>
              <a:buNone/>
            </a:pPr>
            <a:r>
              <a:rPr lang="en-US" sz="1867" b="1">
                <a:solidFill>
                  <a:srgbClr val="548235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binarySearch(list data, </a:t>
            </a:r>
            <a:r>
              <a:rPr lang="en-US" sz="1867" b="1">
                <a:solidFill>
                  <a:srgbClr val="548235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key) {</a:t>
            </a:r>
            <a:endParaRPr sz="1867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67" b="1">
                <a:solidFill>
                  <a:srgbClr val="C55A1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binarySearch2(data, key, </a:t>
            </a:r>
            <a:r>
              <a:rPr lang="en-US" sz="1867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len(data)-</a:t>
            </a:r>
            <a:r>
              <a:rPr lang="en-US" sz="1867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67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67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867" b="1">
                <a:solidFill>
                  <a:srgbClr val="548235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binarySearch2(list data, </a:t>
            </a:r>
            <a:r>
              <a:rPr lang="en-US" sz="1867" b="1">
                <a:solidFill>
                  <a:srgbClr val="548235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key, </a:t>
            </a:r>
            <a:r>
              <a:rPr lang="en-US" sz="1867" b="1">
                <a:solidFill>
                  <a:srgbClr val="548235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first, </a:t>
            </a:r>
            <a:r>
              <a:rPr lang="en-US" sz="1867" b="1">
                <a:solidFill>
                  <a:srgbClr val="548235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last) {</a:t>
            </a:r>
            <a:endParaRPr sz="1867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// </a:t>
            </a:r>
            <a:r>
              <a:rPr lang="en-US" sz="1867" b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TODO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base case</a:t>
            </a:r>
            <a:endParaRPr sz="1867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67" b="1">
                <a:solidFill>
                  <a:srgbClr val="548235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mid = (first + last) // 2;</a:t>
            </a:r>
            <a:endParaRPr sz="1867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67" b="1">
                <a:solidFill>
                  <a:srgbClr val="C55A1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(data[mid] == key)</a:t>
            </a:r>
            <a:endParaRPr sz="1867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867" b="1">
                <a:solidFill>
                  <a:srgbClr val="C55A11"/>
                </a:solidFill>
                <a:latin typeface="Courier New"/>
                <a:ea typeface="Courier New"/>
                <a:cs typeface="Courier New"/>
                <a:sym typeface="Courier New"/>
              </a:rPr>
              <a:t>  return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67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67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67" b="1">
                <a:solidFill>
                  <a:srgbClr val="C55A11"/>
                </a:solidFill>
                <a:latin typeface="Courier New"/>
                <a:ea typeface="Courier New"/>
                <a:cs typeface="Courier New"/>
                <a:sym typeface="Courier New"/>
              </a:rPr>
              <a:t>else if 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(data[mid] &gt; key)</a:t>
            </a:r>
            <a:endParaRPr sz="1867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67" b="1">
                <a:solidFill>
                  <a:srgbClr val="C55A1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binarySearch2(data, key, first, mid-</a:t>
            </a:r>
            <a:r>
              <a:rPr lang="en-US" sz="1867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67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67" b="1">
                <a:solidFill>
                  <a:srgbClr val="C55A1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867" b="1">
              <a:solidFill>
                <a:srgbClr val="C55A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867" b="1">
                <a:solidFill>
                  <a:srgbClr val="C55A1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binarySearch2(data, key, mid+</a:t>
            </a:r>
            <a:r>
              <a:rPr lang="en-US" sz="1867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last)</a:t>
            </a:r>
            <a:endParaRPr sz="1867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867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67"/>
          </a:p>
        </p:txBody>
      </p:sp>
      <p:sp>
        <p:nvSpPr>
          <p:cNvPr id="202" name="Google Shape;202;p3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-US"/>
              <a:pPr algn="r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body" idx="1"/>
          </p:nvPr>
        </p:nvSpPr>
        <p:spPr>
          <a:xfrm>
            <a:off x="3154362" y="3105944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1481</TotalTime>
  <Words>1247</Words>
  <Application>Microsoft Macintosh PowerPoint</Application>
  <PresentationFormat>Widescreen</PresentationFormat>
  <Paragraphs>203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Courier New</vt:lpstr>
      <vt:lpstr>Open Sans Light</vt:lpstr>
      <vt:lpstr>Arial</vt:lpstr>
      <vt:lpstr>Open Sans</vt:lpstr>
      <vt:lpstr>Cambria Math</vt:lpstr>
      <vt:lpstr>Calibri</vt:lpstr>
      <vt:lpstr>Roboto</vt:lpstr>
      <vt:lpstr>Candara</vt:lpstr>
      <vt:lpstr>Office Theme</vt:lpstr>
      <vt:lpstr>PowerPoint Presentation</vt:lpstr>
      <vt:lpstr>Warmup/review</vt:lpstr>
      <vt:lpstr>PowerPoint Presentation</vt:lpstr>
      <vt:lpstr>How fast is this code?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Recursive functions</vt:lpstr>
      <vt:lpstr>Warm-up for Next Lecture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Colin Donovan</dc:creator>
  <cp:lastModifiedBy>Bryan Wilder</cp:lastModifiedBy>
  <cp:revision>20</cp:revision>
  <dcterms:created xsi:type="dcterms:W3CDTF">2023-03-30T16:47:09Z</dcterms:created>
  <dcterms:modified xsi:type="dcterms:W3CDTF">2025-11-03T02:51:37Z</dcterms:modified>
</cp:coreProperties>
</file>